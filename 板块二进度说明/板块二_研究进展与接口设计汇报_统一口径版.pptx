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10"/>
    <p:sldId id="259" r:id="rId11"/>
    <p:sldId id="260" r:id="rId12"/>
    <p:sldId id="274" r:id="rId26"/>
    <p:sldId id="275" r:id="rId27"/>
    <p:sldId id="264" r:id="rId16"/>
    <p:sldId id="277" r:id="rId20"/>
    <p:sldId id="278" r:id="rId18"/>
    <p:sldId id="276" r:id="rId28"/>
    <p:sldId id="279" r:id="rId22"/>
    <p:sldId id="284" r:id="rId13"/>
    <p:sldId id="282" r:id="rId25"/>
    <p:sldId id="263" r:id="rId15"/>
    <p:sldId id="285" r:id="rId24"/>
    <p:sldId id="286" r:id="rId17"/>
    <p:sldId id="283" r:id="rId14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12.xml"/><Relationship Id="rId14" Type="http://schemas.openxmlformats.org/officeDocument/2006/relationships/slide" Target="slides/slide17.xml"/><Relationship Id="rId15" Type="http://schemas.openxmlformats.org/officeDocument/2006/relationships/slide" Target="slides/slide14.xml"/><Relationship Id="rId16" Type="http://schemas.openxmlformats.org/officeDocument/2006/relationships/slide" Target="slides/slide7.xml"/><Relationship Id="rId17" Type="http://schemas.openxmlformats.org/officeDocument/2006/relationships/slide" Target="slides/slide20.xml"/><Relationship Id="rId18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1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13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算法、校验、拓扑连接和运行证据均以用户上传的MBSE_app为依据；截图来自上传Word，不代表本次重新运行。MBSE_app主输出脚本以功能点名称分词并构建TF-IDF，端口采用首项策略。接口能力另见接口章节。MBSE_all.py输出聚类评估指标；加权ArchScore和Purity属于mbse_complete.py扩展版本，未宣称已在同一入口集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两张代码截图直接取自上传Word的核心代码2，完整保留，未重新执行程序。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截图p61完整嵌入。原始截图右缘已有截断，PPT不补造被截断内容；同批案例完整字段需查看原JSON/Excel。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截图p66直接取自上传Word，与此前核心代码3对应。展示结果不代表类型、单位兼容性已经完成工程验证。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接口需求MD第3项及服务器模型。physical_arch_gen_context、prompt、needs_completion和completion_description仅作为服务器字段参考，不作为已定稿对外契约。MD规定only_check=true仅检查、false进入补全；核对的服务器版本尚未支持only_check，已有候选预览及人工确认基础。启用补全与采纳建议是两个独立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依据接口需求MD第2项。路由为POST /generate_logical_arch；目前尚未完全接入。MD仅规定上下文和生成选项，并未锁定外层字段名或逻辑架构JSON Schema。本页中文参数名称表达业务数据项，不宣称已是正式HTTP字段。功能ID为追溯主键。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截图p71为上传Word的运行输出文件清单，不是本次重新运行或验证文件内容。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本页是接口设计伪代码，非已实现路由截图。生成接口及最终数据字段尚待接入/对齐。补全接口已有候选预览与确认基础；only_check为需求MD约定，核对服务器版本尚未支持。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两张代码截图直接来自上传Word，保留原始内容；Excel用于结构化查看，JSON用于下游交换。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阶段研究汇报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从功能点及其关联关系到功能逻辑架构数据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9144000" cy="1463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17324D"/>
                </a:solidFill>
                <a:latin typeface="Microsoft YaHei"/>
              </a:defRPr>
            </a:pPr>
            <a:r>
              <a:t>板块二</a:t>
            </a:r>
          </a:p>
          <a:p>
            <a:pPr>
              <a:spcAft>
                <a:spcPts val="800"/>
              </a:spcAft>
              <a:defRPr sz="4000" b="1">
                <a:solidFill>
                  <a:srgbClr val="17324D"/>
                </a:solidFill>
                <a:latin typeface="Microsoft YaHei"/>
              </a:defRPr>
            </a:pPr>
            <a:r>
              <a:t>研究进展与接口设计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9144000" cy="6400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07F87"/>
                </a:solidFill>
                <a:latin typeface="Microsoft YaHei"/>
              </a:defRPr>
            </a:pPr>
            <a:r>
              <a:t>BIRCH功能聚类  /  功能关系分析与拓扑连接生成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00600"/>
            <a:ext cx="10607040" cy="6583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992624"/>
            <a:ext cx="1005840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24384B"/>
                </a:solidFill>
                <a:latin typeface="Microsoft YaHei"/>
              </a:defRPr>
            </a:pPr>
            <a:r>
              <a:t>汇报重点：处理能力、数据交付、两个对外接口及当前待办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52160"/>
            <a:ext cx="91440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0758A"/>
                </a:solidFill>
                <a:latin typeface="Microsoft YaHei"/>
              </a:defRPr>
            </a:pPr>
            <a:r>
              <a:t>2026年10月28日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职责与数据流向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上游由郑心如补全，下游分为接口对接与模型转换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功能点及其关联关系数据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板块三 · 郑心如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补全后交给板块二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66160" y="2468880"/>
            <a:ext cx="1005840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95360" y="1828800"/>
            <a:ext cx="2880360" cy="128016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05088" y="1965960"/>
            <a:ext cx="266090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5088" y="2450592"/>
            <a:ext cx="2660904" cy="62179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功能逻辑架构生成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43800" y="2468880"/>
            <a:ext cx="1005840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4206240"/>
            <a:ext cx="3931920" cy="1188720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38528" y="4343400"/>
            <a:ext cx="3712463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物理架构组件选型及连接布局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38528" y="4828031"/>
            <a:ext cx="3712463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对外接口适配与返回 · 待接入/对齐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4206240"/>
            <a:ext cx="3931920" cy="118872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0568" y="4343400"/>
            <a:ext cx="3712463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板块三 · 周瑜璇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828031"/>
            <a:ext cx="3712463" cy="53035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JSON交接 → SysML v2转换与校验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794760" y="3154680"/>
            <a:ext cx="5897880" cy="10058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686800" y="3154680"/>
            <a:ext cx="1554480" cy="10058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板块二负责功能逻辑架构JSON；SysML v2转换与工具校验由周瑜璇负责。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研究进展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研究进展覆盖输入、聚类、连接和数据输出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9202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170078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691640"/>
            <a:ext cx="4526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4328" y="1783080"/>
            <a:ext cx="4306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已有成果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691640"/>
            <a:ext cx="4526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1783080"/>
            <a:ext cx="4306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仍需推进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90195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输入与校验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148840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24328" y="2258568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MBSE_app前置校验、关系类型标准化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2148840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50608" y="2258568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统一对外Schema与错误定位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999232"/>
            <a:ext cx="190195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108960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功能聚类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2999232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24328" y="3108960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TF-IDF + BIRCH形成归属数据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999232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50608" y="3108960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特征组合、阈值与业务解释性评价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849624"/>
            <a:ext cx="190195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959352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关系与拓扑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3849624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24328" y="3959352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挂接源/目标簇，生成端口与流对象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3849624"/>
            <a:ext cx="4507992" cy="8275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0608" y="3959352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端口类型/单位及多端口匹配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700016"/>
            <a:ext cx="190195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809744"/>
            <a:ext cx="170078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输出与集成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4700016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4328" y="4809744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Excel / JSON输出及校验报告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4700016"/>
            <a:ext cx="4507992" cy="827532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0608" y="4809744"/>
            <a:ext cx="4306824" cy="70408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两个对外接口与字段协商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本部分依据MBSE_app；接口章节另依据需求MD和服务器版本说明。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技术路线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技术路线：先聚类，再组织关系与拓扑连接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01  输入规范与校验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ID、引用、关系与端口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68496" y="2450592"/>
            <a:ext cx="466344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8056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02  语义表征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分词 → TF-IDF → L2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08975" y="2450592"/>
            <a:ext cx="466345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321040" y="1783080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7" y="192024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03  BIRCH功能聚类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7" y="2404872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得到功能ID—簇ID映射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04  归属与拓扑组织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关系簇标签 / 端口 / 流对象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05  质量评价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内聚 / 解耦 / 碎片化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749039"/>
            <a:ext cx="3291840" cy="1325880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3886200"/>
            <a:ext cx="3072384" cy="4114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06  数据交付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0767" y="4370831"/>
            <a:ext cx="3072384" cy="66751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24384B"/>
                </a:solidFill>
                <a:latin typeface="Microsoft YaHei"/>
              </a:defRPr>
            </a:pPr>
            <a:r>
              <a:t>功能逻辑架构JSON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286000" y="3154680"/>
            <a:ext cx="7680960" cy="54864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68496" y="4434840"/>
            <a:ext cx="466344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08975" y="4434840"/>
            <a:ext cx="466345" cy="0"/>
          </a:xfrm>
          <a:prstGeom prst="line">
            <a:avLst/>
          </a:prstGeom>
          <a:ln w="25400">
            <a:solidFill>
              <a:srgbClr val="007F8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当前功能关系参与校验、标注和连接生成，尚未作为BIRCH的图约束。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校验代码与运行证据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前置校验：先检查输入，再生成功能逻辑架构数据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输入合法性与引用检查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已有运行结果：前置校验通过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43" y="2148840"/>
            <a:ext cx="4557873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518" y="2148840"/>
            <a:ext cx="3724042" cy="33832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校验通过表示输入满足计算条件，不等于功能需求完整或工程架构正确。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BIRCH核心代码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聚类核心：TF-IDF表征与BIRCH功能聚类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337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711" y="1828800"/>
            <a:ext cx="10602097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212080"/>
            <a:ext cx="1078992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7F87"/>
                </a:solidFill>
                <a:latin typeface="Microsoft YaHei"/>
              </a:defRPr>
            </a:pPr>
            <a:r>
              <a:t>原型特征：功能点名称  →  jieba分词  →  TF-IDF  →  L2归一化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MBSE_app参数：threshold=0.6；branching_factor=50；n_clusters=None。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已有原型输出可展示功能点到功能簇的归属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功能点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功能簇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关系记录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45920"/>
            <a:ext cx="182880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7F87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1828800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60758A"/>
                </a:solidFill>
                <a:latin typeface="Microsoft YaHei"/>
              </a:defRPr>
            </a:pPr>
            <a:r>
              <a:t>连接记录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834640"/>
            <a:ext cx="10972800" cy="2606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632" y="2926080"/>
            <a:ext cx="9652254" cy="2423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样例中多数簇较小，需要结合碎片化指标与业务复核，不能仅以“生成成功”判断质量。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核心代码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关系处理核心：有效端点、标准关系与所属功能簇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端点过滤与关系类型处理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源/目标簇关联与记录组织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7507" y="2148840"/>
            <a:ext cx="3922944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237356"/>
            <a:ext cx="5074920" cy="3206247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原型以前置校验保证引用有效；生成阶段保留端点过滤，关系记录携带簇归属与证据。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关系运行结果：功能关系附加源簇与目标簇信息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99" y="1828800"/>
            <a:ext cx="10515121" cy="3474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文档所附案例含13条关系；完整保留原截图，右缘未完整显示的字段以原JSON/Excel为准。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拓扑连接核心代码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拓扑连接核心：关联端口、流对象与所属功能簇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关系类型与流对象处理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20"/>
            <a:ext cx="521208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7324D"/>
                </a:solidFill>
                <a:latin typeface="Microsoft YaHei"/>
              </a:defRPr>
            </a:pPr>
            <a:r>
              <a:t>连接记录与聚类归属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293" y="2148840"/>
            <a:ext cx="4033373" cy="33832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205740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5947" y="2148840"/>
            <a:ext cx="4713185" cy="33832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原型采用首项端口策略；后续需完善类型、单位、多端口匹配及待确认标记。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拓扑运行结果：端口、流对象与功能簇可追溯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10972800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162" y="1828799"/>
            <a:ext cx="10553194" cy="3474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对应13条连接；数据流、触发及并发/约束保持不同流对象表达。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核心代码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输出核心代码：Excel与JSON两种格式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1005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Excel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0655" y="1508760"/>
            <a:ext cx="5366048" cy="2103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03320"/>
            <a:ext cx="1005840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7324D"/>
                </a:solidFill>
                <a:latin typeface="Microsoft YaHei"/>
              </a:defRPr>
            </a:pPr>
            <a:r>
              <a:t>JSON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2241" y="3703320"/>
            <a:ext cx="5222877" cy="21031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594360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602589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Excel按Sheet保存结果；JSON采用UTF-8及allow_nan=False，避免导出非标准数值。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运行截图 / MBSE_app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输出运行截图：架构结果与前置校验报告已形成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28800"/>
            <a:ext cx="10972800" cy="2743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35" y="2103120"/>
            <a:ext cx="10473048" cy="2194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892040"/>
            <a:ext cx="106070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007F87"/>
                </a:solidFill>
                <a:latin typeface="Microsoft YaHei"/>
              </a:defRPr>
            </a:pPr>
            <a:r>
              <a:t>整体交付名称：功能逻辑架构数据</a:t>
            </a:r>
          </a:p>
          <a:p>
            <a:pPr>
              <a:spcAft>
                <a:spcPts val="800"/>
              </a:spcAft>
              <a:defRPr sz="2000" b="0">
                <a:solidFill>
                  <a:srgbClr val="007F87"/>
                </a:solidFill>
                <a:latin typeface="Microsoft YaHei"/>
              </a:defRPr>
            </a:pPr>
            <a:r>
              <a:t>原型文件名保留原代码命名，后续按对接字段形成交换格式。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主线处理证据来自MBSE_app；两个对外接口的设计与联调另在接口章节说明。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数据输出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产出统一为功能逻辑架构数据，按维度组织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64592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142646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0280" y="1691640"/>
            <a:ext cx="61264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50008" y="1783080"/>
            <a:ext cx="59070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内容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91640"/>
            <a:ext cx="320040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76488" y="1783080"/>
            <a:ext cx="298094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用途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62763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功能归属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2148840"/>
            <a:ext cx="610819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50008" y="225856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功能ID、名称、簇、子系统及层级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148840"/>
            <a:ext cx="318211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6488" y="225856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组织功能簇与追溯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971800"/>
            <a:ext cx="162763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08152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功能关系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2971800"/>
            <a:ext cx="610819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0008" y="308152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端点、关系类型、置信度、来源、所属簇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971800"/>
            <a:ext cx="318211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6488" y="308152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表达功能及簇间关联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794760"/>
            <a:ext cx="162763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90448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逻辑连接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0280" y="3794760"/>
            <a:ext cx="610819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0008" y="390448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源/目标端口、流对象、连接及所属簇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3794760"/>
            <a:ext cx="3182112" cy="800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76488" y="390448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支撑拓扑分析与下游转换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617720"/>
            <a:ext cx="162763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727448"/>
            <a:ext cx="142646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评价信息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40280" y="4617720"/>
            <a:ext cx="610819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50008" y="4727448"/>
            <a:ext cx="590702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聚类数量、语义与几何指标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4617720"/>
            <a:ext cx="3182112" cy="80010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4727448"/>
            <a:ext cx="2980944" cy="6766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辅助判断聚类质量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JSON一路对接物理架构模块（字段待对齐），另一路交周瑜璇进行SysML v2转换与校验。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接口设计 / 服务器版本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接口伪代码：复用计算内核，按约定映射与返回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9164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834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24D"/>
                </a:solidFill>
                <a:latin typeface="Microsoft YaHei"/>
              </a:defRPr>
            </a:pPr>
            <a:r>
              <a:t>逻辑架构生成（待接入）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4983480" cy="2651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接收上下文与生成选项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校验并适配功能点及其关联关系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调用服务器内部聚类服务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按cluster_id组织function_id集合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按双方确认Schema返回JSON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349240" cy="3611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498348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24D"/>
                </a:solidFill>
                <a:latin typeface="Microsoft YaHei"/>
              </a:defRPr>
            </a:pPr>
            <a:r>
              <a:t>输入补全（功能设计）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68880"/>
            <a:ext cx="4983480" cy="2651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接收上下文、用户提示及选项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若only_check：仅判断完整性并返回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否则：生成建议并接收用户反馈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校验合并明确采纳及自行补充内容</a:t>
            </a:r>
          </a:p>
          <a:p>
            <a:pPr>
              <a:spcAft>
                <a:spcPts val="800"/>
              </a:spcAft>
              <a:defRPr sz="1800" b="0">
                <a:solidFill>
                  <a:srgbClr val="24384B"/>
                </a:solidFill>
                <a:latin typeface="Microsoft YaHei"/>
              </a:defRPr>
            </a:pPr>
            <a:r>
              <a:t>返回新上下文、补全标志及说明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67816"/>
                </a:solidFill>
                <a:latin typeface="Microsoft YaHei"/>
              </a:defRPr>
            </a:pPr>
            <a:r>
              <a:t>伪代码表达目标设计；服务器候选确认基础与完整对话补全、only_check需求须分别说明。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问题与后续计划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当前关键任务是字段对齐，而非仅增加接口路径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691640"/>
            <a:ext cx="10972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783080"/>
            <a:ext cx="8778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优先级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640" y="1691640"/>
            <a:ext cx="475488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01368" y="1783080"/>
            <a:ext cx="453542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工作项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691640"/>
            <a:ext cx="51206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783080"/>
            <a:ext cx="4901183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可验收结果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148840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258568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91640" y="2148840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1368" y="2258568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与物理架构模块逐项对齐字段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148840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2258568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共同JSON样例 + 字段映射清单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843784"/>
            <a:ext cx="10789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953512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91640" y="2843784"/>
            <a:ext cx="47365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01368" y="2953512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补全建议与用户反馈合并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2843784"/>
            <a:ext cx="510235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6248" y="2953512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采纳/修改/拒绝可追溯，冲突有追问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3538728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648456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91640" y="3538728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01368" y="3648456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完善两个对外入口与会话管理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46520" y="3538728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3648456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接口状态、上下文与输出一致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4233672"/>
            <a:ext cx="10789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343400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91640" y="4233672"/>
            <a:ext cx="473659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01368" y="4343400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验证特征、阈值和端口匹配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4233672"/>
            <a:ext cx="5102352" cy="672084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43400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固定案例的指标、差异与人工复核记录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928616"/>
            <a:ext cx="10789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088" y="5038344"/>
            <a:ext cx="8778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交付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91640" y="4928616"/>
            <a:ext cx="473659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01368" y="5038344"/>
            <a:ext cx="4535424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向周瑜璇交接JSON并收集反馈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6520" y="4928616"/>
            <a:ext cx="5102352" cy="6720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6248" y="5038344"/>
            <a:ext cx="4901183" cy="5486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交接版本明确，转换所需字段可补齐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806440"/>
            <a:ext cx="10972800" cy="429768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8873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07F87"/>
                </a:solidFill>
                <a:latin typeface="Microsoft YaHei"/>
              </a:defRPr>
            </a:pPr>
            <a:r>
              <a:t>需讨论：功能簇结构、关系类型及方向、连接端点ID、来源字段、任务/版本与多轮增量规则。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接口参数 / 需求约定，具体字段待对齐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接口一：逻辑架构生成的输入与输出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007F87"/>
                </a:solidFill>
                <a:latin typeface="Consolas"/>
              </a:defRPr>
            </a:pPr>
            <a:r>
              <a:t>POST /generate_logical_arch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057400"/>
            <a:ext cx="105156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148840"/>
            <a:ext cx="832103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方向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2057400"/>
            <a:ext cx="347472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2148840"/>
            <a:ext cx="3255263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参数 / 数据项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2057400"/>
            <a:ext cx="644652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2148840"/>
            <a:ext cx="622706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类型与含义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514600"/>
            <a:ext cx="1033271" cy="7543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624328"/>
            <a:ext cx="832103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19" y="2514600"/>
            <a:ext cx="3456432" cy="7543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55648" y="2624328"/>
            <a:ext cx="3255263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物理架构生成上下文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514600"/>
            <a:ext cx="6428232" cy="7543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0368" y="2624328"/>
            <a:ext cx="6227064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PhysicalArchGenContext JSON，包含功能点及其关联关系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291840"/>
            <a:ext cx="1033271" cy="75438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3401568"/>
            <a:ext cx="832103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3291840"/>
            <a:ext cx="3456432" cy="75438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55648" y="3401568"/>
            <a:ext cx="3255263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生成选项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3291840"/>
            <a:ext cx="6428232" cy="75438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3401568"/>
            <a:ext cx="6227064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对象；聚类控制参数等，名称、范围和默认值待确认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4069080"/>
            <a:ext cx="1033271" cy="7543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178808"/>
            <a:ext cx="832103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19" y="4069080"/>
            <a:ext cx="3456432" cy="7543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55648" y="4178808"/>
            <a:ext cx="3255263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功能逻辑架构数据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4069080"/>
            <a:ext cx="6428232" cy="7543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0368" y="4178808"/>
            <a:ext cx="6227064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JSON；表达功能聚类结果及经约定保留的关联信息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4846320"/>
            <a:ext cx="1033271" cy="75438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956048"/>
            <a:ext cx="832103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输出核心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4846320"/>
            <a:ext cx="3456432" cy="75438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55648" y="4956048"/>
            <a:ext cx="3255263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功能簇及成员ID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0" y="4846320"/>
            <a:ext cx="6428232" cy="754380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30368" y="4956048"/>
            <a:ext cx="6227064" cy="6309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24384B"/>
                </a:solidFill>
                <a:latin typeface="Microsoft YaHei"/>
              </a:defRPr>
            </a:pPr>
            <a:r>
              <a:t>每个功能簇包含一系列function_id，保留原功能追溯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15000"/>
            <a:ext cx="1078992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0758A"/>
                </a:solidFill>
                <a:latin typeface="Microsoft YaHei"/>
              </a:defRPr>
            </a:pPr>
            <a:r>
              <a:t>共同上下文：functions、function_relations、task_id等；外层字段及输出Schema尚未定稿。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989320"/>
            <a:ext cx="10972800" cy="429768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607161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67816"/>
                </a:solidFill>
                <a:latin typeface="Microsoft YaHei"/>
              </a:defRPr>
            </a:pPr>
            <a:r>
              <a:t>对接物理架构组件选型及连接布局模块；两个对外接口均未完全完成，双方字段仍在协商。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7F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7F87"/>
                </a:solidFill>
                <a:latin typeface="Microsoft YaHei"/>
              </a:defRPr>
            </a:pPr>
            <a:r>
              <a:t>接口参数 / 需求约定，具体字段待对齐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58952"/>
            <a:ext cx="11064240" cy="5943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17324D"/>
                </a:solidFill>
                <a:latin typeface="Microsoft YaHei"/>
              </a:defRPr>
            </a:pPr>
            <a:r>
              <a:t>接口二：输入补全的输入与输出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DCE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0758A"/>
                </a:solidFill>
                <a:latin typeface="Microsoft YaHei"/>
              </a:defRPr>
            </a:pPr>
            <a:r>
              <a:t>板块二  ·  功能逻辑架构生成研究汇报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19672"/>
            <a:ext cx="64008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0758A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36576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007F87"/>
                </a:solidFill>
                <a:latin typeface="Consolas"/>
              </a:defRPr>
            </a:pPr>
            <a:r>
              <a:t>POST /complement_arch_gen_context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057400"/>
            <a:ext cx="100584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148840"/>
            <a:ext cx="78638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方向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2057400"/>
            <a:ext cx="379476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2148840"/>
            <a:ext cx="357530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参数 / 服务器字段参考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2057400"/>
            <a:ext cx="6172200" cy="4572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4688" y="2148840"/>
            <a:ext cx="5952744" cy="3200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t>类型与含义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514600"/>
            <a:ext cx="987552" cy="49834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624328"/>
            <a:ext cx="786384" cy="374903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输入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514600"/>
            <a:ext cx="3776472" cy="49834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09928" y="2624328"/>
            <a:ext cx="3575304" cy="374903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physical_arch_gen_context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0" y="2514600"/>
            <a:ext cx="6153912" cy="49834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4688" y="2624328"/>
            <a:ext cx="5952744" cy="374903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上下文JSON；包含当前功能点、关联关系等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035808"/>
            <a:ext cx="987552" cy="452628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3145536"/>
            <a:ext cx="78638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输入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035808"/>
            <a:ext cx="3776472" cy="452628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09928" y="3145536"/>
            <a:ext cx="35753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prompt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60" y="3035808"/>
            <a:ext cx="6153912" cy="452628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04688" y="3145536"/>
            <a:ext cx="595274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字符串；用户提示文字，可为空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3511296"/>
            <a:ext cx="987552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621024"/>
            <a:ext cx="786384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输入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511296"/>
            <a:ext cx="3776472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9928" y="3621024"/>
            <a:ext cx="3575304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options（MD含only_check）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3511296"/>
            <a:ext cx="6153912" cy="571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04688" y="3621024"/>
            <a:ext cx="5952744" cy="4480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true：仅判断完整性；false：进入补全处理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" y="4105656"/>
            <a:ext cx="987552" cy="617219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215384"/>
            <a:ext cx="786384" cy="493775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输出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105656"/>
            <a:ext cx="3776472" cy="617219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09928" y="4215384"/>
            <a:ext cx="3575304" cy="493775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physical_arch_gen_context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60" y="4105656"/>
            <a:ext cx="6153912" cy="617219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4688" y="4215384"/>
            <a:ext cx="5952744" cy="493775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更新后的上下文JSON；仅检查或未采纳时保留原有效内容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" y="4745736"/>
            <a:ext cx="987552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4855464"/>
            <a:ext cx="78638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输出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4745736"/>
            <a:ext cx="3776472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09928" y="4855464"/>
            <a:ext cx="35753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needs_completion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4960" y="4745736"/>
            <a:ext cx="6153912" cy="4526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04688" y="4855464"/>
            <a:ext cx="595274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布尔值；是否存在需要补全的内容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" y="5221224"/>
            <a:ext cx="987552" cy="452628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4088" y="5330952"/>
            <a:ext cx="78638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输出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221224"/>
            <a:ext cx="3776472" cy="452628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09928" y="5330952"/>
            <a:ext cx="357530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completion_description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60" y="5221224"/>
            <a:ext cx="6153912" cy="452628"/>
          </a:xfrm>
          <a:prstGeom prst="rect">
            <a:avLst/>
          </a:prstGeom>
          <a:solidFill>
            <a:srgbClr val="EA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5330952"/>
            <a:ext cx="5952744" cy="3291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4384B"/>
                </a:solidFill>
                <a:latin typeface="Microsoft YaHei"/>
              </a:defRPr>
            </a:pPr>
            <a:r>
              <a:t>字符串；补全说明、缺失项或建议说明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5779008"/>
            <a:ext cx="10789920" cy="228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60758A"/>
                </a:solidFill>
                <a:latin typeface="Microsoft YaHei"/>
              </a:defRPr>
            </a:pPr>
            <a:r>
              <a:t>英文名称参考服务器模型；“是否启用补全”与only_check不同，参数映射及默认值待统一。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94360" y="5989320"/>
            <a:ext cx="10972800" cy="429768"/>
          </a:xfrm>
          <a:prstGeom prst="roundRect">
            <a:avLst/>
          </a:prstGeom>
          <a:solidFill>
            <a:srgbClr val="FFF3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6071616"/>
            <a:ext cx="10607040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67816"/>
                </a:solidFill>
                <a:latin typeface="Microsoft YaHei"/>
              </a:defRPr>
            </a:pPr>
            <a:r>
              <a:t>only_check是MD需求，尚需接入；用户是否采纳建议须独立确认，不能自动写入未采纳内容。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