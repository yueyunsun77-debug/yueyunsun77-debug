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8" r:id="rId10"/>
    <p:sldId id="259" r:id="rId11"/>
    <p:sldId id="260" r:id="rId12"/>
    <p:sldId id="274" r:id="rId26"/>
    <p:sldId id="275" r:id="rId27"/>
    <p:sldId id="264" r:id="rId16"/>
    <p:sldId id="277" r:id="rId20"/>
    <p:sldId id="278" r:id="rId18"/>
    <p:sldId id="276" r:id="rId28"/>
    <p:sldId id="279" r:id="rId22"/>
    <p:sldId id="284" r:id="rId13"/>
    <p:sldId id="282" r:id="rId25"/>
    <p:sldId id="263" r:id="rId15"/>
    <p:sldId id="267" r:id="rId19"/>
    <p:sldId id="269" r:id="rId21"/>
    <p:sldId id="283" r:id="rId14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20.xml"/><Relationship Id="rId14" Type="http://schemas.openxmlformats.org/officeDocument/2006/relationships/slide" Target="slides/slide18.xml"/><Relationship Id="rId15" Type="http://schemas.openxmlformats.org/officeDocument/2006/relationships/slide" Target="slides/slide15.xml"/><Relationship Id="rId16" Type="http://schemas.openxmlformats.org/officeDocument/2006/relationships/slide" Target="slides/slide7.xml"/><Relationship Id="rId18" Type="http://schemas.openxmlformats.org/officeDocument/2006/relationships/slide" Target="slides/slide9.xml"/><Relationship Id="rId19" Type="http://schemas.openxmlformats.org/officeDocument/2006/relationships/slide" Target="slides/slide16.xml"/><Relationship Id="rId20" Type="http://schemas.openxmlformats.org/officeDocument/2006/relationships/slide" Target="slides/slide8.xml"/><Relationship Id="rId21" Type="http://schemas.openxmlformats.org/officeDocument/2006/relationships/slide" Target="slides/slide17.xml"/><Relationship Id="rId22" Type="http://schemas.openxmlformats.org/officeDocument/2006/relationships/slide" Target="slides/slide11.xml"/><Relationship Id="rId23" Type="http://schemas.openxmlformats.org/officeDocument/2006/relationships/slide" Target="slides/slide19.xml"/><Relationship Id="rId25" Type="http://schemas.openxmlformats.org/officeDocument/2006/relationships/slide" Target="slides/slide14.xml"/><Relationship Id="rId26" Type="http://schemas.openxmlformats.org/officeDocument/2006/relationships/slide" Target="slides/slide5.xml"/><Relationship Id="rId27" Type="http://schemas.openxmlformats.org/officeDocument/2006/relationships/slide" Target="slides/slide6.xml"/><Relationship Id="rId28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本页算法、校验、拓扑连接和运行证据均以用户上传的MBSE_app为依据；截图来自上传Word，不代表本次重新运行。MBSE_app主输出脚本以功能点名称分词并构建TF-IDF，端口采用首项策略。接口能力另见接口章节。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本页算法、校验、拓扑连接和运行证据均以用户上传的MBSE_app为依据；截图来自上传Word，不代表本次重新运行。MBSE_app主输出脚本以功能点名称分词并构建TF-IDF，端口采用首项策略。接口能力另见接口章节。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本页算法、校验、拓扑连接和运行证据均以用户上传的MBSE_app为依据；截图来自上传Word，不代表本次重新运行。MBSE_app主输出脚本以功能点名称分词并构建TF-IDF，端口采用首项策略。接口能力另见接口章节。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本页算法、校验、拓扑连接和运行证据均以用户上传的MBSE_app为依据；截图来自上传Word，不代表本次重新运行。MBSE_app主输出脚本以功能点名称分词并构建TF-IDF，端口采用首项策略。接口能力另见接口章节。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本页算法、校验、拓扑连接和运行证据均以用户上传的MBSE_app为依据；截图来自上传Word，不代表本次重新运行。MBSE_app主输出脚本以功能点名称分词并构建TF-IDF，端口采用首项策略。接口能力另见接口章节。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本页算法、校验、拓扑连接和运行证据均以用户上传的MBSE_app为依据；截图来自上传Word，不代表本次重新运行。MBSE_app主输出脚本以功能点名称分词并构建TF-IDF，端口采用首项策略。接口能力另见接口章节。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本页算法、校验、拓扑连接和运行证据均以用户上传的MBSE_app为依据；截图来自上传Word，不代表本次重新运行。MBSE_app主输出脚本以功能点名称分词并构建TF-IDF，端口采用首项策略。接口能力另见接口章节。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本页算法、校验、拓扑连接和运行证据均以用户上传的MBSE_app为依据；截图来自上传Word，不代表本次重新运行。MBSE_app主输出脚本以功能点名称分词并构建TF-IDF，端口采用首项策略。接口能力另见接口章节。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算法、校验、拓扑连接和运行证据均以用户上传的MBSE_app为依据；截图来自上传Word，不代表本次重新运行。MBSE_app主输出脚本以功能点名称分词并构建TF-IDF，端口采用首项策略。接口能力另见接口章节。MBSE_all.py输出聚类评估指标；加权ArchScore和Purity属于mbse_complete.py扩展版本，未宣称已在同一入口集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接口依据《功能逻辑分析模块接口需求.md》第2、3项及此前核对的服务器代码版本f2d98e5。逻辑架构生成对外路由尚需接入；输入补全已有候选预览和人工确认基础，尚不能等同于完整多轮对话。only_check为MD需求，核对版本未支持。暂定的是否启用补全选项与only_check不同，最终报文仍待确定。两个对外接口尚未完全完成，功能逻辑架构字段正在与物理架构组件选型及连接布局模块协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接口依据《功能逻辑分析模块接口需求.md》第2、3项及此前核对的服务器代码版本f2d98e5。逻辑架构生成对外路由尚需接入；输入补全已有候选预览和人工确认基础，尚不能等同于完整多轮对话。only_check为MD需求，核对版本未支持。暂定的是否启用补全选项与only_check不同，最终报文仍待确定。两个对外接口尚未完全完成，功能逻辑架构字段正在与物理架构组件选型及连接布局模块协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两张代码截图直接取自上传Word的核心代码2，完整保留，未重新执行程序。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截图p61完整嵌入。原始截图右缘已有截断，PPT不补造被截断内容；同批案例完整字段需查看原JSON/Excel。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截图p66直接取自上传Word，与此前核心代码3对应。展示结果不代表类型、单位兼容性已经完成工程验证。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截图p71为上传Word的运行输出文件清单，不是本次重新运行或验证文件内容。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本页是接口设计伪代码，非已实现路由截图。生成接口及最终数据字段尚待接入/对齐。补全接口已有候选预览与确认基础；only_check为需求MD约定，核对服务器版本尚未支持。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两张代码截图直接来自上传Word，保留原始内容；Excel用于结构化查看，JSON用于下游交换。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阶段研究汇报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从功能点及其关联关系到功能逻辑架构数据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9144000" cy="1463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4000" b="1">
                <a:solidFill>
                  <a:srgbClr val="17324D"/>
                </a:solidFill>
                <a:latin typeface="Microsoft YaHei"/>
              </a:defRPr>
            </a:pPr>
            <a:r>
              <a:t>板块二</a:t>
            </a:r>
          </a:p>
          <a:p>
            <a:pPr>
              <a:spcAft>
                <a:spcPts val="800"/>
              </a:spcAft>
              <a:defRPr sz="4000" b="1">
                <a:solidFill>
                  <a:srgbClr val="17324D"/>
                </a:solidFill>
                <a:latin typeface="Microsoft YaHei"/>
              </a:defRPr>
            </a:pPr>
            <a:r>
              <a:t>研究进展与接口设计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840480"/>
            <a:ext cx="9144000" cy="6400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007F87"/>
                </a:solidFill>
                <a:latin typeface="Microsoft YaHei"/>
              </a:defRPr>
            </a:pPr>
            <a:r>
              <a:t>BIRCH功能聚类  /  功能关系分析与拓扑连接生成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800600"/>
            <a:ext cx="10607040" cy="6583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992624"/>
            <a:ext cx="10058400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24384B"/>
                </a:solidFill>
                <a:latin typeface="Microsoft YaHei"/>
              </a:defRPr>
            </a:pPr>
            <a:r>
              <a:t>汇报重点：处理能力、数据交付、两个对外接口及当前待办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852160"/>
            <a:ext cx="91440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60758A"/>
                </a:solidFill>
                <a:latin typeface="Microsoft YaHei"/>
              </a:defRPr>
            </a:pPr>
            <a:r>
              <a:t>2026年10月28日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职责与数据流向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上游由郑心如补全，下游分为接口对接与模型转换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2880360" cy="1280160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965960"/>
            <a:ext cx="2660904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17324D"/>
                </a:solidFill>
                <a:latin typeface="Microsoft YaHei"/>
              </a:defRPr>
            </a:pPr>
            <a:r>
              <a:t>板块一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450592"/>
            <a:ext cx="2660904" cy="6217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500" b="0">
                <a:solidFill>
                  <a:srgbClr val="24384B"/>
                </a:solidFill>
                <a:latin typeface="Microsoft YaHei"/>
              </a:defRPr>
            </a:pPr>
            <a:r>
              <a:t>功能点及其关联关系数据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17720" y="1828800"/>
            <a:ext cx="2880360" cy="1280160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27448" y="1965960"/>
            <a:ext cx="2660904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17324D"/>
                </a:solidFill>
                <a:latin typeface="Microsoft YaHei"/>
              </a:defRPr>
            </a:pPr>
            <a:r>
              <a:t>板块三 · 郑心如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7448" y="2450592"/>
            <a:ext cx="2660904" cy="6217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500" b="0">
                <a:solidFill>
                  <a:srgbClr val="24384B"/>
                </a:solidFill>
                <a:latin typeface="Microsoft YaHei"/>
              </a:defRPr>
            </a:pPr>
            <a:r>
              <a:t>补全后交给板块二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566160" y="2468880"/>
            <a:ext cx="1005840" cy="0"/>
          </a:xfrm>
          <a:prstGeom prst="line">
            <a:avLst/>
          </a:prstGeom>
          <a:ln w="25400">
            <a:solidFill>
              <a:srgbClr val="007F8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595360" y="1828800"/>
            <a:ext cx="2880360" cy="1280160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05088" y="1965960"/>
            <a:ext cx="2660904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17324D"/>
                </a:solidFill>
                <a:latin typeface="Microsoft YaHei"/>
              </a:defRPr>
            </a:pPr>
            <a:r>
              <a:t>板块二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05088" y="2450592"/>
            <a:ext cx="2660904" cy="6217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500" b="0">
                <a:solidFill>
                  <a:srgbClr val="24384B"/>
                </a:solidFill>
                <a:latin typeface="Microsoft YaHei"/>
              </a:defRPr>
            </a:pPr>
            <a:r>
              <a:t>功能逻辑架构生成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543800" y="2468880"/>
            <a:ext cx="1005840" cy="0"/>
          </a:xfrm>
          <a:prstGeom prst="line">
            <a:avLst/>
          </a:prstGeom>
          <a:ln w="25400">
            <a:solidFill>
              <a:srgbClr val="007F8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828800" y="4206240"/>
            <a:ext cx="3931920" cy="1188720"/>
          </a:xfrm>
          <a:prstGeom prst="roundRect">
            <a:avLst/>
          </a:prstGeom>
          <a:solidFill>
            <a:srgbClr val="FFF3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38528" y="4343400"/>
            <a:ext cx="3712463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17324D"/>
                </a:solidFill>
                <a:latin typeface="Microsoft YaHei"/>
              </a:defRPr>
            </a:pPr>
            <a:r>
              <a:t>物理架构组件选型及连接布局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38528" y="4828031"/>
            <a:ext cx="3712463" cy="5303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500" b="0">
                <a:solidFill>
                  <a:srgbClr val="24384B"/>
                </a:solidFill>
                <a:latin typeface="Microsoft YaHei"/>
              </a:defRPr>
            </a:pPr>
            <a:r>
              <a:t>对外接口适配与返回 · 待接入/对齐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20840" y="4206240"/>
            <a:ext cx="3931920" cy="1188720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30568" y="4343400"/>
            <a:ext cx="3712463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17324D"/>
                </a:solidFill>
                <a:latin typeface="Microsoft YaHei"/>
              </a:defRPr>
            </a:pPr>
            <a:r>
              <a:t>板块三 · 周瑜璇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0568" y="4828031"/>
            <a:ext cx="3712463" cy="5303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500" b="0">
                <a:solidFill>
                  <a:srgbClr val="24384B"/>
                </a:solidFill>
                <a:latin typeface="Microsoft YaHei"/>
              </a:defRPr>
            </a:pPr>
            <a:r>
              <a:t>JSON交接 → SysML v2转换与校验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3794760" y="3154680"/>
            <a:ext cx="5897880" cy="1005840"/>
          </a:xfrm>
          <a:prstGeom prst="line">
            <a:avLst/>
          </a:prstGeom>
          <a:ln w="25400">
            <a:solidFill>
              <a:srgbClr val="007F8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8686800" y="3154680"/>
            <a:ext cx="1554480" cy="1005840"/>
          </a:xfrm>
          <a:prstGeom prst="line">
            <a:avLst/>
          </a:prstGeom>
          <a:ln w="25400">
            <a:solidFill>
              <a:srgbClr val="007F8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07F87"/>
                </a:solidFill>
                <a:latin typeface="Microsoft YaHei"/>
              </a:defRPr>
            </a:pPr>
            <a:r>
              <a:t>板块二负责功能逻辑架构JSON；SysML v2转换与工具校验由周瑜璇负责。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研究进展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研究进展覆盖输入、聚类、连接和数据输出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691640"/>
            <a:ext cx="1920240" cy="4572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783080"/>
            <a:ext cx="1700784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环节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14600" y="1691640"/>
            <a:ext cx="4526280" cy="4572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24328" y="1783080"/>
            <a:ext cx="4306824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已有成果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0" y="1691640"/>
            <a:ext cx="4526280" cy="4572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50608" y="1783080"/>
            <a:ext cx="4306824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仍需推进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2148840"/>
            <a:ext cx="1901952" cy="8275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2258568"/>
            <a:ext cx="1700784" cy="7040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输入与校验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14600" y="2148840"/>
            <a:ext cx="4507992" cy="8275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24328" y="2258568"/>
            <a:ext cx="4306824" cy="7040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MBSE_app前置校验、关系类型标准化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2148840"/>
            <a:ext cx="4507992" cy="8275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50608" y="2258568"/>
            <a:ext cx="4306824" cy="7040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统一对外Schema与错误定位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2999232"/>
            <a:ext cx="1901952" cy="827532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3108960"/>
            <a:ext cx="1700784" cy="7040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功能聚类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14600" y="2999232"/>
            <a:ext cx="4507992" cy="827532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24328" y="3108960"/>
            <a:ext cx="4306824" cy="7040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TF-IDF + BIRCH形成归属数据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40880" y="2999232"/>
            <a:ext cx="4507992" cy="827532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50608" y="3108960"/>
            <a:ext cx="4306824" cy="7040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特征组合、阈值与业务解释性评价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3849624"/>
            <a:ext cx="1901952" cy="8275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" y="3959352"/>
            <a:ext cx="1700784" cy="7040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关系与拓扑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14600" y="3849624"/>
            <a:ext cx="4507992" cy="8275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24328" y="3959352"/>
            <a:ext cx="4306824" cy="7040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挂接源/目标簇，生成端口与流对象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40880" y="3849624"/>
            <a:ext cx="4507992" cy="8275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50608" y="3959352"/>
            <a:ext cx="4306824" cy="7040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端口类型/单位及多端口匹配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" y="4700016"/>
            <a:ext cx="1901952" cy="827532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" y="4809744"/>
            <a:ext cx="1700784" cy="7040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输出与集成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14600" y="4700016"/>
            <a:ext cx="4507992" cy="827532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24328" y="4809744"/>
            <a:ext cx="4306824" cy="7040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Excel / JSON输出及校验报告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40880" y="4700016"/>
            <a:ext cx="4507992" cy="827532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50608" y="4809744"/>
            <a:ext cx="4306824" cy="7040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两个对外接口与字段协商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07F87"/>
                </a:solidFill>
                <a:latin typeface="Microsoft YaHei"/>
              </a:defRPr>
            </a:pPr>
            <a:r>
              <a:t>本部分依据MBSE_app；接口章节另依据需求MD和服务器版本说明。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技术路线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技术路线：先聚类，再组织关系与拓扑连接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3291840" cy="1325880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920240"/>
            <a:ext cx="3072384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17324D"/>
                </a:solidFill>
                <a:latin typeface="Microsoft YaHei"/>
              </a:defRPr>
            </a:pPr>
            <a:r>
              <a:t>01  输入规范与校验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404872"/>
            <a:ext cx="3072384" cy="6675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500" b="0">
                <a:solidFill>
                  <a:srgbClr val="24384B"/>
                </a:solidFill>
                <a:latin typeface="Microsoft YaHei"/>
              </a:defRPr>
            </a:pPr>
            <a:r>
              <a:t>ID、引用、关系与端口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968496" y="2450592"/>
            <a:ext cx="466344" cy="0"/>
          </a:xfrm>
          <a:prstGeom prst="line">
            <a:avLst/>
          </a:prstGeom>
          <a:ln w="25400">
            <a:solidFill>
              <a:srgbClr val="007F8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480560" y="1783080"/>
            <a:ext cx="3291840" cy="1325880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1920240"/>
            <a:ext cx="3072384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17324D"/>
                </a:solidFill>
                <a:latin typeface="Microsoft YaHei"/>
              </a:defRPr>
            </a:pPr>
            <a:r>
              <a:t>02  语义表征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404872"/>
            <a:ext cx="3072384" cy="6675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500" b="0">
                <a:solidFill>
                  <a:srgbClr val="24384B"/>
                </a:solidFill>
                <a:latin typeface="Microsoft YaHei"/>
              </a:defRPr>
            </a:pPr>
            <a:r>
              <a:t>分词 → TF-IDF → L2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08975" y="2450592"/>
            <a:ext cx="466345" cy="0"/>
          </a:xfrm>
          <a:prstGeom prst="line">
            <a:avLst/>
          </a:prstGeom>
          <a:ln w="25400">
            <a:solidFill>
              <a:srgbClr val="007F8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321040" y="1783080"/>
            <a:ext cx="3291840" cy="1325880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7" y="1920240"/>
            <a:ext cx="3072384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17324D"/>
                </a:solidFill>
                <a:latin typeface="Microsoft YaHei"/>
              </a:defRPr>
            </a:pPr>
            <a:r>
              <a:t>03  BIRCH功能聚类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7" y="2404872"/>
            <a:ext cx="3072384" cy="6675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500" b="0">
                <a:solidFill>
                  <a:srgbClr val="24384B"/>
                </a:solidFill>
                <a:latin typeface="Microsoft YaHei"/>
              </a:defRPr>
            </a:pPr>
            <a:r>
              <a:t>得到功能ID—簇ID映射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749039"/>
            <a:ext cx="3291840" cy="1325880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886200"/>
            <a:ext cx="3072384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17324D"/>
                </a:solidFill>
                <a:latin typeface="Microsoft YaHei"/>
              </a:defRPr>
            </a:pPr>
            <a:r>
              <a:t>04  归属与拓扑组织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370831"/>
            <a:ext cx="3072384" cy="6675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500" b="0">
                <a:solidFill>
                  <a:srgbClr val="24384B"/>
                </a:solidFill>
                <a:latin typeface="Microsoft YaHei"/>
              </a:defRPr>
            </a:pPr>
            <a:r>
              <a:t>关系簇标签 / 端口 / 流对象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80560" y="3749039"/>
            <a:ext cx="3291840" cy="1325880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90288" y="3886200"/>
            <a:ext cx="3072384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17324D"/>
                </a:solidFill>
                <a:latin typeface="Microsoft YaHei"/>
              </a:defRPr>
            </a:pPr>
            <a:r>
              <a:t>05  质量评价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4370831"/>
            <a:ext cx="3072384" cy="6675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500" b="0">
                <a:solidFill>
                  <a:srgbClr val="24384B"/>
                </a:solidFill>
                <a:latin typeface="Microsoft YaHei"/>
              </a:defRPr>
            </a:pPr>
            <a:r>
              <a:t>内聚 / 解耦 / 碎片化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21040" y="3749039"/>
            <a:ext cx="3291840" cy="1325880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30767" y="3886200"/>
            <a:ext cx="3072384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17324D"/>
                </a:solidFill>
                <a:latin typeface="Microsoft YaHei"/>
              </a:defRPr>
            </a:pPr>
            <a:r>
              <a:t>06  数据交付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30767" y="4370831"/>
            <a:ext cx="3072384" cy="6675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500" b="0">
                <a:solidFill>
                  <a:srgbClr val="24384B"/>
                </a:solidFill>
                <a:latin typeface="Microsoft YaHei"/>
              </a:defRPr>
            </a:pPr>
            <a:r>
              <a:t>功能逻辑架构JSON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2286000" y="3154680"/>
            <a:ext cx="7680960" cy="548640"/>
          </a:xfrm>
          <a:prstGeom prst="line">
            <a:avLst/>
          </a:prstGeom>
          <a:ln w="25400">
            <a:solidFill>
              <a:srgbClr val="007F8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968496" y="4434840"/>
            <a:ext cx="466344" cy="0"/>
          </a:xfrm>
          <a:prstGeom prst="line">
            <a:avLst/>
          </a:prstGeom>
          <a:ln w="25400">
            <a:solidFill>
              <a:srgbClr val="007F8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808975" y="4434840"/>
            <a:ext cx="466345" cy="0"/>
          </a:xfrm>
          <a:prstGeom prst="line">
            <a:avLst/>
          </a:prstGeom>
          <a:ln w="25400">
            <a:solidFill>
              <a:srgbClr val="007F8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07F87"/>
                </a:solidFill>
                <a:latin typeface="Microsoft YaHei"/>
              </a:defRPr>
            </a:pPr>
            <a:r>
              <a:t>当前功能关系参与校验、标注和连接生成，尚未作为BIRCH的图约束。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校验代码与运行证据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前置校验：先检查输入，再生成功能逻辑架构数据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5212080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7324D"/>
                </a:solidFill>
                <a:latin typeface="Microsoft YaHei"/>
              </a:defRPr>
            </a:pPr>
            <a:r>
              <a:t>输入合法性与引用检查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645920"/>
            <a:ext cx="5212080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7324D"/>
                </a:solidFill>
                <a:latin typeface="Microsoft YaHei"/>
              </a:defRPr>
            </a:pPr>
            <a:r>
              <a:t>已有运行结果：前置校验通过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057400"/>
            <a:ext cx="5349240" cy="3611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043" y="2148840"/>
            <a:ext cx="4557873" cy="33832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17920" y="2057400"/>
            <a:ext cx="5349240" cy="3611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0518" y="2148840"/>
            <a:ext cx="3724042" cy="338328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07F87"/>
                </a:solidFill>
                <a:latin typeface="Microsoft YaHei"/>
              </a:defRPr>
            </a:pPr>
            <a:r>
              <a:t>校验通过表示输入满足计算条件，不等于功能需求完整或工程架构正确。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BIRCH核心代码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聚类核心：TF-IDF表征与BIRCH功能聚类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91640"/>
            <a:ext cx="10972800" cy="3337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711" y="1828800"/>
            <a:ext cx="10602097" cy="3017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212080"/>
            <a:ext cx="10789920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007F87"/>
                </a:solidFill>
                <a:latin typeface="Microsoft YaHei"/>
              </a:defRPr>
            </a:pPr>
            <a:r>
              <a:t>原型特征：功能点名称  →  jieba分词  →  TF-IDF  →  L2归一化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07F87"/>
                </a:solidFill>
                <a:latin typeface="Microsoft YaHei"/>
              </a:defRPr>
            </a:pPr>
            <a:r>
              <a:t>MBSE_app参数：threshold=0.6；branching_factor=50；n_clusters=None。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运行结果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已有原型输出可展示功能点到功能簇的归属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182880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7F87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1828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60758A"/>
                </a:solidFill>
                <a:latin typeface="Microsoft YaHei"/>
              </a:defRPr>
            </a:pPr>
            <a:r>
              <a:t>功能点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1645920"/>
            <a:ext cx="182880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7F87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286000"/>
            <a:ext cx="1828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60758A"/>
                </a:solidFill>
                <a:latin typeface="Microsoft YaHei"/>
              </a:defRPr>
            </a:pPr>
            <a:r>
              <a:t>功能簇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1645920"/>
            <a:ext cx="182880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7F87"/>
                </a:solidFill>
                <a:latin typeface="Microsoft YaHei"/>
              </a:defRPr>
            </a:pPr>
            <a: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286000"/>
            <a:ext cx="1828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60758A"/>
                </a:solidFill>
                <a:latin typeface="Microsoft YaHei"/>
              </a:defRPr>
            </a:pPr>
            <a:r>
              <a:t>关系记录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1645920"/>
            <a:ext cx="182880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7F87"/>
                </a:solidFill>
                <a:latin typeface="Microsoft YaHei"/>
              </a:defRPr>
            </a:pPr>
            <a:r>
              <a:t>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2286000"/>
            <a:ext cx="1828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60758A"/>
                </a:solidFill>
                <a:latin typeface="Microsoft YaHei"/>
              </a:defRPr>
            </a:pPr>
            <a:r>
              <a:t>连接记录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2834640"/>
            <a:ext cx="10972800" cy="2606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4632" y="2926080"/>
            <a:ext cx="9652254" cy="242316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07F87"/>
                </a:solidFill>
                <a:latin typeface="Microsoft YaHei"/>
              </a:defRPr>
            </a:pPr>
            <a:r>
              <a:t>样例中多数簇较小，需要结合碎片化指标与业务复核，不能仅以“生成成功”判断质量。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核心代码 / MBSE_app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关系处理核心：有效端点、标准关系与所属功能簇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5212080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7324D"/>
                </a:solidFill>
                <a:latin typeface="Microsoft YaHei"/>
              </a:defRPr>
            </a:pPr>
            <a:r>
              <a:t>端点过滤与关系类型处理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645920"/>
            <a:ext cx="5212080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7324D"/>
                </a:solidFill>
                <a:latin typeface="Microsoft YaHei"/>
              </a:defRPr>
            </a:pPr>
            <a:r>
              <a:t>源/目标簇关联与记录组织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057400"/>
            <a:ext cx="5349240" cy="3611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5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7507" y="2148840"/>
            <a:ext cx="3922944" cy="33832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17920" y="2057400"/>
            <a:ext cx="5349240" cy="3611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2237356"/>
            <a:ext cx="5074920" cy="3206247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07F87"/>
                </a:solidFill>
                <a:latin typeface="Microsoft YaHei"/>
              </a:defRPr>
            </a:pPr>
            <a:r>
              <a:t>原型以前置校验保证引用有效；生成阶段保留端点过滤，关系记录携带簇归属与证据。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运行截图 / MBSE_app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关系运行结果：功能关系附加源簇与目标簇信息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91640"/>
            <a:ext cx="10972800" cy="3840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199" y="1828800"/>
            <a:ext cx="10515121" cy="3474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07F87"/>
                </a:solidFill>
                <a:latin typeface="Microsoft YaHei"/>
              </a:defRPr>
            </a:pPr>
            <a:r>
              <a:t>文档所附案例含13条关系；完整保留原截图，右缘未完整显示的字段以原JSON/Excel为准。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拓扑连接核心代码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拓扑连接核心：关联端口、流对象与所属功能簇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5212080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7324D"/>
                </a:solidFill>
                <a:latin typeface="Microsoft YaHei"/>
              </a:defRPr>
            </a:pPr>
            <a:r>
              <a:t>关系类型与流对象处理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645920"/>
            <a:ext cx="5212080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7324D"/>
                </a:solidFill>
                <a:latin typeface="Microsoft YaHei"/>
              </a:defRPr>
            </a:pPr>
            <a:r>
              <a:t>连接记录与聚类归属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057400"/>
            <a:ext cx="5349240" cy="3611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2293" y="2148840"/>
            <a:ext cx="4033373" cy="33832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17920" y="2057400"/>
            <a:ext cx="5349240" cy="3611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5947" y="2148840"/>
            <a:ext cx="4713185" cy="338328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07F87"/>
                </a:solidFill>
                <a:latin typeface="Microsoft YaHei"/>
              </a:defRPr>
            </a:pPr>
            <a:r>
              <a:t>原型采用首项端口策略；后续需完善类型、单位、多端口匹配及待确认标记。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运行截图 / MBSE_app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拓扑运行结果：端口、流对象与功能簇可追溯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91640"/>
            <a:ext cx="10972800" cy="3840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162" y="1828799"/>
            <a:ext cx="10553194" cy="3474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07F87"/>
                </a:solidFill>
                <a:latin typeface="Microsoft YaHei"/>
              </a:defRPr>
            </a:pPr>
            <a:r>
              <a:t>对应13条连接；数据流、触发及并发/约束保持不同流对象表达。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运行截图 / MBSE_app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输出运行截图：架构结果与前置校验报告已形成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828800"/>
            <a:ext cx="10972800" cy="2743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235" y="2103120"/>
            <a:ext cx="10473048" cy="2194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892040"/>
            <a:ext cx="106070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007F87"/>
                </a:solidFill>
                <a:latin typeface="Microsoft YaHei"/>
              </a:defRPr>
            </a:pPr>
            <a:r>
              <a:t>整体交付名称：功能逻辑架构数据</a:t>
            </a:r>
          </a:p>
          <a:p>
            <a:pPr>
              <a:spcAft>
                <a:spcPts val="800"/>
              </a:spcAft>
              <a:defRPr sz="2000" b="0">
                <a:solidFill>
                  <a:srgbClr val="007F87"/>
                </a:solidFill>
                <a:latin typeface="Microsoft YaHei"/>
              </a:defRPr>
            </a:pPr>
            <a:r>
              <a:t>原型文件名保留原代码命名，后续按对接字段形成交换格式。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07F87"/>
                </a:solidFill>
                <a:latin typeface="Microsoft YaHei"/>
              </a:defRPr>
            </a:pPr>
            <a:r>
              <a:t>主线处理证据来自MBSE_app；两个对外接口的设计与联调另在接口章节说明。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数据输出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产出统一为功能逻辑架构数据，按维度组织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691640"/>
            <a:ext cx="1645920" cy="4572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783080"/>
            <a:ext cx="1426464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维度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40280" y="1691640"/>
            <a:ext cx="6126480" cy="4572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50008" y="1783080"/>
            <a:ext cx="5907024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内容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1691640"/>
            <a:ext cx="3200400" cy="4572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76488" y="1783080"/>
            <a:ext cx="2980944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用途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2148840"/>
            <a:ext cx="1627632" cy="800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2258568"/>
            <a:ext cx="1426464" cy="6766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功能归属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0280" y="2148840"/>
            <a:ext cx="6108192" cy="800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50008" y="2258568"/>
            <a:ext cx="5907024" cy="6766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功能ID、名称、簇、子系统及层级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66760" y="2148840"/>
            <a:ext cx="3182112" cy="800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76488" y="2258568"/>
            <a:ext cx="2980944" cy="6766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组织功能簇与追溯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2971800"/>
            <a:ext cx="1627632" cy="800100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3081528"/>
            <a:ext cx="1426464" cy="6766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功能关系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80" y="2971800"/>
            <a:ext cx="6108192" cy="800100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50008" y="3081528"/>
            <a:ext cx="5907024" cy="6766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端点、关系类型、置信度、来源、所属簇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66760" y="2971800"/>
            <a:ext cx="3182112" cy="800100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76488" y="3081528"/>
            <a:ext cx="2980944" cy="6766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表达功能及簇间关联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3794760"/>
            <a:ext cx="1627632" cy="800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" y="3904488"/>
            <a:ext cx="1426464" cy="6766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逻辑连接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40280" y="3794760"/>
            <a:ext cx="6108192" cy="800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50008" y="3904488"/>
            <a:ext cx="5907024" cy="6766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源/目标端口、流对象、连接及所属簇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66760" y="3794760"/>
            <a:ext cx="3182112" cy="800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76488" y="3904488"/>
            <a:ext cx="2980944" cy="6766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支撑拓扑分析与下游转换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" y="4617720"/>
            <a:ext cx="1627632" cy="800100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" y="4727448"/>
            <a:ext cx="1426464" cy="6766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评价信息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40280" y="4617720"/>
            <a:ext cx="6108192" cy="800100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350008" y="4727448"/>
            <a:ext cx="5907024" cy="6766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聚类数量、语义与几何指标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66760" y="4617720"/>
            <a:ext cx="3182112" cy="800100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76488" y="4727448"/>
            <a:ext cx="2980944" cy="6766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辅助判断聚类质量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07F87"/>
                </a:solidFill>
                <a:latin typeface="Microsoft YaHei"/>
              </a:defRPr>
            </a:pPr>
            <a:r>
              <a:t>JSON一路对接物理架构模块（字段待对齐），另一路交周瑜璇进行SysML v2转换与校验。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两个对外接口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两个对外接口对应需求MD的第2、第3项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5303520" cy="3337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965960"/>
            <a:ext cx="4901183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100" b="1">
                <a:solidFill>
                  <a:srgbClr val="17324D"/>
                </a:solidFill>
                <a:latin typeface="Microsoft YaHei"/>
              </a:defRPr>
            </a:pPr>
            <a:r>
              <a:t>接口一 · 逻辑架构生成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606040"/>
            <a:ext cx="4901183" cy="24231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POST /generate_logical_arch</a:t>
            </a:r>
          </a:p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输入：上下文JSON + 生成选项</a:t>
            </a:r>
          </a:p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输出：逻辑架构JSON，功能簇包含function_id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783080"/>
            <a:ext cx="5303520" cy="3337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1965960"/>
            <a:ext cx="4901183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100" b="1">
                <a:solidFill>
                  <a:srgbClr val="17324D"/>
                </a:solidFill>
                <a:latin typeface="Microsoft YaHei"/>
              </a:defRPr>
            </a:pPr>
            <a:r>
              <a:t>接口二 · 输入补全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2606040"/>
            <a:ext cx="4901183" cy="24231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POST /complement_arch_gen_context</a:t>
            </a:r>
          </a:p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输入：上下文 + 提示文字 + 选项</a:t>
            </a:r>
          </a:p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输出：新上下文、是否需补全及说明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07F87"/>
                </a:solidFill>
                <a:latin typeface="Microsoft YaHei"/>
              </a:defRPr>
            </a:pPr>
            <a:r>
              <a:t>服务器接口：两个对外入口仍在开发和字段对齐；第1项资源规范化不属于本板块。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输入补全接口要求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接口二：检查与补全分开，用户确认后纳入上下文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300" b="1">
                <a:solidFill>
                  <a:srgbClr val="007F87"/>
                </a:solidFill>
                <a:latin typeface="Consolas"/>
              </a:defRPr>
            </a:pPr>
            <a:r>
              <a:t>POST /complement_arch_gen_context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2286000"/>
            <a:ext cx="2834640" cy="4572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2377440"/>
            <a:ext cx="2615184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需求MD第3项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2286000"/>
            <a:ext cx="8138160" cy="4572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8728" y="2377440"/>
            <a:ext cx="7918704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约定内容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2743200"/>
            <a:ext cx="2816352" cy="6446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2852928"/>
            <a:ext cx="2615184" cy="52120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请求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9000" y="2743200"/>
            <a:ext cx="8119872" cy="6446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8728" y="2852928"/>
            <a:ext cx="7918704" cy="52120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PhysicalArchGenContext + 可为空的用户提示 + options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3410712"/>
            <a:ext cx="2816352" cy="644652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520440"/>
            <a:ext cx="2615184" cy="52120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only_check=true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29000" y="3410712"/>
            <a:ext cx="8119872" cy="644652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38728" y="3520440"/>
            <a:ext cx="7918704" cy="52120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只判断上下文完整性，不实际补全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4078224"/>
            <a:ext cx="2816352" cy="6446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4187952"/>
            <a:ext cx="2615184" cy="52120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only_check=false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29000" y="4078224"/>
            <a:ext cx="8119872" cy="6446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38728" y="4187952"/>
            <a:ext cx="7918704" cy="52120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进入补全处理；按对话设计结合用户反馈确认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4745736"/>
            <a:ext cx="2816352" cy="644652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088" y="4855464"/>
            <a:ext cx="2615184" cy="52120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响应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9000" y="4745736"/>
            <a:ext cx="8119872" cy="644652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38728" y="4855464"/>
            <a:ext cx="7918704" cy="52120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新的上下文 + 是否需要补全的布尔标志 + 补全说明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FFF3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B67816"/>
                </a:solidFill>
                <a:latin typeface="Microsoft YaHei"/>
              </a:defRPr>
            </a:pPr>
            <a:r>
              <a:t>服务器已有候选预览与确认；only_check为MD需求，尚需接入，API选项后续统一。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接口设计 / 服务器版本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接口伪代码：复用计算内核，按约定映射与返回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91640"/>
            <a:ext cx="5349240" cy="3611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874519"/>
            <a:ext cx="4983480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7324D"/>
                </a:solidFill>
                <a:latin typeface="Microsoft YaHei"/>
              </a:defRPr>
            </a:pPr>
            <a:r>
              <a:t>逻辑架构生成（待接入）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68880"/>
            <a:ext cx="4983480" cy="2651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接收上下文与生成选项</a:t>
            </a:r>
          </a:p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校验并适配功能点及其关联关系</a:t>
            </a:r>
          </a:p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调用服务器内部聚类服务</a:t>
            </a:r>
          </a:p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按cluster_id组织function_id集合</a:t>
            </a:r>
          </a:p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按双方确认Schema返回JSON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91640"/>
            <a:ext cx="5349240" cy="3611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874519"/>
            <a:ext cx="4983480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7324D"/>
                </a:solidFill>
                <a:latin typeface="Microsoft YaHei"/>
              </a:defRPr>
            </a:pPr>
            <a:r>
              <a:t>输入补全（功能设计）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468880"/>
            <a:ext cx="4983480" cy="2651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接收上下文、用户提示及选项</a:t>
            </a:r>
          </a:p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若only_check：仅判断完整性并返回</a:t>
            </a:r>
          </a:p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否则：生成建议并接收用户反馈</a:t>
            </a:r>
          </a:p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校验合并明确采纳及自行补充内容</a:t>
            </a:r>
          </a:p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返回新上下文、补全标志及说明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FFF3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B67816"/>
                </a:solidFill>
                <a:latin typeface="Microsoft YaHei"/>
              </a:defRPr>
            </a:pPr>
            <a:r>
              <a:t>伪代码表达目标设计；服务器候选确认基础与完整对话补全、only_check需求须分别说明。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问题与后续计划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当前关键任务是字段对齐，而非仅增加接口路径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691640"/>
            <a:ext cx="1097280" cy="4572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783080"/>
            <a:ext cx="877824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优先级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91640" y="1691640"/>
            <a:ext cx="4754880" cy="4572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01368" y="1783080"/>
            <a:ext cx="4535424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工作项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46520" y="1691640"/>
            <a:ext cx="5120640" cy="4572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6248" y="1783080"/>
            <a:ext cx="4901183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可验收结果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2148840"/>
            <a:ext cx="1078992" cy="6720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2258568"/>
            <a:ext cx="877824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P0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691640" y="2148840"/>
            <a:ext cx="4736592" cy="6720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01368" y="2258568"/>
            <a:ext cx="4535424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与物理架构模块逐项对齐字段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0" y="2148840"/>
            <a:ext cx="5102352" cy="6720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6248" y="2258568"/>
            <a:ext cx="4901183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共同JSON样例 + 字段映射清单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2843784"/>
            <a:ext cx="1078992" cy="672084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2953512"/>
            <a:ext cx="877824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P0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91640" y="2843784"/>
            <a:ext cx="4736592" cy="672084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01368" y="2953512"/>
            <a:ext cx="4535424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补全建议与用户反馈合并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2843784"/>
            <a:ext cx="5102352" cy="672084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56248" y="2953512"/>
            <a:ext cx="4901183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采纳/修改/拒绝可追溯，冲突有追问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3538728"/>
            <a:ext cx="1078992" cy="6720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" y="3648456"/>
            <a:ext cx="877824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P1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691640" y="3538728"/>
            <a:ext cx="4736592" cy="6720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01368" y="3648456"/>
            <a:ext cx="4535424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完善两个对外入口与会话管理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46520" y="3538728"/>
            <a:ext cx="5102352" cy="6720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56248" y="3648456"/>
            <a:ext cx="4901183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接口状态、上下文与输出一致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" y="4233672"/>
            <a:ext cx="1078992" cy="672084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" y="4343400"/>
            <a:ext cx="877824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P1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691640" y="4233672"/>
            <a:ext cx="4736592" cy="672084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01368" y="4343400"/>
            <a:ext cx="4535424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验证特征、阈值和端口匹配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46520" y="4233672"/>
            <a:ext cx="5102352" cy="672084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56248" y="4343400"/>
            <a:ext cx="4901183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固定案例的指标、差异与人工复核记录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4360" y="4928616"/>
            <a:ext cx="1078992" cy="6720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4088" y="5038344"/>
            <a:ext cx="877824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交付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91640" y="4928616"/>
            <a:ext cx="4736592" cy="6720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01368" y="5038344"/>
            <a:ext cx="4535424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向周瑜璇交接JSON并收集反馈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46520" y="4928616"/>
            <a:ext cx="5102352" cy="6720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56248" y="5038344"/>
            <a:ext cx="4901183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交接版本明确，转换所需字段可补齐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07F87"/>
                </a:solidFill>
                <a:latin typeface="Microsoft YaHei"/>
              </a:defRPr>
            </a:pPr>
            <a:r>
              <a:t>需讨论：功能簇结构、关系类型及方向、连接端点ID、来源字段、任务/版本与多轮增量规则。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核心代码 / MBSE_app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输出核心代码：Excel与JSON两种格式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08760"/>
            <a:ext cx="1005840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7324D"/>
                </a:solidFill>
                <a:latin typeface="Microsoft YaHei"/>
              </a:defRPr>
            </a:pPr>
            <a:r>
              <a:t>Excel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0655" y="1508760"/>
            <a:ext cx="5366048" cy="2103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3703320"/>
            <a:ext cx="1005840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7324D"/>
                </a:solidFill>
                <a:latin typeface="Microsoft YaHei"/>
              </a:defRPr>
            </a:pPr>
            <a:r>
              <a:t>JSON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2241" y="3703320"/>
            <a:ext cx="5222877" cy="210312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94360" y="5943600"/>
            <a:ext cx="10972800" cy="4297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602589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07F87"/>
                </a:solidFill>
                <a:latin typeface="Microsoft YaHei"/>
              </a:defRPr>
            </a:pPr>
            <a:r>
              <a:t>Excel按Sheet保存结果；JSON采用UTF-8及allow_nan=False，避免导出非标准数值。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