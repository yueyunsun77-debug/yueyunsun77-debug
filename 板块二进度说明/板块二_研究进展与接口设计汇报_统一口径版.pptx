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10"/>
    <p:sldId id="259" r:id="rId11"/>
    <p:sldId id="260" r:id="rId12"/>
    <p:sldId id="274" r:id="rId26"/>
    <p:sldId id="275" r:id="rId27"/>
    <p:sldId id="276" r:id="rId28"/>
    <p:sldId id="264" r:id="rId16"/>
    <p:sldId id="263" r:id="rId15"/>
    <p:sldId id="267" r:id="rId19"/>
    <p:sldId id="269" r:id="rId21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5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0.xml"/><Relationship Id="rId21" Type="http://schemas.openxmlformats.org/officeDocument/2006/relationships/slide" Target="slides/slide11.xml"/><Relationship Id="rId23" Type="http://schemas.openxmlformats.org/officeDocument/2006/relationships/slide" Target="slides/slide12.xml"/><Relationship Id="rId26" Type="http://schemas.openxmlformats.org/officeDocument/2006/relationships/slide" Target="slides/slide5.xml"/><Relationship Id="rId27" Type="http://schemas.openxmlformats.org/officeDocument/2006/relationships/slide" Target="slides/slide6.xml"/><Relationship Id="rId28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本页算法、校验、拓扑连接和运行证据均以用户上传的MBSE_app为依据；截图来自上传Word，不代表本次重新运行。MBSE_app主输出脚本以功能点名称分词并构建TF-IDF，端口采用首项策略。接口能力另见接口章节。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本页算法、校验、拓扑连接和运行证据均以用户上传的MBSE_app为依据；截图来自上传Word，不代表本次重新运行。MBSE_app主输出脚本以功能点名称分词并构建TF-IDF，端口采用首项策略。接口能力另见接口章节。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本页算法、校验、拓扑连接和运行证据均以用户上传的MBSE_app为依据；截图来自上传Word，不代表本次重新运行。MBSE_app主输出脚本以功能点名称分词并构建TF-IDF，端口采用首项策略。接口能力另见接口章节。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本页算法、校验、拓扑连接和运行证据均以用户上传的MBSE_app为依据；截图来自上传Word，不代表本次重新运行。MBSE_app主输出脚本以功能点名称分词并构建TF-IDF，端口采用首项策略。接口能力另见接口章节。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本页算法、校验、拓扑连接和运行证据均以用户上传的MBSE_app为依据；截图来自上传Word，不代表本次重新运行。MBSE_app主输出脚本以功能点名称分词并构建TF-IDF，端口采用首项策略。接口能力另见接口章节。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本页算法、校验、拓扑连接和运行证据均以用户上传的MBSE_app为依据；截图来自上传Word，不代表本次重新运行。MBSE_app主输出脚本以功能点名称分词并构建TF-IDF，端口采用首项策略。接口能力另见接口章节。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本页算法、校验、拓扑连接和运行证据均以用户上传的MBSE_app为依据；截图来自上传Word，不代表本次重新运行。MBSE_app主输出脚本以功能点名称分词并构建TF-IDF，端口采用首项策略。接口能力另见接口章节。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本页算法、校验、拓扑连接和运行证据均以用户上传的MBSE_app为依据；截图来自上传Word，不代表本次重新运行。MBSE_app主输出脚本以功能点名称分词并构建TF-IDF，端口采用首项策略。接口能力另见接口章节。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算法、校验、拓扑连接和运行证据均以用户上传的MBSE_app为依据；截图来自上传Word，不代表本次重新运行。MBSE_app主输出脚本以功能点名称分词并构建TF-IDF，端口采用首项策略。接口能力另见接口章节。MBSE_all.py输出聚类评估指标；加权ArchScore和Purity属于mbse_complete.py扩展版本，未宣称已在同一入口集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口依据《功能逻辑分析模块接口需求.md》第2、3项及此前核对的服务器代码版本f2d98e5。逻辑架构生成对外路由尚需接入；输入补全已有候选预览和人工确认基础，尚不能等同于完整多轮对话。only_check为MD需求，核对版本未支持。暂定的是否启用补全选项与only_check不同，最终报文仍待确定。两个对外接口尚未完全完成，功能逻辑架构字段正在与物理架构组件选型及连接布局模块协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口依据《功能逻辑分析模块接口需求.md》第2、3项及此前核对的服务器代码版本f2d98e5。逻辑架构生成对外路由尚需接入；输入补全已有候选预览和人工确认基础，尚不能等同于完整多轮对话。only_check为MD需求，核对版本未支持。暂定的是否启用补全选项与only_check不同，最终报文仍待确定。两个对外接口尚未完全完成，功能逻辑架构字段正在与物理架构组件选型及连接布局模块协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7F87"/>
                </a:solidFill>
                <a:latin typeface="Microsoft YaHei"/>
              </a:defRPr>
            </a:pPr>
            <a:r>
              <a:t>阶段研究汇报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58952"/>
            <a:ext cx="1106424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324D"/>
                </a:solidFill>
                <a:latin typeface="Microsoft YaHei"/>
              </a:defRPr>
            </a:pPr>
            <a:r>
              <a:t>从功能点及其关联关系到功能逻辑架构数据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DC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0758A"/>
                </a:solidFill>
                <a:latin typeface="Microsoft YaHei"/>
              </a:defRPr>
            </a:pPr>
            <a:r>
              <a:t>板块二  ·  功能逻辑架构生成研究汇报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9672"/>
            <a:ext cx="64008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0758A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9144000" cy="1463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17324D"/>
                </a:solidFill>
                <a:latin typeface="Microsoft YaHei"/>
              </a:defRPr>
            </a:pPr>
            <a:r>
              <a:t>板块二</a:t>
            </a:r>
          </a:p>
          <a:p>
            <a:pPr>
              <a:spcAft>
                <a:spcPts val="800"/>
              </a:spcAft>
              <a:defRPr sz="4000" b="1">
                <a:solidFill>
                  <a:srgbClr val="17324D"/>
                </a:solidFill>
                <a:latin typeface="Microsoft YaHei"/>
              </a:defRPr>
            </a:pPr>
            <a:r>
              <a:t>研究进展与接口设计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40480"/>
            <a:ext cx="9144000" cy="6400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007F87"/>
                </a:solidFill>
                <a:latin typeface="Microsoft YaHei"/>
              </a:defRPr>
            </a:pPr>
            <a:r>
              <a:t>BIRCH功能聚类  /  功能关系分析与拓扑连接生成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800600"/>
            <a:ext cx="10607040" cy="658368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4992624"/>
            <a:ext cx="1005840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4384B"/>
                </a:solidFill>
                <a:latin typeface="Microsoft YaHei"/>
              </a:defRPr>
            </a:pPr>
            <a:r>
              <a:t>汇报重点：处理能力、数据交付、两个对外接口及当前待办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52160"/>
            <a:ext cx="91440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0758A"/>
                </a:solidFill>
                <a:latin typeface="Microsoft YaHei"/>
              </a:defRPr>
            </a:pPr>
            <a:r>
              <a:t>2026年10月28日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7F87"/>
                </a:solidFill>
                <a:latin typeface="Microsoft YaHei"/>
              </a:defRPr>
            </a:pPr>
            <a:r>
              <a:t>01 / 职责与数据流向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58952"/>
            <a:ext cx="1106424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324D"/>
                </a:solidFill>
                <a:latin typeface="Microsoft YaHei"/>
              </a:defRPr>
            </a:pPr>
            <a:r>
              <a:t>上游由郑心如补全，下游分为接口对接与模型转换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DC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0758A"/>
                </a:solidFill>
                <a:latin typeface="Microsoft YaHei"/>
              </a:defRPr>
            </a:pPr>
            <a:r>
              <a:t>板块二  ·  功能逻辑架构生成研究汇报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9672"/>
            <a:ext cx="64008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0758A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2880360" cy="1280160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965960"/>
            <a:ext cx="2660904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17324D"/>
                </a:solidFill>
                <a:latin typeface="Microsoft YaHei"/>
              </a:defRPr>
            </a:pPr>
            <a:r>
              <a:t>板块一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450592"/>
            <a:ext cx="2660904" cy="6217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24384B"/>
                </a:solidFill>
                <a:latin typeface="Microsoft YaHei"/>
              </a:defRPr>
            </a:pPr>
            <a:r>
              <a:t>功能点及其关联关系数据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1828800"/>
            <a:ext cx="2880360" cy="1280160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1965960"/>
            <a:ext cx="2660904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17324D"/>
                </a:solidFill>
                <a:latin typeface="Microsoft YaHei"/>
              </a:defRPr>
            </a:pPr>
            <a:r>
              <a:t>板块三 · 郑心如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450592"/>
            <a:ext cx="2660904" cy="6217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24384B"/>
                </a:solidFill>
                <a:latin typeface="Microsoft YaHei"/>
              </a:defRPr>
            </a:pPr>
            <a:r>
              <a:t>补全后交给板块二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66160" y="2468880"/>
            <a:ext cx="1005840" cy="0"/>
          </a:xfrm>
          <a:prstGeom prst="line">
            <a:avLst/>
          </a:prstGeom>
          <a:ln w="25400">
            <a:solidFill>
              <a:srgbClr val="007F8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595360" y="1828800"/>
            <a:ext cx="2880360" cy="1280160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05088" y="1965960"/>
            <a:ext cx="2660904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17324D"/>
                </a:solidFill>
                <a:latin typeface="Microsoft YaHei"/>
              </a:defRPr>
            </a:pPr>
            <a:r>
              <a:t>板块二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05088" y="2450592"/>
            <a:ext cx="2660904" cy="6217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24384B"/>
                </a:solidFill>
                <a:latin typeface="Microsoft YaHei"/>
              </a:defRPr>
            </a:pPr>
            <a:r>
              <a:t>功能逻辑架构生成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543800" y="2468880"/>
            <a:ext cx="1005840" cy="0"/>
          </a:xfrm>
          <a:prstGeom prst="line">
            <a:avLst/>
          </a:prstGeom>
          <a:ln w="25400">
            <a:solidFill>
              <a:srgbClr val="007F8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828800" y="4206240"/>
            <a:ext cx="3931920" cy="1188720"/>
          </a:xfrm>
          <a:prstGeom prst="roundRect">
            <a:avLst/>
          </a:prstGeom>
          <a:solidFill>
            <a:srgbClr val="FFF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38528" y="4343400"/>
            <a:ext cx="3712463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17324D"/>
                </a:solidFill>
                <a:latin typeface="Microsoft YaHei"/>
              </a:defRPr>
            </a:pPr>
            <a:r>
              <a:t>物理架构组件选型及连接布局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38528" y="4828031"/>
            <a:ext cx="3712463" cy="5303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24384B"/>
                </a:solidFill>
                <a:latin typeface="Microsoft YaHei"/>
              </a:defRPr>
            </a:pPr>
            <a:r>
              <a:t>对外接口适配与返回 · 待接入/对齐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0840" y="4206240"/>
            <a:ext cx="3931920" cy="1188720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0568" y="4343400"/>
            <a:ext cx="3712463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17324D"/>
                </a:solidFill>
                <a:latin typeface="Microsoft YaHei"/>
              </a:defRPr>
            </a:pPr>
            <a:r>
              <a:t>板块三 · 周瑜璇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4828031"/>
            <a:ext cx="3712463" cy="5303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24384B"/>
                </a:solidFill>
                <a:latin typeface="Microsoft YaHei"/>
              </a:defRPr>
            </a:pPr>
            <a:r>
              <a:t>JSON交接 → SysML v2转换与校验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3794760" y="3154680"/>
            <a:ext cx="5897880" cy="1005840"/>
          </a:xfrm>
          <a:prstGeom prst="line">
            <a:avLst/>
          </a:prstGeom>
          <a:ln w="25400">
            <a:solidFill>
              <a:srgbClr val="007F8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8686800" y="3154680"/>
            <a:ext cx="1554480" cy="1005840"/>
          </a:xfrm>
          <a:prstGeom prst="line">
            <a:avLst/>
          </a:prstGeom>
          <a:ln w="25400">
            <a:solidFill>
              <a:srgbClr val="007F8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94360" y="5806440"/>
            <a:ext cx="10972800" cy="429768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888736"/>
            <a:ext cx="1060704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07F87"/>
                </a:solidFill>
                <a:latin typeface="Microsoft YaHei"/>
              </a:defRPr>
            </a:pPr>
            <a:r>
              <a:t>板块二负责功能逻辑架构JSON；SysML v2转换与工具校验由周瑜璇负责。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7F87"/>
                </a:solidFill>
                <a:latin typeface="Microsoft YaHei"/>
              </a:defRPr>
            </a:pPr>
            <a:r>
              <a:t>02 / 研究进展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58952"/>
            <a:ext cx="1106424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324D"/>
                </a:solidFill>
                <a:latin typeface="Microsoft YaHei"/>
              </a:defRPr>
            </a:pPr>
            <a:r>
              <a:t>研究进展覆盖输入、聚类、连接和数据输出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DC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0758A"/>
                </a:solidFill>
                <a:latin typeface="Microsoft YaHei"/>
              </a:defRPr>
            </a:pPr>
            <a:r>
              <a:t>板块二  ·  功能逻辑架构生成研究汇报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9672"/>
            <a:ext cx="64008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0758A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91640"/>
            <a:ext cx="1920240" cy="4572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783080"/>
            <a:ext cx="1700784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环节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1691640"/>
            <a:ext cx="4526280" cy="4572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24328" y="1783080"/>
            <a:ext cx="4306824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已有成果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0" y="1691640"/>
            <a:ext cx="4526280" cy="4572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50608" y="1783080"/>
            <a:ext cx="4306824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仍需推进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148840"/>
            <a:ext cx="1901952" cy="8275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2258568"/>
            <a:ext cx="1700784" cy="70408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4384B"/>
                </a:solidFill>
                <a:latin typeface="Microsoft YaHei"/>
              </a:defRPr>
            </a:pPr>
            <a:r>
              <a:t>输入与校验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14600" y="2148840"/>
            <a:ext cx="4507992" cy="8275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24328" y="2258568"/>
            <a:ext cx="4306824" cy="70408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4384B"/>
                </a:solidFill>
                <a:latin typeface="Microsoft YaHei"/>
              </a:defRPr>
            </a:pPr>
            <a:r>
              <a:t>MBSE_app前置校验、关系类型标准化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0880" y="2148840"/>
            <a:ext cx="4507992" cy="8275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50608" y="2258568"/>
            <a:ext cx="4306824" cy="70408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4384B"/>
                </a:solidFill>
                <a:latin typeface="Microsoft YaHei"/>
              </a:defRPr>
            </a:pPr>
            <a:r>
              <a:t>统一对外Schema与错误定位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2999232"/>
            <a:ext cx="1901952" cy="827532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3108960"/>
            <a:ext cx="1700784" cy="70408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4384B"/>
                </a:solidFill>
                <a:latin typeface="Microsoft YaHei"/>
              </a:defRPr>
            </a:pPr>
            <a:r>
              <a:t>功能聚类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14600" y="2999232"/>
            <a:ext cx="4507992" cy="827532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24328" y="3108960"/>
            <a:ext cx="4306824" cy="70408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4384B"/>
                </a:solidFill>
                <a:latin typeface="Microsoft YaHei"/>
              </a:defRPr>
            </a:pPr>
            <a:r>
              <a:t>TF-IDF + BIRCH形成归属数据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40880" y="2999232"/>
            <a:ext cx="4507992" cy="827532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50608" y="3108960"/>
            <a:ext cx="4306824" cy="70408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4384B"/>
                </a:solidFill>
                <a:latin typeface="Microsoft YaHei"/>
              </a:defRPr>
            </a:pPr>
            <a:r>
              <a:t>特征组合、阈值与业务解释性评价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3849624"/>
            <a:ext cx="1901952" cy="8275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" y="3959352"/>
            <a:ext cx="1700784" cy="70408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4384B"/>
                </a:solidFill>
                <a:latin typeface="Microsoft YaHei"/>
              </a:defRPr>
            </a:pPr>
            <a:r>
              <a:t>关系与拓扑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14600" y="3849624"/>
            <a:ext cx="4507992" cy="8275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24328" y="3959352"/>
            <a:ext cx="4306824" cy="70408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4384B"/>
                </a:solidFill>
                <a:latin typeface="Microsoft YaHei"/>
              </a:defRPr>
            </a:pPr>
            <a:r>
              <a:t>挂接源/目标簇，生成端口与流对象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40880" y="3849624"/>
            <a:ext cx="4507992" cy="8275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50608" y="3959352"/>
            <a:ext cx="4306824" cy="70408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4384B"/>
                </a:solidFill>
                <a:latin typeface="Microsoft YaHei"/>
              </a:defRPr>
            </a:pPr>
            <a:r>
              <a:t>端口类型/单位及多端口匹配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4700016"/>
            <a:ext cx="1901952" cy="827532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" y="4809744"/>
            <a:ext cx="1700784" cy="70408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4384B"/>
                </a:solidFill>
                <a:latin typeface="Microsoft YaHei"/>
              </a:defRPr>
            </a:pPr>
            <a:r>
              <a:t>输出与集成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14600" y="4700016"/>
            <a:ext cx="4507992" cy="827532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24328" y="4809744"/>
            <a:ext cx="4306824" cy="70408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4384B"/>
                </a:solidFill>
                <a:latin typeface="Microsoft YaHei"/>
              </a:defRPr>
            </a:pPr>
            <a:r>
              <a:t>Excel / JSON输出及校验报告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40880" y="4700016"/>
            <a:ext cx="4507992" cy="827532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50608" y="4809744"/>
            <a:ext cx="4306824" cy="70408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4384B"/>
                </a:solidFill>
                <a:latin typeface="Microsoft YaHei"/>
              </a:defRPr>
            </a:pPr>
            <a:r>
              <a:t>两个对外接口与字段协商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5806440"/>
            <a:ext cx="10972800" cy="429768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5888736"/>
            <a:ext cx="1060704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07F87"/>
                </a:solidFill>
                <a:latin typeface="Microsoft YaHei"/>
              </a:defRPr>
            </a:pPr>
            <a:r>
              <a:t>本部分依据MBSE_app；接口章节另依据需求MD和服务器版本说明。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7F87"/>
                </a:solidFill>
                <a:latin typeface="Microsoft YaHei"/>
              </a:defRPr>
            </a:pPr>
            <a:r>
              <a:t>03 / 技术路线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58952"/>
            <a:ext cx="1106424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324D"/>
                </a:solidFill>
                <a:latin typeface="Microsoft YaHei"/>
              </a:defRPr>
            </a:pPr>
            <a:r>
              <a:t>技术路线：先聚类，再组织关系与拓扑连接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DC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0758A"/>
                </a:solidFill>
                <a:latin typeface="Microsoft YaHei"/>
              </a:defRPr>
            </a:pPr>
            <a:r>
              <a:t>板块二  ·  功能逻辑架构生成研究汇报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9672"/>
            <a:ext cx="64008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0758A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3291840" cy="1325880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920240"/>
            <a:ext cx="3072384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17324D"/>
                </a:solidFill>
                <a:latin typeface="Microsoft YaHei"/>
              </a:defRPr>
            </a:pPr>
            <a:r>
              <a:t>01  输入规范与校验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404872"/>
            <a:ext cx="3072384" cy="6675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24384B"/>
                </a:solidFill>
                <a:latin typeface="Microsoft YaHei"/>
              </a:defRPr>
            </a:pPr>
            <a:r>
              <a:t>ID、引用、关系与端口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968496" y="2450592"/>
            <a:ext cx="466344" cy="0"/>
          </a:xfrm>
          <a:prstGeom prst="line">
            <a:avLst/>
          </a:prstGeom>
          <a:ln w="25400">
            <a:solidFill>
              <a:srgbClr val="007F8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480560" y="1783080"/>
            <a:ext cx="3291840" cy="1325880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920240"/>
            <a:ext cx="3072384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17324D"/>
                </a:solidFill>
                <a:latin typeface="Microsoft YaHei"/>
              </a:defRPr>
            </a:pPr>
            <a:r>
              <a:t>02  语义表征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404872"/>
            <a:ext cx="3072384" cy="6675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24384B"/>
                </a:solidFill>
                <a:latin typeface="Microsoft YaHei"/>
              </a:defRPr>
            </a:pPr>
            <a:r>
              <a:t>分词 → TF-IDF → L2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08975" y="2450592"/>
            <a:ext cx="466345" cy="0"/>
          </a:xfrm>
          <a:prstGeom prst="line">
            <a:avLst/>
          </a:prstGeom>
          <a:ln w="25400">
            <a:solidFill>
              <a:srgbClr val="007F8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321040" y="1783080"/>
            <a:ext cx="3291840" cy="1325880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7" y="1920240"/>
            <a:ext cx="3072384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17324D"/>
                </a:solidFill>
                <a:latin typeface="Microsoft YaHei"/>
              </a:defRPr>
            </a:pPr>
            <a:r>
              <a:t>03  BIRCH功能聚类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7" y="2404872"/>
            <a:ext cx="3072384" cy="6675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24384B"/>
                </a:solidFill>
                <a:latin typeface="Microsoft YaHei"/>
              </a:defRPr>
            </a:pPr>
            <a:r>
              <a:t>得到功能ID—簇ID映射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749039"/>
            <a:ext cx="3291840" cy="1325880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886200"/>
            <a:ext cx="3072384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17324D"/>
                </a:solidFill>
                <a:latin typeface="Microsoft YaHei"/>
              </a:defRPr>
            </a:pPr>
            <a:r>
              <a:t>04  归属与拓扑组织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370831"/>
            <a:ext cx="3072384" cy="6675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24384B"/>
                </a:solidFill>
                <a:latin typeface="Microsoft YaHei"/>
              </a:defRPr>
            </a:pPr>
            <a:r>
              <a:t>关系簇标签 / 端口 / 流对象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749039"/>
            <a:ext cx="3291840" cy="1325880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0288" y="3886200"/>
            <a:ext cx="3072384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17324D"/>
                </a:solidFill>
                <a:latin typeface="Microsoft YaHei"/>
              </a:defRPr>
            </a:pPr>
            <a:r>
              <a:t>05  质量评价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4370831"/>
            <a:ext cx="3072384" cy="6675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24384B"/>
                </a:solidFill>
                <a:latin typeface="Microsoft YaHei"/>
              </a:defRPr>
            </a:pPr>
            <a:r>
              <a:t>内聚 / 解耦 / 碎片化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3749039"/>
            <a:ext cx="3291840" cy="1325880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30767" y="3886200"/>
            <a:ext cx="3072384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17324D"/>
                </a:solidFill>
                <a:latin typeface="Microsoft YaHei"/>
              </a:defRPr>
            </a:pPr>
            <a:r>
              <a:t>06  数据交付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0767" y="4370831"/>
            <a:ext cx="3072384" cy="6675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24384B"/>
                </a:solidFill>
                <a:latin typeface="Microsoft YaHei"/>
              </a:defRPr>
            </a:pPr>
            <a:r>
              <a:t>功能逻辑架构JSON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2286000" y="3154680"/>
            <a:ext cx="7680960" cy="548640"/>
          </a:xfrm>
          <a:prstGeom prst="line">
            <a:avLst/>
          </a:prstGeom>
          <a:ln w="25400">
            <a:solidFill>
              <a:srgbClr val="007F8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968496" y="4434840"/>
            <a:ext cx="466344" cy="0"/>
          </a:xfrm>
          <a:prstGeom prst="line">
            <a:avLst/>
          </a:prstGeom>
          <a:ln w="25400">
            <a:solidFill>
              <a:srgbClr val="007F8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808975" y="4434840"/>
            <a:ext cx="466345" cy="0"/>
          </a:xfrm>
          <a:prstGeom prst="line">
            <a:avLst/>
          </a:prstGeom>
          <a:ln w="25400">
            <a:solidFill>
              <a:srgbClr val="007F8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94360" y="5806440"/>
            <a:ext cx="10972800" cy="429768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888736"/>
            <a:ext cx="1060704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07F87"/>
                </a:solidFill>
                <a:latin typeface="Microsoft YaHei"/>
              </a:defRPr>
            </a:pPr>
            <a:r>
              <a:t>当前功能关系参与校验、标注和连接生成，尚未作为BIRCH的图约束。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7F87"/>
                </a:solidFill>
                <a:latin typeface="Microsoft YaHei"/>
              </a:defRPr>
            </a:pPr>
            <a:r>
              <a:t>04 / 校验代码与运行证据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58952"/>
            <a:ext cx="1106424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324D"/>
                </a:solidFill>
                <a:latin typeface="Microsoft YaHei"/>
              </a:defRPr>
            </a:pPr>
            <a:r>
              <a:t>前置校验：先检查输入，再生成功能逻辑架构数据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DC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0758A"/>
                </a:solidFill>
                <a:latin typeface="Microsoft YaHei"/>
              </a:defRPr>
            </a:pPr>
            <a:r>
              <a:t>板块二  ·  功能逻辑架构生成研究汇报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9672"/>
            <a:ext cx="64008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0758A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521208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7324D"/>
                </a:solidFill>
                <a:latin typeface="Microsoft YaHei"/>
              </a:defRPr>
            </a:pPr>
            <a:r>
              <a:t>输入合法性与引用检查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645920"/>
            <a:ext cx="521208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7324D"/>
                </a:solidFill>
                <a:latin typeface="Microsoft YaHei"/>
              </a:defRPr>
            </a:pPr>
            <a:r>
              <a:t>已有运行结果：前置校验通过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057400"/>
            <a:ext cx="5349240" cy="3611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043" y="2148840"/>
            <a:ext cx="4557873" cy="33832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17920" y="2057400"/>
            <a:ext cx="5349240" cy="3611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0518" y="2148840"/>
            <a:ext cx="3724042" cy="338328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94360" y="5806440"/>
            <a:ext cx="10972800" cy="429768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888736"/>
            <a:ext cx="1060704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07F87"/>
                </a:solidFill>
                <a:latin typeface="Microsoft YaHei"/>
              </a:defRPr>
            </a:pPr>
            <a:r>
              <a:t>校验通过表示输入满足计算条件，不等于功能需求完整或工程架构正确。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7F87"/>
                </a:solidFill>
                <a:latin typeface="Microsoft YaHei"/>
              </a:defRPr>
            </a:pPr>
            <a:r>
              <a:t>05 / BIRCH核心代码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58952"/>
            <a:ext cx="1106424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324D"/>
                </a:solidFill>
                <a:latin typeface="Microsoft YaHei"/>
              </a:defRPr>
            </a:pPr>
            <a:r>
              <a:t>聚类核心：TF-IDF表征与BIRCH功能聚类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DC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0758A"/>
                </a:solidFill>
                <a:latin typeface="Microsoft YaHei"/>
              </a:defRPr>
            </a:pPr>
            <a:r>
              <a:t>板块二  ·  功能逻辑架构生成研究汇报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9672"/>
            <a:ext cx="64008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0758A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10972800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711" y="1828800"/>
            <a:ext cx="10602097" cy="3017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5212080"/>
            <a:ext cx="1078992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7F87"/>
                </a:solidFill>
                <a:latin typeface="Microsoft YaHei"/>
              </a:defRPr>
            </a:pPr>
            <a:r>
              <a:t>原型特征：功能点名称  →  jieba分词  →  TF-IDF  →  L2归一化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5806440"/>
            <a:ext cx="10972800" cy="429768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888736"/>
            <a:ext cx="1060704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07F87"/>
                </a:solidFill>
                <a:latin typeface="Microsoft YaHei"/>
              </a:defRPr>
            </a:pPr>
            <a:r>
              <a:t>MBSE_app参数：threshold=0.6；branching_factor=50；n_clusters=None。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7F87"/>
                </a:solidFill>
                <a:latin typeface="Microsoft YaHei"/>
              </a:defRPr>
            </a:pPr>
            <a:r>
              <a:t>06 / 拓扑连接核心代码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58952"/>
            <a:ext cx="1106424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324D"/>
                </a:solidFill>
                <a:latin typeface="Microsoft YaHei"/>
              </a:defRPr>
            </a:pPr>
            <a:r>
              <a:t>拓扑连接核心：关联端口、流对象与所属功能簇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DC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0758A"/>
                </a:solidFill>
                <a:latin typeface="Microsoft YaHei"/>
              </a:defRPr>
            </a:pPr>
            <a:r>
              <a:t>板块二  ·  功能逻辑架构生成研究汇报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9672"/>
            <a:ext cx="64008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0758A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521208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7324D"/>
                </a:solidFill>
                <a:latin typeface="Microsoft YaHei"/>
              </a:defRPr>
            </a:pPr>
            <a:r>
              <a:t>关系类型与流对象处理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645920"/>
            <a:ext cx="521208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7324D"/>
                </a:solidFill>
                <a:latin typeface="Microsoft YaHei"/>
              </a:defRPr>
            </a:pPr>
            <a:r>
              <a:t>连接记录与聚类归属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057400"/>
            <a:ext cx="5349240" cy="3611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293" y="2148840"/>
            <a:ext cx="4033373" cy="33832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17920" y="2057400"/>
            <a:ext cx="5349240" cy="3611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5947" y="2148840"/>
            <a:ext cx="4713185" cy="338328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94360" y="5806440"/>
            <a:ext cx="10972800" cy="429768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888736"/>
            <a:ext cx="1060704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07F87"/>
                </a:solidFill>
                <a:latin typeface="Microsoft YaHei"/>
              </a:defRPr>
            </a:pPr>
            <a:r>
              <a:t>原型采用首项端口策略；后续需完善类型、单位、多端口匹配及待确认标记。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7F87"/>
                </a:solidFill>
                <a:latin typeface="Microsoft YaHei"/>
              </a:defRPr>
            </a:pPr>
            <a:r>
              <a:t>07 / 运行结果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58952"/>
            <a:ext cx="1106424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324D"/>
                </a:solidFill>
                <a:latin typeface="Microsoft YaHei"/>
              </a:defRPr>
            </a:pPr>
            <a:r>
              <a:t>已有原型输出可展示功能点到功能簇的归属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DC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0758A"/>
                </a:solidFill>
                <a:latin typeface="Microsoft YaHei"/>
              </a:defRPr>
            </a:pPr>
            <a:r>
              <a:t>板块二  ·  功能逻辑架构生成研究汇报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9672"/>
            <a:ext cx="64008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0758A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82880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7F87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18288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58A"/>
                </a:solidFill>
                <a:latin typeface="Microsoft YaHei"/>
              </a:defRPr>
            </a:pPr>
            <a:r>
              <a:t>功能点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1645920"/>
            <a:ext cx="182880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7F87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286000"/>
            <a:ext cx="18288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58A"/>
                </a:solidFill>
                <a:latin typeface="Microsoft YaHei"/>
              </a:defRPr>
            </a:pPr>
            <a:r>
              <a:t>功能簇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645920"/>
            <a:ext cx="182880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7F87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286000"/>
            <a:ext cx="18288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58A"/>
                </a:solidFill>
                <a:latin typeface="Microsoft YaHei"/>
              </a:defRPr>
            </a:pPr>
            <a:r>
              <a:t>关系记录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1645920"/>
            <a:ext cx="182880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7F87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286000"/>
            <a:ext cx="18288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58A"/>
                </a:solidFill>
                <a:latin typeface="Microsoft YaHei"/>
              </a:defRPr>
            </a:pPr>
            <a:r>
              <a:t>连接记录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834640"/>
            <a:ext cx="1097280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632" y="2926080"/>
            <a:ext cx="9652254" cy="242316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594360" y="5806440"/>
            <a:ext cx="10972800" cy="429768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888736"/>
            <a:ext cx="1060704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07F87"/>
                </a:solidFill>
                <a:latin typeface="Microsoft YaHei"/>
              </a:defRPr>
            </a:pPr>
            <a:r>
              <a:t>样例中多数簇较小，需要结合碎片化指标与业务复核，不能仅以“生成成功”判断质量。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7F87"/>
                </a:solidFill>
                <a:latin typeface="Microsoft YaHei"/>
              </a:defRPr>
            </a:pPr>
            <a:r>
              <a:t>08 / 数据输出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58952"/>
            <a:ext cx="1106424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324D"/>
                </a:solidFill>
                <a:latin typeface="Microsoft YaHei"/>
              </a:defRPr>
            </a:pPr>
            <a:r>
              <a:t>产出统一为功能逻辑架构数据，按维度组织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DC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0758A"/>
                </a:solidFill>
                <a:latin typeface="Microsoft YaHei"/>
              </a:defRPr>
            </a:pPr>
            <a:r>
              <a:t>板块二  ·  功能逻辑架构生成研究汇报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9672"/>
            <a:ext cx="64008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0758A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91640"/>
            <a:ext cx="1645920" cy="4572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783080"/>
            <a:ext cx="1426464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维度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40280" y="1691640"/>
            <a:ext cx="6126480" cy="4572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50008" y="1783080"/>
            <a:ext cx="5907024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内容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66760" y="1691640"/>
            <a:ext cx="3200400" cy="4572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76488" y="1783080"/>
            <a:ext cx="2980944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用途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148840"/>
            <a:ext cx="1627632" cy="80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2258568"/>
            <a:ext cx="1426464" cy="6766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4384B"/>
                </a:solidFill>
                <a:latin typeface="Microsoft YaHei"/>
              </a:defRPr>
            </a:pPr>
            <a:r>
              <a:t>功能归属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40280" y="2148840"/>
            <a:ext cx="6108192" cy="80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50008" y="2258568"/>
            <a:ext cx="5907024" cy="6766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4384B"/>
                </a:solidFill>
                <a:latin typeface="Microsoft YaHei"/>
              </a:defRPr>
            </a:pPr>
            <a:r>
              <a:t>功能ID、名称、簇、子系统及层级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66760" y="2148840"/>
            <a:ext cx="3182112" cy="80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76488" y="2258568"/>
            <a:ext cx="2980944" cy="6766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4384B"/>
                </a:solidFill>
                <a:latin typeface="Microsoft YaHei"/>
              </a:defRPr>
            </a:pPr>
            <a:r>
              <a:t>组织功能簇与追溯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2971800"/>
            <a:ext cx="1627632" cy="800100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3081528"/>
            <a:ext cx="1426464" cy="6766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4384B"/>
                </a:solidFill>
                <a:latin typeface="Microsoft YaHei"/>
              </a:defRPr>
            </a:pPr>
            <a:r>
              <a:t>功能关系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40280" y="2971800"/>
            <a:ext cx="6108192" cy="800100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50008" y="3081528"/>
            <a:ext cx="5907024" cy="6766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4384B"/>
                </a:solidFill>
                <a:latin typeface="Microsoft YaHei"/>
              </a:defRPr>
            </a:pPr>
            <a:r>
              <a:t>端点、关系类型、置信度、来源、所属簇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66760" y="2971800"/>
            <a:ext cx="3182112" cy="800100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76488" y="3081528"/>
            <a:ext cx="2980944" cy="6766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4384B"/>
                </a:solidFill>
                <a:latin typeface="Microsoft YaHei"/>
              </a:defRPr>
            </a:pPr>
            <a:r>
              <a:t>表达功能及簇间关联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3794760"/>
            <a:ext cx="1627632" cy="80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" y="3904488"/>
            <a:ext cx="1426464" cy="6766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4384B"/>
                </a:solidFill>
                <a:latin typeface="Microsoft YaHei"/>
              </a:defRPr>
            </a:pPr>
            <a:r>
              <a:t>逻辑连接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40280" y="3794760"/>
            <a:ext cx="6108192" cy="80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50008" y="3904488"/>
            <a:ext cx="5907024" cy="6766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4384B"/>
                </a:solidFill>
                <a:latin typeface="Microsoft YaHei"/>
              </a:defRPr>
            </a:pPr>
            <a:r>
              <a:t>源/目标端口、流对象、连接及所属簇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66760" y="3794760"/>
            <a:ext cx="3182112" cy="80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76488" y="3904488"/>
            <a:ext cx="2980944" cy="6766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4384B"/>
                </a:solidFill>
                <a:latin typeface="Microsoft YaHei"/>
              </a:defRPr>
            </a:pPr>
            <a:r>
              <a:t>支撑拓扑分析与下游转换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4617720"/>
            <a:ext cx="1627632" cy="800100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" y="4727448"/>
            <a:ext cx="1426464" cy="6766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4384B"/>
                </a:solidFill>
                <a:latin typeface="Microsoft YaHei"/>
              </a:defRPr>
            </a:pPr>
            <a:r>
              <a:t>评价信息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40280" y="4617720"/>
            <a:ext cx="6108192" cy="800100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50008" y="4727448"/>
            <a:ext cx="5907024" cy="6766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4384B"/>
                </a:solidFill>
                <a:latin typeface="Microsoft YaHei"/>
              </a:defRPr>
            </a:pPr>
            <a:r>
              <a:t>聚类数量、语义与几何指标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66760" y="4617720"/>
            <a:ext cx="3182112" cy="800100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76488" y="4727448"/>
            <a:ext cx="2980944" cy="6766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4384B"/>
                </a:solidFill>
                <a:latin typeface="Microsoft YaHei"/>
              </a:defRPr>
            </a:pPr>
            <a:r>
              <a:t>辅助判断聚类质量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5806440"/>
            <a:ext cx="10972800" cy="429768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5888736"/>
            <a:ext cx="1060704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07F87"/>
                </a:solidFill>
                <a:latin typeface="Microsoft YaHei"/>
              </a:defRPr>
            </a:pPr>
            <a:r>
              <a:t>JSON一路对接物理架构模块（字段待对齐），另一路交周瑜璇进行SysML v2转换与校验。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7F87"/>
                </a:solidFill>
                <a:latin typeface="Microsoft YaHei"/>
              </a:defRPr>
            </a:pPr>
            <a:r>
              <a:t>09 / 两个对外接口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58952"/>
            <a:ext cx="1106424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324D"/>
                </a:solidFill>
                <a:latin typeface="Microsoft YaHei"/>
              </a:defRPr>
            </a:pPr>
            <a:r>
              <a:t>两个对外接口对应需求MD的第2、第3项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DC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0758A"/>
                </a:solidFill>
                <a:latin typeface="Microsoft YaHei"/>
              </a:defRPr>
            </a:pPr>
            <a:r>
              <a:t>板块二  ·  功能逻辑架构生成研究汇报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9672"/>
            <a:ext cx="64008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0758A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5303520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965960"/>
            <a:ext cx="4901183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7324D"/>
                </a:solidFill>
                <a:latin typeface="Microsoft YaHei"/>
              </a:defRPr>
            </a:pPr>
            <a:r>
              <a:t>接口一 · 逻辑架构生成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606040"/>
            <a:ext cx="4901183" cy="24231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4384B"/>
                </a:solidFill>
                <a:latin typeface="Microsoft YaHei"/>
              </a:defRPr>
            </a:pPr>
            <a:r>
              <a:t>POST /generate_logical_arch</a:t>
            </a:r>
          </a:p>
          <a:p>
            <a:pPr>
              <a:spcAft>
                <a:spcPts val="800"/>
              </a:spcAft>
              <a:defRPr sz="1700" b="0">
                <a:solidFill>
                  <a:srgbClr val="24384B"/>
                </a:solidFill>
                <a:latin typeface="Microsoft YaHei"/>
              </a:defRPr>
            </a:pPr>
            <a:r>
              <a:t>输入：上下文JSON + 生成选项</a:t>
            </a:r>
          </a:p>
          <a:p>
            <a:pPr>
              <a:spcAft>
                <a:spcPts val="800"/>
              </a:spcAft>
              <a:defRPr sz="1700" b="0">
                <a:solidFill>
                  <a:srgbClr val="24384B"/>
                </a:solidFill>
                <a:latin typeface="Microsoft YaHei"/>
              </a:defRPr>
            </a:pPr>
            <a:r>
              <a:t>输出：逻辑架构JSON，功能簇包含function_id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83080"/>
            <a:ext cx="5303520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965960"/>
            <a:ext cx="4901183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7324D"/>
                </a:solidFill>
                <a:latin typeface="Microsoft YaHei"/>
              </a:defRPr>
            </a:pPr>
            <a:r>
              <a:t>接口二 · 输入补全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606040"/>
            <a:ext cx="4901183" cy="24231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4384B"/>
                </a:solidFill>
                <a:latin typeface="Microsoft YaHei"/>
              </a:defRPr>
            </a:pPr>
            <a:r>
              <a:t>POST /complement_arch_gen_context</a:t>
            </a:r>
          </a:p>
          <a:p>
            <a:pPr>
              <a:spcAft>
                <a:spcPts val="800"/>
              </a:spcAft>
              <a:defRPr sz="1700" b="0">
                <a:solidFill>
                  <a:srgbClr val="24384B"/>
                </a:solidFill>
                <a:latin typeface="Microsoft YaHei"/>
              </a:defRPr>
            </a:pPr>
            <a:r>
              <a:t>输入：上下文 + 提示文字 + 选项</a:t>
            </a:r>
          </a:p>
          <a:p>
            <a:pPr>
              <a:spcAft>
                <a:spcPts val="800"/>
              </a:spcAft>
              <a:defRPr sz="1700" b="0">
                <a:solidFill>
                  <a:srgbClr val="24384B"/>
                </a:solidFill>
                <a:latin typeface="Microsoft YaHei"/>
              </a:defRPr>
            </a:pPr>
            <a:r>
              <a:t>输出：新上下文、是否需补全及说明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5806440"/>
            <a:ext cx="10972800" cy="429768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888736"/>
            <a:ext cx="1060704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07F87"/>
                </a:solidFill>
                <a:latin typeface="Microsoft YaHei"/>
              </a:defRPr>
            </a:pPr>
            <a:r>
              <a:t>服务器接口：两个对外入口仍在开发和字段对齐；第1项资源规范化不属于本板块。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7F87"/>
                </a:solidFill>
                <a:latin typeface="Microsoft YaHei"/>
              </a:defRPr>
            </a:pPr>
            <a:r>
              <a:t>10 / 输入补全接口要求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58952"/>
            <a:ext cx="1106424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324D"/>
                </a:solidFill>
                <a:latin typeface="Microsoft YaHei"/>
              </a:defRPr>
            </a:pPr>
            <a:r>
              <a:t>接口二：检查与补全分开，用户确认后纳入上下文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DC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0758A"/>
                </a:solidFill>
                <a:latin typeface="Microsoft YaHei"/>
              </a:defRPr>
            </a:pPr>
            <a:r>
              <a:t>板块二  ·  功能逻辑架构生成研究汇报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9672"/>
            <a:ext cx="64008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0758A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972800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007F87"/>
                </a:solidFill>
                <a:latin typeface="Consolas"/>
              </a:defRPr>
            </a:pPr>
            <a:r>
              <a:t>POST /complement_arch_gen_context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286000"/>
            <a:ext cx="2834640" cy="4572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377440"/>
            <a:ext cx="2615184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需求MD第3项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2286000"/>
            <a:ext cx="8138160" cy="4572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8728" y="2377440"/>
            <a:ext cx="7918704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约定内容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743200"/>
            <a:ext cx="2816352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852928"/>
            <a:ext cx="2615184" cy="52120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4384B"/>
                </a:solidFill>
                <a:latin typeface="Microsoft YaHei"/>
              </a:defRPr>
            </a:pPr>
            <a:r>
              <a:t>请求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2743200"/>
            <a:ext cx="8119872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8728" y="2852928"/>
            <a:ext cx="7918704" cy="52120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4384B"/>
                </a:solidFill>
                <a:latin typeface="Microsoft YaHei"/>
              </a:defRPr>
            </a:pPr>
            <a:r>
              <a:t>PhysicalArchGenContext + 可为空的用户提示 + options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410712"/>
            <a:ext cx="2816352" cy="644652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3520440"/>
            <a:ext cx="2615184" cy="52120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4384B"/>
                </a:solidFill>
                <a:latin typeface="Microsoft YaHei"/>
              </a:defRPr>
            </a:pPr>
            <a:r>
              <a:t>only_check=true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3410712"/>
            <a:ext cx="8119872" cy="644652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8728" y="3520440"/>
            <a:ext cx="7918704" cy="52120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4384B"/>
                </a:solidFill>
                <a:latin typeface="Microsoft YaHei"/>
              </a:defRPr>
            </a:pPr>
            <a:r>
              <a:t>只判断上下文完整性，不实际补全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078224"/>
            <a:ext cx="2816352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4187952"/>
            <a:ext cx="2615184" cy="52120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4384B"/>
                </a:solidFill>
                <a:latin typeface="Microsoft YaHei"/>
              </a:defRPr>
            </a:pPr>
            <a:r>
              <a:t>only_check=false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29000" y="4078224"/>
            <a:ext cx="8119872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38728" y="4187952"/>
            <a:ext cx="7918704" cy="52120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4384B"/>
                </a:solidFill>
                <a:latin typeface="Microsoft YaHei"/>
              </a:defRPr>
            </a:pPr>
            <a:r>
              <a:t>进入补全处理；按对话设计结合用户反馈确认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4745736"/>
            <a:ext cx="2816352" cy="644652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" y="4855464"/>
            <a:ext cx="2615184" cy="52120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4384B"/>
                </a:solidFill>
                <a:latin typeface="Microsoft YaHei"/>
              </a:defRPr>
            </a:pPr>
            <a:r>
              <a:t>响应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29000" y="4745736"/>
            <a:ext cx="8119872" cy="644652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38728" y="4855464"/>
            <a:ext cx="7918704" cy="52120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4384B"/>
                </a:solidFill>
                <a:latin typeface="Microsoft YaHei"/>
              </a:defRPr>
            </a:pPr>
            <a:r>
              <a:t>新的上下文 + 是否需要补全的布尔标志 + 补全说明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5806440"/>
            <a:ext cx="10972800" cy="429768"/>
          </a:xfrm>
          <a:prstGeom prst="roundRect">
            <a:avLst/>
          </a:prstGeom>
          <a:solidFill>
            <a:srgbClr val="FFF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888736"/>
            <a:ext cx="1060704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B67816"/>
                </a:solidFill>
                <a:latin typeface="Microsoft YaHei"/>
              </a:defRPr>
            </a:pPr>
            <a:r>
              <a:t>服务器已有候选预览与确认；only_check为MD需求，尚需接入，API选项后续统一。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7F87"/>
                </a:solidFill>
                <a:latin typeface="Microsoft YaHei"/>
              </a:defRPr>
            </a:pPr>
            <a:r>
              <a:t>11 / 问题与后续计划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58952"/>
            <a:ext cx="1106424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324D"/>
                </a:solidFill>
                <a:latin typeface="Microsoft YaHei"/>
              </a:defRPr>
            </a:pPr>
            <a:r>
              <a:t>当前关键任务是字段对齐，而非仅增加接口路径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DC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0758A"/>
                </a:solidFill>
                <a:latin typeface="Microsoft YaHei"/>
              </a:defRPr>
            </a:pPr>
            <a:r>
              <a:t>板块二  ·  功能逻辑架构生成研究汇报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9672"/>
            <a:ext cx="64008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0758A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91640"/>
            <a:ext cx="1097280" cy="4572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783080"/>
            <a:ext cx="877824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优先级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91640" y="1691640"/>
            <a:ext cx="4754880" cy="4572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01368" y="1783080"/>
            <a:ext cx="4535424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工作项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1691640"/>
            <a:ext cx="5120640" cy="4572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8" y="1783080"/>
            <a:ext cx="4901183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可验收结果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148840"/>
            <a:ext cx="1078992" cy="6720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2258568"/>
            <a:ext cx="877824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4384B"/>
                </a:solidFill>
                <a:latin typeface="Microsoft YaHei"/>
              </a:defRPr>
            </a:pPr>
            <a:r>
              <a:t>P0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91640" y="2148840"/>
            <a:ext cx="4736592" cy="6720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01368" y="2258568"/>
            <a:ext cx="4535424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4384B"/>
                </a:solidFill>
                <a:latin typeface="Microsoft YaHei"/>
              </a:defRPr>
            </a:pPr>
            <a:r>
              <a:t>与物理架构模块逐项对齐字段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6520" y="2148840"/>
            <a:ext cx="5102352" cy="6720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2258568"/>
            <a:ext cx="4901183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4384B"/>
                </a:solidFill>
                <a:latin typeface="Microsoft YaHei"/>
              </a:defRPr>
            </a:pPr>
            <a:r>
              <a:t>共同JSON样例 + 字段映射清单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2843784"/>
            <a:ext cx="1078992" cy="672084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2953512"/>
            <a:ext cx="877824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4384B"/>
                </a:solidFill>
                <a:latin typeface="Microsoft YaHei"/>
              </a:defRPr>
            </a:pPr>
            <a:r>
              <a:t>P0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91640" y="2843784"/>
            <a:ext cx="4736592" cy="672084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01368" y="2953512"/>
            <a:ext cx="4535424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4384B"/>
                </a:solidFill>
                <a:latin typeface="Microsoft YaHei"/>
              </a:defRPr>
            </a:pPr>
            <a:r>
              <a:t>补全建议与用户反馈合并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2843784"/>
            <a:ext cx="5102352" cy="672084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6248" y="2953512"/>
            <a:ext cx="4901183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4384B"/>
                </a:solidFill>
                <a:latin typeface="Microsoft YaHei"/>
              </a:defRPr>
            </a:pPr>
            <a:r>
              <a:t>采纳/修改/拒绝可追溯，冲突有追问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3538728"/>
            <a:ext cx="1078992" cy="6720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" y="3648456"/>
            <a:ext cx="877824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4384B"/>
                </a:solidFill>
                <a:latin typeface="Microsoft YaHei"/>
              </a:defRPr>
            </a:pPr>
            <a:r>
              <a:t>P1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91640" y="3538728"/>
            <a:ext cx="4736592" cy="6720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01368" y="3648456"/>
            <a:ext cx="4535424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4384B"/>
                </a:solidFill>
                <a:latin typeface="Microsoft YaHei"/>
              </a:defRPr>
            </a:pPr>
            <a:r>
              <a:t>完善两个对外入口与会话管理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46520" y="3538728"/>
            <a:ext cx="5102352" cy="6720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56248" y="3648456"/>
            <a:ext cx="4901183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4384B"/>
                </a:solidFill>
                <a:latin typeface="Microsoft YaHei"/>
              </a:defRPr>
            </a:pPr>
            <a:r>
              <a:t>接口状态、上下文与输出一致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4233672"/>
            <a:ext cx="1078992" cy="672084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" y="4343400"/>
            <a:ext cx="877824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4384B"/>
                </a:solidFill>
                <a:latin typeface="Microsoft YaHei"/>
              </a:defRPr>
            </a:pPr>
            <a:r>
              <a:t>P1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91640" y="4233672"/>
            <a:ext cx="4736592" cy="672084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01368" y="4343400"/>
            <a:ext cx="4535424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4384B"/>
                </a:solidFill>
                <a:latin typeface="Microsoft YaHei"/>
              </a:defRPr>
            </a:pPr>
            <a:r>
              <a:t>验证特征、阈值和端口匹配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46520" y="4233672"/>
            <a:ext cx="5102352" cy="672084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56248" y="4343400"/>
            <a:ext cx="4901183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4384B"/>
                </a:solidFill>
                <a:latin typeface="Microsoft YaHei"/>
              </a:defRPr>
            </a:pPr>
            <a:r>
              <a:t>固定案例的指标、差异与人工复核记录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4928616"/>
            <a:ext cx="1078992" cy="6720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" y="5038344"/>
            <a:ext cx="877824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4384B"/>
                </a:solidFill>
                <a:latin typeface="Microsoft YaHei"/>
              </a:defRPr>
            </a:pPr>
            <a:r>
              <a:t>交付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91640" y="4928616"/>
            <a:ext cx="4736592" cy="6720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01368" y="5038344"/>
            <a:ext cx="4535424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4384B"/>
                </a:solidFill>
                <a:latin typeface="Microsoft YaHei"/>
              </a:defRPr>
            </a:pPr>
            <a:r>
              <a:t>向周瑜璇交接JSON并收集反馈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46520" y="4928616"/>
            <a:ext cx="5102352" cy="6720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56248" y="5038344"/>
            <a:ext cx="4901183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4384B"/>
                </a:solidFill>
                <a:latin typeface="Microsoft YaHei"/>
              </a:defRPr>
            </a:pPr>
            <a:r>
              <a:t>交接版本明确，转换所需字段可补齐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4360" y="5806440"/>
            <a:ext cx="10972800" cy="429768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5888736"/>
            <a:ext cx="1060704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07F87"/>
                </a:solidFill>
                <a:latin typeface="Microsoft YaHei"/>
              </a:defRPr>
            </a:pPr>
            <a:r>
              <a:t>需讨论：功能簇结构、关系类型及方向、连接端点ID、来源字段、任务/版本与多轮增量规则。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