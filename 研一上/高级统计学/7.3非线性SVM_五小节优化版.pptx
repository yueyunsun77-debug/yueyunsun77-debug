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56" r:id="rId29"/>
    <p:sldId id="257" r:id="rId30"/>
    <p:sldId id="258" r:id="rId7"/>
    <p:sldId id="259" r:id="rId8"/>
    <p:sldId id="260" r:id="rId9"/>
    <p:sldId id="261" r:id="rId6"/>
    <p:sldId id="262" r:id="rId5"/>
    <p:sldId id="263" r:id="rId3"/>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31"/>
  </p:sldIdLst>
  <p:sldSz cx="14630400" cy="8229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6.xml"/><Relationship Id="rId4" Type="http://schemas.openxmlformats.org/officeDocument/2006/relationships/notesMaster" Target="notesMasters/notesMaster1.xml"/><Relationship Id="rId5" Type="http://schemas.openxmlformats.org/officeDocument/2006/relationships/slide" Target="slides/slide5.xml"/><Relationship Id="rId6" Type="http://schemas.openxmlformats.org/officeDocument/2006/relationships/slide" Target="slides/slide4.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同学们，前面我们用最大间隔找分类直线。今天先问一个问题：如果根本不存在能分开的直线，把间隔调大还有用吗？答案是没有。我们要改变数据的表示方式，而不是只在原来的直线上做文章。今天按五个小节展开：从异或问题出发，理解升维；再学核技巧；接着判断一个函数有没有资格叫核；最后详细看多项式核和高斯核。课程结束时，请你能够回答：核函数到底替代了哪一步计算？它为什么能帮助我们得到非线性边界？这些结论有什么限制？</a:t>
            </a:r>
          </a:p>
          <a:p/>
          <a:p>
            <a:r>
              <a:t>互动与板书：</a:t>
            </a:r>
          </a:p>
          <a:p>
            <a:r>
              <a:t>开场提问：线性不可分时，只增大 C 能解决吗？答：不能，表示能力没有改变。</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请看四个角点，橙色两个点在一条对角线上，蓝色两个点在另一条对角线上。我们想画一条直线，让橙色都在正侧、蓝色都在负侧。大家先在脑子里试着画。无论怎样旋转，总有点分错。更严格的解释是：橙色两点的中点与蓝色两点的中点都是零点五、零点五。若一条仿射函数对两个橙色点都为正，那么对它们的中点也应为正；对两个蓝色点都为负，中点又应为负。同一点不可能同时满足，所以不存在严格线性分离。这里失败的是原始特征的线性表达能力，不是优化器不够努力。</a:t>
            </a:r>
          </a:p>
          <a:p/>
          <a:p>
            <a:r>
              <a:t>互动与板书：</a:t>
            </a:r>
          </a:p>
          <a:p>
            <a:r>
              <a:t>停顿 30 秒让学生试画；追问：将 C 设得非常大呢？仍不能让不存在的直线出现。</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我们给每个点增加一个坐标，等于原来两个坐标的乘积。请逐点算：零零变成零零零；零一变成零一零；一零变成一零零；一一变成一一一。第四个点离开原来的底平面。图中的半透明平面对应公式 x一加 x二减二倍 z 再减零点五等于零。它在三维是平面，但把 z 换回 x一乘 x二，就得到含乘积项的非线性函数。这里的高维线性和低维非线性描述的是同一个判别规则在不同表示下的样子。请注意，我们给出的是一个能分开的例子，尚没有证明它是最大间隔解。</a:t>
            </a:r>
          </a:p>
          <a:p/>
          <a:p>
            <a:r>
              <a:t>互动与板书：</a:t>
            </a:r>
          </a:p>
          <a:p>
            <a:r>
              <a:t>请学生指出被抬高的是哪一点；图为三维投影，遮挡或远近不表示分类标签。</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我们不只凭图判断，直接把四个点代入。零零时前三项都没有贡献，只剩负零点五，所以是负类。零一得到一减零点五，是正零点五；一零同理。最后一一得到一加一减二减零点五，是负零点五。四个符号都正确。三维法向量是一、一、负二，其长度为根号六，因此这些点到平面的有符号几何距离是正负零点五除根号六。函数值和距离不是同一件事，距离需要除以法向量长度。升维也不是万能保证：若相同输入被赋予相反标签，任何确定性映射都不能把它们完全分开。</a:t>
            </a:r>
          </a:p>
          <a:p/>
          <a:p>
            <a:r>
              <a:t>互动与板书：</a:t>
            </a:r>
          </a:p>
          <a:p>
            <a:r>
              <a:t>易错点：不能把 f=±0.5 直接说成几何距离；也不要说任意升维都必然可分。</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刚才只加一个坐标，很容易。可是如果一千维数据的所有平方项、交互项和常数项都列出来，特征数会超过五十万。更高次时增长更快。关键观察来自 SVM 对偶：样本出现的位置是特征向量之间的内积。既然最终只需要内积的数值，我们是不是必须先构造这两个大向量？其实不必。就像知道矩形面积的简便公式后，不需要把每一个小方格都画出来。核函数的任务，就是在原始输入上直接计算那个特征内积。它替代的是计算路径，不是偷偷做了一个近似。</a:t>
            </a:r>
          </a:p>
          <a:p/>
          <a:p>
            <a:r>
              <a:t>互动与板书：</a:t>
            </a:r>
          </a:p>
          <a:p>
            <a:r>
              <a:t>板书：x,z → φ(x),φ(z) → 内积；下面另画 x,z → K(x,z)，两条路终点相同。</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这页对应图片中的两种计算方法。上面的路线先变换维度，再做内积；下面的路线直接求核函数。我们用同一个二次多项式核来证明两条路线完全一致。注意 x 和 z 都表示原空间的样本，不要把这里的 z 与上一小节表示第三坐标的 z 混淆。为了统一，本页以后 z 始终表示另一个样本。公式里先算原始内积，加一，再平方。原空间点积本身只是中间步骤，最终结果等于另一个特征空间里的点积。并不是随便对内积做任何操作，都一定能得到合法的核。</a:t>
            </a:r>
          </a:p>
          <a:p/>
          <a:p>
            <a:r>
              <a:t>互动与板书：</a:t>
            </a:r>
          </a:p>
          <a:p>
            <a:r>
              <a:t>提问：核技巧是否等于直接把 φ(x) 换成 x？答：不是，是把特征内积整体换成 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请大家把六维向量按位置逐项相乘。常数项贡献一；两个一次项各带根号二，乘完出现系数二；两个平方项贡献各自平方的乘积；交互项同样产生系数二。另一方面，将一加 x一 z一加 x二 z二整体平方，平方和与两两交叉项恰好就是这六项。这就是等式成立的原因，不是只因为两边看起来都像二次。根号二不能随手省掉，否则内积的系数就变了。这里的六维映射与上一小节三维教学映射不同。两者都能用于讨论 XOR，但不能宣称它们对应完全相同的核。</a:t>
            </a:r>
          </a:p>
          <a:p/>
          <a:p>
            <a:r>
              <a:t>互动与板书：</a:t>
            </a:r>
          </a:p>
          <a:p>
            <a:r>
              <a:t>板书逐项画线配对；让学生回答为什么交互项前也需要 √2。</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我们把符号换成具体数字检验一次。第一个样本是一零，第二个是一一。原始点积为一，加一后平方得到四。现在走显式路线：第一个样本的六维特征为一、根号二、零、一、零、零；第二个为一、根号二、根号二、一、根号二、一。逐项相乘再求和，只剩下一加二加一，也是四。这个小例子不能证明所有输入都成立，普遍成立的证据是上一页的代数展开；数值例子只是帮我们发现漏项或系数错误。请特别区分证明和验证样例的角色。</a:t>
            </a:r>
          </a:p>
          <a:p/>
          <a:p>
            <a:r>
              <a:t>互动与板书：</a:t>
            </a:r>
          </a:p>
          <a:p>
            <a:r>
              <a:t>让学生独立算 K(x,x)=4、K(z,z)=9；核值可以大于 1，并非概率。</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一个函数算起来方便，不代表它能作为内积核。我们先要求对称，因为实向量内积交换顺序不变。再取任意数量、任意位置的样本，把两两核值填成一个矩阵，这叫 Gram 矩阵。这里 c 是任意实系数向量，不是 SVM 的惩罚参数大写 C。把 c 左右乘到矩阵上，结果必须非负。这叫半正定。课堂上常将这类条件简称 Mercer 条件；严格的 Mercer 积分算子展开还需要讨论定义域、连续性和测度等假设。本课判断实值内积核，使用的是对称半正定核的表征，不把有限矩阵检查误当成完整的 Mercer 定理。</a:t>
            </a:r>
          </a:p>
          <a:p/>
          <a:p>
            <a:r>
              <a:t>互动与板书：</a:t>
            </a:r>
          </a:p>
          <a:p>
            <a:r>
              <a:t>请学生复述两个“任意”：任意有限样本集、任意系数向量。</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我们解释半正定从哪里来，而不是只背定义。先将矩阵乘法写成双重求和，再代入核等于特征内积。由于内积对线性组合可以展开，我们反过来把两重求和收进内积中，左右变成同一个向量：各特征向量按 c 系数加权后的和。一个向量与自己的内积，就是长度平方，当然不会小于零。如果这个加权和恰好为零，长度平方就等于零。所以合法核允许等于零，不必严格大于零。例如两个输入完全相同，取系数一和负一，两个特征向量相消，恰好得到零。</a:t>
            </a:r>
          </a:p>
          <a:p/>
          <a:p>
            <a:r>
              <a:t>互动与板书：</a:t>
            </a:r>
          </a:p>
          <a:p>
            <a:r>
              <a:t>检查理解：半正定不等于“矩阵每个元素都非负”。线性核的两个反向向量内积可以为负。</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看这个二乘二矩阵，对角线都是一，非对角线是二。它既对称，元素也都为正，但这两个性质还不够。取向量一、负一，先乘矩阵得到负一、一，再左乘一、负一，结果是负二。因此它不是半正定矩阵。只要某个候选函数在某组输入上产生这个矩阵，我们就找到反例，足以否定它是合法核。反过来，某一批数据上算出的特征值非负，并不能证明换一批数据仍然成立。实现中还要注意浮点误差，极小负特征值需要结合量级与数值容差分析，但负二这样的结果显然不是舍入误差。</a:t>
            </a:r>
          </a:p>
          <a:p/>
          <a:p>
            <a:r>
              <a:t>互动与板书：</a:t>
            </a:r>
          </a:p>
          <a:p>
            <a:r>
              <a:t>请学生先心算 cᵀGc，再展示答案；强调元素正负与特征值正负是不同概念。</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现在进入第四小节。图片采用点积加常数再取 d 次方，我们采用更常见的带 gamma 的参数形式。gamma 控制点积的缩放，r 是常数项，d 是次数。请记住这里的小写 r 和训练的 C 完全不同。为何它能表达交互？以二次为例，展开后出现 x一 x二这样的交叉特征，模型可以利用两个变量共同出现时的信息。当 r 为零时是齐次核，只含 d 阶特征；r 为正时，二项式展开会带来从零阶到 d 阶的项。这里给出的是保证合法的常用充分条件，不是在讨论所有特殊定义域上可能存在的例外。</a:t>
            </a:r>
          </a:p>
          <a:p/>
          <a:p>
            <a:r>
              <a:t>互动与板书：</a:t>
            </a:r>
          </a:p>
          <a:p>
            <a:r>
              <a:t>联系前例：γ=1、r=1、d=2，就是刚刚验证的六维映射。</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多项式核省去了显式枚举大量特征，但并没有取消高阶模型的统计风险。输入稍大，点积加常数再取高次方，数值可能迅速增加；噪声也可能被高阶交互放大。我们用组合数计算所有不超过 d 次的单项式数量。二元二次有六个，与前面的映射一致；一千元二次超过五十万个。这里组合数表示的是一种标准显式构造的坐标数，不意味着在每个特殊数据集上都需要这么多独立方向。选择次数时，应先保证尺度合理，再在训练集内部做交叉验证。高训练分数不能替代验证分数。</a:t>
            </a:r>
          </a:p>
          <a:p/>
          <a:p>
            <a:r>
              <a:t>互动与板书：</a:t>
            </a:r>
          </a:p>
          <a:p>
            <a:r>
              <a:t>提问：d=10 比 d=2 更高级，所以一定更准吗？答：表达力更强并不保证泛化更好。</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第五小节讲高斯径向基函数核。先看最里面，两点距离平方，乘上负 gamma，最后取指数。两点完全相同时距离为零，指数为一。距离增加，指数中的负数绝对值增加，核值衰减到接近零。图上三条曲线只改变 gamma：gamma 越大，曲线下降越快，说明一个样本只在更小的邻域内有显著影响。图片用 sigma 作为宽度，我们常在软件里用 gamma。两者互为反向关系，不要把 gamma 大误读为核更宽。这里的核值可以理解为特定意义的相似度，但不是某个类别的预测概率。</a:t>
            </a:r>
          </a:p>
          <a:p/>
          <a:p>
            <a:r>
              <a:t>互动与板书：</a:t>
            </a:r>
          </a:p>
          <a:p>
            <a:r>
              <a:t>口算：距离为 1、γ=1 时，K=e⁻¹≈0.368；γ=5 时约 0.0067。</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有人会问，既然有无限维特征，电脑怎么可能算完？先把距离平方展开成两个范数平方减两倍点积，利用指数函数将三项拆成三个因子。最后一个指数可以写成从零阶到无限阶的泰勒级数。每一阶点积幂都能对应多项式特征，带上合适的非负权重，就能组织成一个特征内积。我们不需要真的把这条无限长向量写进内存，只要算有限维输入的距离，再调用指数函数，就得到内积值。这里 p 表示输入维度；我特意不再用 d 表示复杂度中的维度，以免与多项式次数 d 混淆。</a:t>
            </a:r>
          </a:p>
          <a:p/>
          <a:p>
            <a:r>
              <a:t>互动与板书：</a:t>
            </a:r>
          </a:p>
          <a:p>
            <a:r>
              <a:t>进阶补充：该展开也帮助解释合法性；无限维指整体特征空间，不是 n 个样本的 Gram 矩阵变成无限大。</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这页专门修正总结图片里容易造成误会的复杂度表达。如果我们只计算一对 p 维样本的 RBF 核值，距离计算与 p 成正比，所以是 O(p)。然而训练集有 n 个样本，完整两两核值矩阵有 n 平方个元素。直接计算全部元素通常要 O(n 平方乘 p) 的核计算工作，稠密保存要 O(n 平方) 空间。实际求解器可能按需计算、缓存部分核值，所以不能把完整矩阵实现当成所有软件的必经步骤。无论如何，对偶优化本身还需要工作。核技巧避免的是显式高维甚至无限维特征，不承诺大样本训练免费。</a:t>
            </a:r>
          </a:p>
          <a:p/>
          <a:p>
            <a:r>
              <a:t>互动与板书：</a:t>
            </a:r>
          </a:p>
          <a:p>
            <a:r>
              <a:t>可算例：n=10000，完整 float64 核矩阵约 800 MB，未含求解器其他开销。</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前面讲的是表示和计算，现在接回 SVM 本身。w 是特征空间里的法向量，第一项要求它的范数不要太大，对应扩大几何间隔。第二项惩罚松弛变量。一个样本虽然分类正确，但若落在间隔内部，也可能需要正的松弛变量，因此松弛并不只表示分错。约束要求有符号函数值尽量达到一。C 越大，模型越不愿接受违约，但这并不保证验证误差降低。对于无限维核，w 可以理解为相应 Hilbert 空间中的元素，而不是必须被电脑显式保存的一个数组。</a:t>
            </a:r>
          </a:p>
          <a:p/>
          <a:p>
            <a:r>
              <a:t>互动与板书：</a:t>
            </a:r>
          </a:p>
          <a:p>
            <a:r>
              <a:t>请区分：C 调整惩罚权衡；γ 调整 RBF 的作用范围；二者不是同一参数。</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我们暂时不逐行推拉格朗日函数，而是认清对偶公式的每一部分。alpha 是每个训练样本的系数，标签 y 决定正负方向，核值描述特征空间内积。对偶约束包括盒约束和一个加权标签和为零的等式。训练完成后，系数非零的样本被称为支持向量，它们进入预测求和。一个新样本要和这些支持向量逐一计算核值，再加偏置、看正负。普通 SVC 的这个分数不是自动校准的概率。软间隔里支持向量还可能落在间隔内或被分错，因此不能说所有支持向量都恰好站在两条边界线上。</a:t>
            </a:r>
          </a:p>
          <a:p/>
          <a:p>
            <a:r>
              <a:t>互动与板书：</a:t>
            </a:r>
          </a:p>
          <a:p>
            <a:r>
              <a:t>补充：若 0&lt;αᵢ&lt;C，理论上可由 KKT 用该样本求 b；全在边界时需求解器处理可行区间。</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回到最初的四个点，看看真正训练的模型。左图是线性核，它无法实现原空间本来不存在的直线分离；本次数值解的决策值接近零，所以没有画出一条假装有意义的唯一分界线。右图使用二次多项式核，参数严格对应一加点积再平方，训练后的四个标签全部正确。这里没有加入标准化，是为了让核公式与手算例子完全一致，不能照搬成所有实际任务的预处理建议。图中的曲线是原空间决策函数等于零的位置，并不是把六维超平面直接拍成二维。四点训练成功只说明能拟合这个例子。</a:t>
            </a:r>
          </a:p>
          <a:p/>
          <a:p>
            <a:r>
              <a:t>互动与板书：</a:t>
            </a:r>
          </a:p>
          <a:p>
            <a:r>
              <a:t>追问：六维核模型的最大间隔解，是否等于之前给出的三维人工平面？答：不必相同。</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实际任务中，我们不根据图形好看就宣布某个核最好。先留出测试集，再在训练集内部调参。标准化必须跟模型一起放入流水线：每一折只用该折训练部分计算均值和标准差，再变换验证部分。若先拿全体数据拟合标准化，就让验证信息泄漏进训练。RBF 对距离敏感，尺度特别重要；多项式核也会受到点积尺度影响。可以在对数尺度上搜索 C 和 gamma，并控制搜索规模。如果数据稀疏、维度很高，线性模型常是有竞争力的基线。最终结合验证表现、样本量、耗时和可解释性选择，而不是凭核的复杂程度排名。</a:t>
            </a:r>
          </a:p>
          <a:p/>
          <a:p>
            <a:r>
              <a:t>互动与板书：</a:t>
            </a:r>
          </a:p>
          <a:p>
            <a:r>
              <a:t>课堂例：年龄以年计、收入以元计，直接算距离谁会主导？引导学生说明标准化的必要性。</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我们用一分钟把逻辑串起来。异或告诉我们线性表示有局限；显式映射告诉我们可以加入交互，但特征数可能太多；核技巧告诉我们，只算特征内积就够了；半正定性确保这确实是某个特征空间里的内积；多项式核表达有限阶交互，高斯核通过距离对应无限维特征。最后 SVM 在那个特征空间里优化间隔，预测时只计算与支持向量的核值。请不要把三个概念混起来：映射决定表示，核提供内积计算方式，SVM 优化决定模型系数。学习完成的标志不是能背公式，而是能用一个具体例子解释这条链。</a:t>
            </a:r>
          </a:p>
          <a:p/>
          <a:p>
            <a:r>
              <a:t>互动与板书：</a:t>
            </a:r>
          </a:p>
          <a:p>
            <a:r>
              <a:t>板书只保留五个关键词，让学生按箭头口头复述。</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逐字稿：</a:t>
            </a:r>
          </a:p>
          <a:p>
            <a:r>
              <a:t>现在不看前面的页面，给大家两分钟讨论。第一题，不相同，它们包含的坐标与缩放不同，对应内积也不同。第二题，不一定，我们已经用一二二一那个矩阵构造了负的二次型。第三题，gamma 越大衰减越快，作用范围更窄。第四题，核值是特征内积，通常不是分类概率，甚至多项式核值可以大于一。第五题，训练全对只能说明拟合训练样本，泛化要靠严格隔离的数据评估。如果这五题中还有犹豫，请回到相应小节的例子，不要只重新背结论。课后请把二次核等价展开独立写一遍，再解释根号二来自哪里。</a:t>
            </a:r>
          </a:p>
          <a:p/>
          <a:p>
            <a:r>
              <a:t>互动与板书：</a:t>
            </a:r>
          </a:p>
          <a:p>
            <a:r>
              <a:t>教师收集错误最多的一题，下一次课前用对应反例复习；不要以全班齐声回答代替个体理解检查。</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同学们，今天学习非线性支持向量机中的核函数与核技巧。我们先用四个点构成的 XOR 例子看看直线为什么失效，再沿着五个小节学习如何改变特征表示。请带着三个问题听课：核函数计算什么，为什么它必须满足数学条件，以及核参数怎样影响模型。封面约用二十秒，不急于讲公式。</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这张目录给出今天的学习路线。第一步从 XOR 找到线性表示的限制，第二步用核技巧直接计算特征内积；第三步讨论对称半正定条件，避免把任意相似度误当成合法核；第四、第五步分别学习多项式核与高斯核。随后把核函数放回 SVM 的训练和预测流程，最后完成检测与小结。我们依次回答为什么需要、怎样计算、何时合法、如何选择这四个问题。</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最后请把今天的内容连成一条链。XOR 告诉我们，先要有足够的特征表示能力；核技巧告诉我们，可以只计算特征空间内积而不显式展开；对称半正定条件保证这种内积解释合法。多项式核提供有限阶交互，高斯核对应通常无限维的特征表示。SVM 再在特征空间中优化间隔，预测时计算与支持向量的核值。实践中要在训练折内标准化并交叉验证，不能凭训练准确率判断泛化。请大家课后独立完成三件事：展开二次核并解释根号二系数；说明 gamma 与 sigma 的反向关系；用一个二次型为负的例子否定候选矩阵的半正定性。</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5BCAD085-E8A6-8845-BD4E-CB4CCA059FC4}"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panose="020B0604020202020204"/>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panose="020B0604020202020204"/>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panose="020B0604020202020204"/>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7.3 非线性 SVM：核函数的五个小节</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导入</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① XOR 与升维  ② 核函数与核技巧  ③ 合法核条件</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④ 多项式核  ⑤ 高斯 RBF 核</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目标：能解释、会计算、懂选择，最后接回 SVM 训练</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先理解“为何需要”，再理解“如何计算”。</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导入</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03 / 25</a:t>
            </a:r>
            <a:endParaRPr>
              <a:ea typeface="微软雅黑" panose="020B0503020204020204" charset="-122"/>
            </a:endParaRP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sp>
        <p:nvSpPr>
          <p:cNvPr id="3"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一条直线为什么分不开 XOR？</a:t>
            </a:r>
            <a:endParaRPr>
              <a:ea typeface="微软雅黑" panose="020B0503020204020204" charset="-122"/>
            </a:endParaRPr>
          </a:p>
        </p:txBody>
      </p:sp>
      <p:sp>
        <p:nvSpPr>
          <p:cNvPr id="4" name="TextBox 3"/>
          <p:cNvSpPr txBox="1"/>
          <p:nvPr/>
        </p:nvSpPr>
        <p:spPr>
          <a:xfrm>
            <a:off x="12207240" y="594360"/>
            <a:ext cx="868680" cy="228600"/>
          </a:xfrm>
          <a:prstGeom prst="rect">
            <a:avLst/>
          </a:prstGeom>
          <a:noFill/>
        </p:spPr>
        <p:txBody>
          <a:bodyPr wrap="square" lIns="13716" tIns="0" rIns="13716" bIns="0">
            <a:spAutoFit/>
          </a:bodyPr>
          <a:lstStyle/>
          <a:p>
            <a:pPr>
              <a:spcAft>
                <a:spcPts val="500"/>
              </a:spcAft>
              <a:defRPr sz="1200" b="1">
                <a:solidFill>
                  <a:srgbClr val="E98726"/>
                </a:solidFill>
                <a:latin typeface="微软雅黑" panose="020B0503020204020204" charset="-122"/>
              </a:defRPr>
            </a:pPr>
            <a:r>
              <a:rPr>
                <a:ea typeface="微软雅黑" panose="020B0503020204020204" charset="-122"/>
              </a:rPr>
              <a:t>+1 正类</a:t>
            </a:r>
            <a:endParaRPr>
              <a:ea typeface="微软雅黑" panose="020B0503020204020204" charset="-122"/>
            </a:endParaRPr>
          </a:p>
        </p:txBody>
      </p:sp>
      <p:sp>
        <p:nvSpPr>
          <p:cNvPr id="5" name="TextBox 4"/>
          <p:cNvSpPr txBox="1"/>
          <p:nvPr/>
        </p:nvSpPr>
        <p:spPr>
          <a:xfrm>
            <a:off x="13213080" y="594360"/>
            <a:ext cx="868680" cy="228600"/>
          </a:xfrm>
          <a:prstGeom prst="rect">
            <a:avLst/>
          </a:prstGeom>
          <a:noFill/>
        </p:spPr>
        <p:txBody>
          <a:bodyPr wrap="square" lIns="13716" tIns="0" rIns="13716" bIns="0">
            <a:spAutoFit/>
          </a:bodyPr>
          <a:lstStyle/>
          <a:p>
            <a:pPr>
              <a:spcAft>
                <a:spcPts val="500"/>
              </a:spcAft>
              <a:defRPr sz="1200" b="1">
                <a:solidFill>
                  <a:srgbClr val="2878B8"/>
                </a:solidFill>
                <a:latin typeface="微软雅黑" panose="020B0503020204020204" charset="-122"/>
              </a:defRPr>
            </a:pPr>
            <a:r>
              <a:rPr>
                <a:ea typeface="微软雅黑" panose="020B0503020204020204" charset="-122"/>
              </a:rPr>
              <a:t>−1 负类</a:t>
            </a:r>
            <a:endParaRPr>
              <a:ea typeface="微软雅黑" panose="020B0503020204020204" charset="-122"/>
            </a:endParaRPr>
          </a:p>
        </p:txBody>
      </p:sp>
      <p:cxnSp>
        <p:nvCxnSpPr>
          <p:cNvPr id="6"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7"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04 / 25</a:t>
            </a:r>
            <a:endParaRPr>
              <a:ea typeface="微软雅黑" panose="020B0503020204020204" charset="-122"/>
            </a:endParaRPr>
          </a:p>
        </p:txBody>
      </p:sp>
      <p:sp>
        <p:nvSpPr>
          <p:cNvPr id="8" name="TextBox 28"/>
          <p:cNvSpPr txBox="1"/>
          <p:nvPr/>
        </p:nvSpPr>
        <p:spPr>
          <a:xfrm>
            <a:off x="2103120" y="6565392"/>
            <a:ext cx="4480560" cy="365760"/>
          </a:xfrm>
          <a:prstGeom prst="rect">
            <a:avLst/>
          </a:prstGeom>
          <a:noFill/>
        </p:spPr>
        <p:txBody>
          <a:bodyPr wrap="square" lIns="13716" tIns="0" rIns="13716" bIns="0">
            <a:spAutoFit/>
          </a:bodyPr>
          <a:lstStyle/>
          <a:p>
            <a:pPr>
              <a:spcAft>
                <a:spcPts val="500"/>
              </a:spcAft>
              <a:defRPr sz="2000" b="1">
                <a:solidFill>
                  <a:srgbClr val="142F50"/>
                </a:solidFill>
                <a:latin typeface="微软雅黑" panose="020B0503020204020204" charset="-122"/>
              </a:defRPr>
            </a:pPr>
            <a:r>
              <a:rPr>
                <a:ea typeface="微软雅黑" panose="020B0503020204020204" charset="-122"/>
              </a:rPr>
              <a:t>两类凸包相交于 (0.5, 0.5)</a:t>
            </a:r>
            <a:endParaRPr>
              <a:ea typeface="微软雅黑" panose="020B0503020204020204" charset="-122"/>
            </a:endParaRPr>
          </a:p>
        </p:txBody>
      </p:sp>
      <p:sp>
        <p:nvSpPr>
          <p:cNvPr id="9" name="TextBox 29"/>
          <p:cNvSpPr txBox="1"/>
          <p:nvPr/>
        </p:nvSpPr>
        <p:spPr>
          <a:xfrm>
            <a:off x="7086600" y="1298448"/>
            <a:ext cx="6583680" cy="365760"/>
          </a:xfrm>
          <a:prstGeom prst="rect">
            <a:avLst/>
          </a:prstGeom>
          <a:noFill/>
        </p:spPr>
        <p:txBody>
          <a:bodyPr wrap="square" lIns="13716" tIns="0" rIns="13716" bIns="0">
            <a:spAutoFit/>
          </a:bodyPr>
          <a:lstStyle/>
          <a:p>
            <a:pPr>
              <a:spcAft>
                <a:spcPts val="500"/>
              </a:spcAft>
              <a:defRPr sz="2200" b="1">
                <a:solidFill>
                  <a:srgbClr val="142F50"/>
                </a:solidFill>
                <a:latin typeface="微软雅黑" panose="020B0503020204020204" charset="-122"/>
              </a:defRPr>
            </a:pPr>
            <a:r>
              <a:rPr>
                <a:ea typeface="微软雅黑" panose="020B0503020204020204" charset="-122"/>
              </a:rPr>
              <a:t>线性 SVM 的决策规则</a:t>
            </a:r>
            <a:endParaRPr>
              <a:ea typeface="微软雅黑" panose="020B0503020204020204" charset="-122"/>
            </a:endParaRPr>
          </a:p>
        </p:txBody>
      </p:sp>
      <p:sp>
        <p:nvSpPr>
          <p:cNvPr id="10" name="TextBox 30"/>
          <p:cNvSpPr txBox="1"/>
          <p:nvPr/>
        </p:nvSpPr>
        <p:spPr>
          <a:xfrm>
            <a:off x="7086600" y="1856231"/>
            <a:ext cx="6400800" cy="457200"/>
          </a:xfrm>
          <a:prstGeom prst="rect">
            <a:avLst/>
          </a:prstGeom>
          <a:noFill/>
        </p:spPr>
        <p:txBody>
          <a:bodyPr wrap="square" lIns="13716" tIns="0" rIns="13716" bIns="0">
            <a:spAutoFit/>
          </a:bodyPr>
          <a:lstStyle/>
          <a:p>
            <a:pPr>
              <a:spcAft>
                <a:spcPts val="500"/>
              </a:spcAft>
              <a:defRPr sz="2300" b="0">
                <a:solidFill>
                  <a:srgbClr val="142F50"/>
                </a:solidFill>
                <a:latin typeface="Cambria Math" panose="02040503050406030204"/>
              </a:defRPr>
            </a:pPr>
            <a:r>
              <a:rPr>
                <a:ea typeface="Cambria Math" panose="02040503050406030204"/>
              </a:rPr>
              <a:t>f(x) = wᵀx + b      ŷ = sign(f(x))</a:t>
            </a:r>
            <a:endParaRPr>
              <a:ea typeface="Cambria Math" panose="02040503050406030204"/>
            </a:endParaRPr>
          </a:p>
        </p:txBody>
      </p:sp>
      <p:graphicFrame>
        <p:nvGraphicFramePr>
          <p:cNvPr id="11" name="Table 31"/>
          <p:cNvGraphicFramePr>
            <a:graphicFrameLocks noGrp="1"/>
          </p:cNvGraphicFramePr>
          <p:nvPr/>
        </p:nvGraphicFramePr>
        <p:xfrm>
          <a:off x="7086600" y="2697480"/>
          <a:ext cx="6217920" cy="2606039"/>
        </p:xfrm>
        <a:graphic>
          <a:graphicData uri="http://schemas.openxmlformats.org/drawingml/2006/table">
            <a:tbl>
              <a:tblPr firstRow="1" bandRow="1">
                <a:tableStyleId>{5C22544A-7EE6-4342-B048-85BDC9FD1C3A}</a:tableStyleId>
              </a:tblPr>
              <a:tblGrid>
                <a:gridCol w="1554480"/>
                <a:gridCol w="1554480"/>
                <a:gridCol w="1554480"/>
                <a:gridCol w="1554480"/>
              </a:tblGrid>
              <a:tr h="521207">
                <a:tc>
                  <a:txBody>
                    <a:bodyPr/>
                    <a:lstStyle/>
                    <a:p>
                      <a:pPr>
                        <a:defRPr sz="2000" b="1">
                          <a:solidFill>
                            <a:srgbClr val="FFFFFF"/>
                          </a:solidFill>
                          <a:latin typeface="微软雅黑" panose="020B0503020204020204" charset="-122"/>
                        </a:defRPr>
                      </a:pPr>
                      <a:r>
                        <a:t>x₁</a:t>
                      </a:r>
                    </a:p>
                  </a:txBody>
                  <a:tcPr marL="109728" marR="54864" marT="54864" marB="36576">
                    <a:solidFill>
                      <a:srgbClr val="142F50"/>
                    </a:solidFill>
                  </a:tcPr>
                </a:tc>
                <a:tc>
                  <a:txBody>
                    <a:bodyPr/>
                    <a:lstStyle/>
                    <a:p>
                      <a:pPr>
                        <a:defRPr sz="2000" b="1">
                          <a:solidFill>
                            <a:srgbClr val="FFFFFF"/>
                          </a:solidFill>
                          <a:latin typeface="微软雅黑" panose="020B0503020204020204" charset="-122"/>
                        </a:defRPr>
                      </a:pPr>
                      <a:r>
                        <a:t>x₂</a:t>
                      </a:r>
                    </a:p>
                  </a:txBody>
                  <a:tcPr marL="109728" marR="54864" marT="54864" marB="36576">
                    <a:solidFill>
                      <a:srgbClr val="142F50"/>
                    </a:solidFill>
                  </a:tcPr>
                </a:tc>
                <a:tc>
                  <a:txBody>
                    <a:bodyPr/>
                    <a:lstStyle/>
                    <a:p>
                      <a:pPr>
                        <a:defRPr sz="2000" b="1">
                          <a:solidFill>
                            <a:srgbClr val="FFFFFF"/>
                          </a:solidFill>
                          <a:latin typeface="微软雅黑" panose="020B0503020204020204" charset="-122"/>
                        </a:defRPr>
                      </a:pPr>
                      <a:r>
                        <a:t>XOR 输出</a:t>
                      </a:r>
                    </a:p>
                  </a:txBody>
                  <a:tcPr marL="109728" marR="54864" marT="54864" marB="36576">
                    <a:solidFill>
                      <a:srgbClr val="142F50"/>
                    </a:solidFill>
                  </a:tcPr>
                </a:tc>
                <a:tc>
                  <a:txBody>
                    <a:bodyPr/>
                    <a:lstStyle/>
                    <a:p>
                      <a:pPr>
                        <a:defRPr sz="2000" b="1">
                          <a:solidFill>
                            <a:srgbClr val="FFFFFF"/>
                          </a:solidFill>
                          <a:latin typeface="微软雅黑" panose="020B0503020204020204" charset="-122"/>
                        </a:defRPr>
                      </a:pPr>
                      <a:r>
                        <a:t>类别 y</a:t>
                      </a:r>
                    </a:p>
                  </a:txBody>
                  <a:tcPr marL="109728" marR="54864" marT="54864" marB="36576">
                    <a:solidFill>
                      <a:srgbClr val="142F50"/>
                    </a:solidFill>
                  </a:tcPr>
                </a:tc>
              </a:tr>
              <a:tr h="521207">
                <a:tc>
                  <a:txBody>
                    <a:bodyPr/>
                    <a:lstStyle/>
                    <a:p>
                      <a:pPr>
                        <a:defRPr sz="2000" b="0">
                          <a:solidFill>
                            <a:srgbClr val="243A50"/>
                          </a:solidFill>
                          <a:latin typeface="微软雅黑" panose="020B0503020204020204" charset="-122"/>
                        </a:defRPr>
                      </a:pPr>
                      <a:r>
                        <a:t>0</a:t>
                      </a:r>
                    </a:p>
                  </a:txBody>
                  <a:tcPr marL="109728" marR="54864" marT="54864" marB="36576">
                    <a:solidFill>
                      <a:srgbClr val="F0F4F8"/>
                    </a:solidFill>
                  </a:tcPr>
                </a:tc>
                <a:tc>
                  <a:txBody>
                    <a:bodyPr/>
                    <a:lstStyle/>
                    <a:p>
                      <a:pPr>
                        <a:defRPr sz="2000" b="0">
                          <a:solidFill>
                            <a:srgbClr val="243A50"/>
                          </a:solidFill>
                          <a:latin typeface="微软雅黑" panose="020B0503020204020204" charset="-122"/>
                        </a:defRPr>
                      </a:pPr>
                      <a:r>
                        <a:t>0</a:t>
                      </a:r>
                    </a:p>
                  </a:txBody>
                  <a:tcPr marL="109728" marR="54864" marT="54864" marB="36576">
                    <a:solidFill>
                      <a:srgbClr val="F0F4F8"/>
                    </a:solidFill>
                  </a:tcPr>
                </a:tc>
                <a:tc>
                  <a:txBody>
                    <a:bodyPr/>
                    <a:lstStyle/>
                    <a:p>
                      <a:pPr>
                        <a:defRPr sz="2000" b="0">
                          <a:solidFill>
                            <a:srgbClr val="243A50"/>
                          </a:solidFill>
                          <a:latin typeface="微软雅黑" panose="020B0503020204020204" charset="-122"/>
                        </a:defRPr>
                      </a:pPr>
                      <a:r>
                        <a:t>0</a:t>
                      </a:r>
                    </a:p>
                  </a:txBody>
                  <a:tcPr marL="109728" marR="54864" marT="54864" marB="36576">
                    <a:solidFill>
                      <a:srgbClr val="F0F4F8"/>
                    </a:solidFill>
                  </a:tcPr>
                </a:tc>
                <a:tc>
                  <a:txBody>
                    <a:bodyPr/>
                    <a:lstStyle/>
                    <a:p>
                      <a:pPr>
                        <a:defRPr sz="2000" b="0">
                          <a:solidFill>
                            <a:srgbClr val="243A50"/>
                          </a:solidFill>
                          <a:latin typeface="微软雅黑" panose="020B0503020204020204" charset="-122"/>
                        </a:defRPr>
                      </a:pPr>
                      <a:r>
                        <a:t>−1</a:t>
                      </a:r>
                    </a:p>
                  </a:txBody>
                  <a:tcPr marL="109728" marR="54864" marT="54864" marB="36576">
                    <a:solidFill>
                      <a:srgbClr val="F0F4F8"/>
                    </a:solidFill>
                  </a:tcPr>
                </a:tc>
              </a:tr>
              <a:tr h="521207">
                <a:tc>
                  <a:txBody>
                    <a:bodyPr/>
                    <a:lstStyle/>
                    <a:p>
                      <a:pPr>
                        <a:defRPr sz="2000" b="0">
                          <a:solidFill>
                            <a:srgbClr val="243A50"/>
                          </a:solidFill>
                          <a:latin typeface="微软雅黑" panose="020B0503020204020204" charset="-122"/>
                        </a:defRPr>
                      </a:pPr>
                      <a:r>
                        <a:t>0</a:t>
                      </a:r>
                    </a:p>
                  </a:txBody>
                  <a:tcPr marL="109728" marR="54864" marT="54864" marB="36576">
                    <a:solidFill>
                      <a:srgbClr val="FFFFFF"/>
                    </a:solidFill>
                  </a:tcPr>
                </a:tc>
                <a:tc>
                  <a:txBody>
                    <a:bodyPr/>
                    <a:lstStyle/>
                    <a:p>
                      <a:pPr>
                        <a:defRPr sz="2000" b="0">
                          <a:solidFill>
                            <a:srgbClr val="243A50"/>
                          </a:solidFill>
                          <a:latin typeface="微软雅黑" panose="020B0503020204020204" charset="-122"/>
                        </a:defRPr>
                      </a:pPr>
                      <a:r>
                        <a:t>1</a:t>
                      </a:r>
                    </a:p>
                  </a:txBody>
                  <a:tcPr marL="109728" marR="54864" marT="54864" marB="36576">
                    <a:solidFill>
                      <a:srgbClr val="FFFFFF"/>
                    </a:solidFill>
                  </a:tcPr>
                </a:tc>
                <a:tc>
                  <a:txBody>
                    <a:bodyPr/>
                    <a:lstStyle/>
                    <a:p>
                      <a:pPr>
                        <a:defRPr sz="2000" b="0">
                          <a:solidFill>
                            <a:srgbClr val="243A50"/>
                          </a:solidFill>
                          <a:latin typeface="微软雅黑" panose="020B0503020204020204" charset="-122"/>
                        </a:defRPr>
                      </a:pPr>
                      <a:r>
                        <a:t>1</a:t>
                      </a:r>
                    </a:p>
                  </a:txBody>
                  <a:tcPr marL="109728" marR="54864" marT="54864" marB="36576">
                    <a:solidFill>
                      <a:srgbClr val="FFFFFF"/>
                    </a:solidFill>
                  </a:tcPr>
                </a:tc>
                <a:tc>
                  <a:txBody>
                    <a:bodyPr/>
                    <a:lstStyle/>
                    <a:p>
                      <a:pPr>
                        <a:defRPr sz="2000" b="0">
                          <a:solidFill>
                            <a:srgbClr val="243A50"/>
                          </a:solidFill>
                          <a:latin typeface="微软雅黑" panose="020B0503020204020204" charset="-122"/>
                        </a:defRPr>
                      </a:pPr>
                      <a:r>
                        <a:t>+1</a:t>
                      </a:r>
                    </a:p>
                  </a:txBody>
                  <a:tcPr marL="109728" marR="54864" marT="54864" marB="36576">
                    <a:solidFill>
                      <a:srgbClr val="FFFFFF"/>
                    </a:solidFill>
                  </a:tcPr>
                </a:tc>
              </a:tr>
              <a:tr h="521207">
                <a:tc>
                  <a:txBody>
                    <a:bodyPr/>
                    <a:lstStyle/>
                    <a:p>
                      <a:pPr>
                        <a:defRPr sz="2000" b="0">
                          <a:solidFill>
                            <a:srgbClr val="243A50"/>
                          </a:solidFill>
                          <a:latin typeface="微软雅黑" panose="020B0503020204020204" charset="-122"/>
                        </a:defRPr>
                      </a:pPr>
                      <a:r>
                        <a:t>1</a:t>
                      </a:r>
                    </a:p>
                  </a:txBody>
                  <a:tcPr marL="109728" marR="54864" marT="54864" marB="36576">
                    <a:solidFill>
                      <a:srgbClr val="F0F4F8"/>
                    </a:solidFill>
                  </a:tcPr>
                </a:tc>
                <a:tc>
                  <a:txBody>
                    <a:bodyPr/>
                    <a:lstStyle/>
                    <a:p>
                      <a:pPr>
                        <a:defRPr sz="2000" b="0">
                          <a:solidFill>
                            <a:srgbClr val="243A50"/>
                          </a:solidFill>
                          <a:latin typeface="微软雅黑" panose="020B0503020204020204" charset="-122"/>
                        </a:defRPr>
                      </a:pPr>
                      <a:r>
                        <a:t>0</a:t>
                      </a:r>
                    </a:p>
                  </a:txBody>
                  <a:tcPr marL="109728" marR="54864" marT="54864" marB="36576">
                    <a:solidFill>
                      <a:srgbClr val="F0F4F8"/>
                    </a:solidFill>
                  </a:tcPr>
                </a:tc>
                <a:tc>
                  <a:txBody>
                    <a:bodyPr/>
                    <a:lstStyle/>
                    <a:p>
                      <a:pPr>
                        <a:defRPr sz="2000" b="0">
                          <a:solidFill>
                            <a:srgbClr val="243A50"/>
                          </a:solidFill>
                          <a:latin typeface="微软雅黑" panose="020B0503020204020204" charset="-122"/>
                        </a:defRPr>
                      </a:pPr>
                      <a:r>
                        <a:t>1</a:t>
                      </a:r>
                    </a:p>
                  </a:txBody>
                  <a:tcPr marL="109728" marR="54864" marT="54864" marB="36576">
                    <a:solidFill>
                      <a:srgbClr val="F0F4F8"/>
                    </a:solidFill>
                  </a:tcPr>
                </a:tc>
                <a:tc>
                  <a:txBody>
                    <a:bodyPr/>
                    <a:lstStyle/>
                    <a:p>
                      <a:pPr>
                        <a:defRPr sz="2000" b="0">
                          <a:solidFill>
                            <a:srgbClr val="243A50"/>
                          </a:solidFill>
                          <a:latin typeface="微软雅黑" panose="020B0503020204020204" charset="-122"/>
                        </a:defRPr>
                      </a:pPr>
                      <a:r>
                        <a:t>+1</a:t>
                      </a:r>
                    </a:p>
                  </a:txBody>
                  <a:tcPr marL="109728" marR="54864" marT="54864" marB="36576">
                    <a:solidFill>
                      <a:srgbClr val="F0F4F8"/>
                    </a:solidFill>
                  </a:tcPr>
                </a:tc>
              </a:tr>
              <a:tr h="521211">
                <a:tc>
                  <a:txBody>
                    <a:bodyPr/>
                    <a:lstStyle/>
                    <a:p>
                      <a:pPr>
                        <a:defRPr sz="2000" b="0">
                          <a:solidFill>
                            <a:srgbClr val="243A50"/>
                          </a:solidFill>
                          <a:latin typeface="微软雅黑" panose="020B0503020204020204" charset="-122"/>
                        </a:defRPr>
                      </a:pPr>
                      <a:r>
                        <a:t>1</a:t>
                      </a:r>
                    </a:p>
                  </a:txBody>
                  <a:tcPr marL="109728" marR="54864" marT="54864" marB="36576">
                    <a:solidFill>
                      <a:srgbClr val="FFFFFF"/>
                    </a:solidFill>
                  </a:tcPr>
                </a:tc>
                <a:tc>
                  <a:txBody>
                    <a:bodyPr/>
                    <a:lstStyle/>
                    <a:p>
                      <a:pPr>
                        <a:defRPr sz="2000" b="0">
                          <a:solidFill>
                            <a:srgbClr val="243A50"/>
                          </a:solidFill>
                          <a:latin typeface="微软雅黑" panose="020B0503020204020204" charset="-122"/>
                        </a:defRPr>
                      </a:pPr>
                      <a:r>
                        <a:t>1</a:t>
                      </a:r>
                    </a:p>
                  </a:txBody>
                  <a:tcPr marL="109728" marR="54864" marT="54864" marB="36576">
                    <a:solidFill>
                      <a:srgbClr val="FFFFFF"/>
                    </a:solidFill>
                  </a:tcPr>
                </a:tc>
                <a:tc>
                  <a:txBody>
                    <a:bodyPr/>
                    <a:lstStyle/>
                    <a:p>
                      <a:pPr>
                        <a:defRPr sz="2000" b="0">
                          <a:solidFill>
                            <a:srgbClr val="243A50"/>
                          </a:solidFill>
                          <a:latin typeface="微软雅黑" panose="020B0503020204020204" charset="-122"/>
                        </a:defRPr>
                      </a:pPr>
                      <a:r>
                        <a:t>0</a:t>
                      </a:r>
                    </a:p>
                  </a:txBody>
                  <a:tcPr marL="109728" marR="54864" marT="54864" marB="36576">
                    <a:solidFill>
                      <a:srgbClr val="FFFFFF"/>
                    </a:solidFill>
                  </a:tcPr>
                </a:tc>
                <a:tc>
                  <a:txBody>
                    <a:bodyPr/>
                    <a:lstStyle/>
                    <a:p>
                      <a:pPr>
                        <a:defRPr sz="2000" b="0">
                          <a:solidFill>
                            <a:srgbClr val="243A50"/>
                          </a:solidFill>
                          <a:latin typeface="微软雅黑" panose="020B0503020204020204" charset="-122"/>
                        </a:defRPr>
                      </a:pPr>
                      <a:r>
                        <a:t>−1</a:t>
                      </a:r>
                    </a:p>
                  </a:txBody>
                  <a:tcPr marL="109728" marR="54864" marT="54864" marB="36576">
                    <a:solidFill>
                      <a:srgbClr val="FFFFFF"/>
                    </a:solidFill>
                  </a:tcPr>
                </a:tc>
              </a:tr>
            </a:tbl>
          </a:graphicData>
        </a:graphic>
      </p:graphicFrame>
      <p:sp>
        <p:nvSpPr>
          <p:cNvPr id="12" name="TextBox 32"/>
          <p:cNvSpPr txBox="1"/>
          <p:nvPr/>
        </p:nvSpPr>
        <p:spPr>
          <a:xfrm>
            <a:off x="7086600" y="5669280"/>
            <a:ext cx="6217920" cy="822960"/>
          </a:xfrm>
          <a:prstGeom prst="rect">
            <a:avLst/>
          </a:prstGeom>
          <a:noFill/>
        </p:spPr>
        <p:txBody>
          <a:bodyPr wrap="square" lIns="13716" tIns="0" rIns="13716" bIns="0">
            <a:spAutoFit/>
          </a:bodyPr>
          <a:lstStyle/>
          <a:p>
            <a:pPr>
              <a:spcAft>
                <a:spcPts val="500"/>
              </a:spcAft>
              <a:defRPr sz="2000" b="0">
                <a:solidFill>
                  <a:srgbClr val="243A50"/>
                </a:solidFill>
                <a:latin typeface="微软雅黑" panose="020B0503020204020204" charset="-122"/>
              </a:defRPr>
            </a:pPr>
            <a:r>
              <a:rPr>
                <a:ea typeface="微软雅黑" panose="020B0503020204020204" charset="-122"/>
              </a:rPr>
              <a:t>w 为法向量，b 为偏置。</a:t>
            </a:r>
            <a:endParaRPr>
              <a:ea typeface="微软雅黑" panose="020B0503020204020204" charset="-122"/>
            </a:endParaRPr>
          </a:p>
          <a:p>
            <a:pPr>
              <a:spcAft>
                <a:spcPts val="500"/>
              </a:spcAft>
              <a:defRPr sz="2000" b="0">
                <a:solidFill>
                  <a:srgbClr val="243A50"/>
                </a:solidFill>
                <a:latin typeface="微软雅黑" panose="020B0503020204020204" charset="-122"/>
              </a:defRPr>
            </a:pPr>
            <a:r>
              <a:rPr>
                <a:ea typeface="微软雅黑" panose="020B0503020204020204" charset="-122"/>
              </a:rPr>
              <a:t>最大间隔不能消除线性表示的局限。</a:t>
            </a:r>
            <a:endParaRPr>
              <a:ea typeface="微软雅黑" panose="020B0503020204020204" charset="-122"/>
            </a:endParaRPr>
          </a:p>
        </p:txBody>
      </p:sp>
      <p:sp>
        <p:nvSpPr>
          <p:cNvPr id="13" name="TextBox 33"/>
          <p:cNvSpPr txBox="1"/>
          <p:nvPr/>
        </p:nvSpPr>
        <p:spPr>
          <a:xfrm>
            <a:off x="7086600" y="6693408"/>
            <a:ext cx="6400800" cy="621792"/>
          </a:xfrm>
          <a:prstGeom prst="rect">
            <a:avLst/>
          </a:prstGeom>
          <a:noFill/>
        </p:spPr>
        <p:txBody>
          <a:bodyPr wrap="square" lIns="13716" tIns="0" rIns="13716" bIns="0">
            <a:spAutoFit/>
          </a:bodyPr>
          <a:lstStyle/>
          <a:p>
            <a:pPr>
              <a:spcAft>
                <a:spcPts val="400"/>
              </a:spcAft>
              <a:defRPr sz="2000" b="1">
                <a:solidFill>
                  <a:srgbClr val="142F50"/>
                </a:solidFill>
                <a:latin typeface="微软雅黑" panose="020B0503020204020204" charset="-122"/>
              </a:defRPr>
            </a:pPr>
            <a:r>
              <a:rPr>
                <a:ea typeface="微软雅黑" panose="020B0503020204020204" charset="-122"/>
              </a:rPr>
              <a:t>凸包相交，单条直线无法完全分离；</a:t>
            </a:r>
            <a:endParaRPr>
              <a:ea typeface="微软雅黑" panose="020B0503020204020204" charset="-122"/>
            </a:endParaRPr>
          </a:p>
          <a:p>
            <a:pPr>
              <a:spcAft>
                <a:spcPts val="400"/>
              </a:spcAft>
              <a:defRPr sz="2000" b="1">
                <a:solidFill>
                  <a:srgbClr val="142F50"/>
                </a:solidFill>
                <a:latin typeface="微软雅黑" panose="020B0503020204020204" charset="-122"/>
              </a:defRPr>
            </a:pPr>
            <a:r>
              <a:rPr>
                <a:ea typeface="微软雅黑" panose="020B0503020204020204" charset="-122"/>
              </a:rPr>
              <a:t>因此需要非线性特征映射。</a:t>
            </a:r>
            <a:endParaRPr>
              <a:ea typeface="微软雅黑" panose="020B0503020204020204" charset="-122"/>
            </a:endParaRPr>
          </a:p>
        </p:txBody>
      </p:sp>
      <p:sp>
        <p:nvSpPr>
          <p:cNvPr id="14" name="TextBox 34"/>
          <p:cNvSpPr txBox="1"/>
          <p:nvPr/>
        </p:nvSpPr>
        <p:spPr>
          <a:xfrm>
            <a:off x="594360" y="7647559"/>
            <a:ext cx="13441680" cy="18415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 XOR 原始二维空间；连线表示两类样本各自的凸包，不是模型分类边界。</a:t>
            </a:r>
            <a:endParaRPr>
              <a:ea typeface="微软雅黑" panose="020B0503020204020204" charset="-122"/>
            </a:endParaRPr>
          </a:p>
        </p:txBody>
      </p:sp>
      <p:cxnSp>
        <p:nvCxnSpPr>
          <p:cNvPr id="15" name="Connector 35"/>
          <p:cNvCxnSpPr/>
          <p:nvPr/>
        </p:nvCxnSpPr>
        <p:spPr>
          <a:xfrm flipV="1">
            <a:off x="1813559" y="1508760"/>
            <a:ext cx="0" cy="457200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6" name="Connector 36"/>
          <p:cNvCxnSpPr/>
          <p:nvPr/>
        </p:nvCxnSpPr>
        <p:spPr>
          <a:xfrm>
            <a:off x="1051560" y="5318760"/>
            <a:ext cx="457200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17" name="editable_text"/>
          <p:cNvSpPr txBox="1"/>
          <p:nvPr/>
        </p:nvSpPr>
        <p:spPr>
          <a:xfrm>
            <a:off x="1703832" y="6112764"/>
            <a:ext cx="320040"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sp>
        <p:nvSpPr>
          <p:cNvPr id="18" name="editable_text"/>
          <p:cNvSpPr txBox="1"/>
          <p:nvPr/>
        </p:nvSpPr>
        <p:spPr>
          <a:xfrm>
            <a:off x="777239" y="5209032"/>
            <a:ext cx="256032"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cxnSp>
        <p:nvCxnSpPr>
          <p:cNvPr id="19" name="Connector 39"/>
          <p:cNvCxnSpPr/>
          <p:nvPr/>
        </p:nvCxnSpPr>
        <p:spPr>
          <a:xfrm flipV="1">
            <a:off x="4861560" y="1508760"/>
            <a:ext cx="0" cy="457200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20" name="Connector 40"/>
          <p:cNvCxnSpPr/>
          <p:nvPr/>
        </p:nvCxnSpPr>
        <p:spPr>
          <a:xfrm>
            <a:off x="1051560" y="2270760"/>
            <a:ext cx="457200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21" name="editable_text"/>
          <p:cNvSpPr txBox="1"/>
          <p:nvPr/>
        </p:nvSpPr>
        <p:spPr>
          <a:xfrm>
            <a:off x="4751832" y="6112764"/>
            <a:ext cx="320040"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sp>
        <p:nvSpPr>
          <p:cNvPr id="22" name="editable_text"/>
          <p:cNvSpPr txBox="1"/>
          <p:nvPr/>
        </p:nvSpPr>
        <p:spPr>
          <a:xfrm>
            <a:off x="777239" y="2161032"/>
            <a:ext cx="256032"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cxnSp>
        <p:nvCxnSpPr>
          <p:cNvPr id="23" name="Connector 43"/>
          <p:cNvCxnSpPr/>
          <p:nvPr/>
        </p:nvCxnSpPr>
        <p:spPr>
          <a:xfrm>
            <a:off x="1051560" y="6080760"/>
            <a:ext cx="4572000" cy="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cxnSp>
        <p:nvCxnSpPr>
          <p:cNvPr id="24" name="Connector 44"/>
          <p:cNvCxnSpPr/>
          <p:nvPr/>
        </p:nvCxnSpPr>
        <p:spPr>
          <a:xfrm>
            <a:off x="1051560" y="1508760"/>
            <a:ext cx="0" cy="457200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sp>
        <p:nvSpPr>
          <p:cNvPr id="25" name="editable_text"/>
          <p:cNvSpPr txBox="1"/>
          <p:nvPr/>
        </p:nvSpPr>
        <p:spPr>
          <a:xfrm>
            <a:off x="5532120" y="6336792"/>
            <a:ext cx="457200" cy="292608"/>
          </a:xfrm>
          <a:prstGeom prst="rect">
            <a:avLst/>
          </a:prstGeom>
          <a:noFill/>
        </p:spPr>
        <p:txBody>
          <a:bodyPr wrap="square" lIns="13716" tIns="0" rIns="13716" bIns="0">
            <a:spAutoFit/>
          </a:bodyPr>
          <a:lstStyle/>
          <a:p>
            <a:pPr>
              <a:spcAft>
                <a:spcPts val="400"/>
              </a:spcAft>
              <a:defRPr sz="1500" b="0">
                <a:solidFill>
                  <a:srgbClr val="142F50"/>
                </a:solidFill>
                <a:latin typeface="微软雅黑" panose="020B0503020204020204" charset="-122"/>
              </a:defRPr>
            </a:pPr>
            <a:r>
              <a:rPr>
                <a:ea typeface="微软雅黑" panose="020B0503020204020204" charset="-122"/>
              </a:rPr>
              <a:t>x₁</a:t>
            </a:r>
            <a:endParaRPr>
              <a:ea typeface="微软雅黑" panose="020B0503020204020204" charset="-122"/>
            </a:endParaRPr>
          </a:p>
        </p:txBody>
      </p:sp>
      <p:sp>
        <p:nvSpPr>
          <p:cNvPr id="26" name="editable_text"/>
          <p:cNvSpPr txBox="1"/>
          <p:nvPr/>
        </p:nvSpPr>
        <p:spPr>
          <a:xfrm>
            <a:off x="704087" y="1389888"/>
            <a:ext cx="457200" cy="292608"/>
          </a:xfrm>
          <a:prstGeom prst="rect">
            <a:avLst/>
          </a:prstGeom>
          <a:noFill/>
        </p:spPr>
        <p:txBody>
          <a:bodyPr wrap="square" lIns="13716" tIns="0" rIns="13716" bIns="0">
            <a:spAutoFit/>
          </a:bodyPr>
          <a:lstStyle/>
          <a:p>
            <a:pPr>
              <a:spcAft>
                <a:spcPts val="400"/>
              </a:spcAft>
              <a:defRPr sz="1500" b="0">
                <a:solidFill>
                  <a:srgbClr val="142F50"/>
                </a:solidFill>
                <a:latin typeface="微软雅黑" panose="020B0503020204020204" charset="-122"/>
              </a:defRPr>
            </a:pPr>
            <a:r>
              <a:rPr>
                <a:ea typeface="微软雅黑" panose="020B0503020204020204" charset="-122"/>
              </a:rPr>
              <a:t>x₂</a:t>
            </a:r>
            <a:endParaRPr>
              <a:ea typeface="微软雅黑" panose="020B0503020204020204" charset="-122"/>
            </a:endParaRPr>
          </a:p>
        </p:txBody>
      </p:sp>
      <p:cxnSp>
        <p:nvCxnSpPr>
          <p:cNvPr id="27" name="Connector 47"/>
          <p:cNvCxnSpPr/>
          <p:nvPr/>
        </p:nvCxnSpPr>
        <p:spPr>
          <a:xfrm flipV="1">
            <a:off x="1813559" y="2270760"/>
            <a:ext cx="3048001" cy="3048000"/>
          </a:xfrm>
          <a:prstGeom prst="line">
            <a:avLst/>
          </a:prstGeom>
          <a:ln w="25400">
            <a:solidFill>
              <a:srgbClr val="2878B8"/>
            </a:solidFill>
          </a:ln>
        </p:spPr>
        <p:style>
          <a:lnRef idx="2">
            <a:schemeClr val="accent1"/>
          </a:lnRef>
          <a:fillRef idx="0">
            <a:schemeClr val="accent1"/>
          </a:fillRef>
          <a:effectRef idx="1">
            <a:schemeClr val="accent1"/>
          </a:effectRef>
          <a:fontRef idx="minor">
            <a:schemeClr val="tx1"/>
          </a:fontRef>
        </p:style>
      </p:cxnSp>
      <p:cxnSp>
        <p:nvCxnSpPr>
          <p:cNvPr id="28" name="Connector 48"/>
          <p:cNvCxnSpPr/>
          <p:nvPr/>
        </p:nvCxnSpPr>
        <p:spPr>
          <a:xfrm>
            <a:off x="1813559" y="2270760"/>
            <a:ext cx="3048001" cy="3048000"/>
          </a:xfrm>
          <a:prstGeom prst="line">
            <a:avLst/>
          </a:prstGeom>
          <a:ln w="25400">
            <a:solidFill>
              <a:srgbClr val="E98726"/>
            </a:solidFill>
          </a:ln>
        </p:spPr>
        <p:style>
          <a:lnRef idx="2">
            <a:schemeClr val="accent1"/>
          </a:lnRef>
          <a:fillRef idx="0">
            <a:schemeClr val="accent1"/>
          </a:fillRef>
          <a:effectRef idx="1">
            <a:schemeClr val="accent1"/>
          </a:effectRef>
          <a:fontRef idx="minor">
            <a:schemeClr val="tx1"/>
          </a:fontRef>
        </p:style>
      </p:cxnSp>
      <p:sp>
        <p:nvSpPr>
          <p:cNvPr id="29" name="sample_class_-1"/>
          <p:cNvSpPr/>
          <p:nvPr/>
        </p:nvSpPr>
        <p:spPr>
          <a:xfrm>
            <a:off x="1703832" y="5209032"/>
            <a:ext cx="219456" cy="219456"/>
          </a:xfrm>
          <a:prstGeom prst="ellipse">
            <a:avLst/>
          </a:prstGeom>
          <a:solidFill>
            <a:srgbClr val="2878B8"/>
          </a:solidFill>
          <a:ln w="10160">
            <a:solidFill>
              <a:srgbClr val="FFFFFF"/>
            </a:solidFill>
          </a:ln>
        </p:spPr>
        <p:txBody>
          <a:bodyPr rtlCol="0" anchor="ctr"/>
          <a:lstStyle/>
          <a:p>
            <a:pPr algn="ctr"/>
          </a:p>
        </p:txBody>
      </p:sp>
      <p:sp>
        <p:nvSpPr>
          <p:cNvPr id="30" name="editable_text"/>
          <p:cNvSpPr txBox="1"/>
          <p:nvPr/>
        </p:nvSpPr>
        <p:spPr>
          <a:xfrm>
            <a:off x="1950720" y="5190744"/>
            <a:ext cx="1325880" cy="310896"/>
          </a:xfrm>
          <a:prstGeom prst="rect">
            <a:avLst/>
          </a:prstGeom>
          <a:noFill/>
        </p:spPr>
        <p:txBody>
          <a:bodyPr wrap="square" lIns="13716" tIns="0" rIns="13716" bIns="0">
            <a:spAutoFit/>
          </a:bodyPr>
          <a:lstStyle/>
          <a:p>
            <a:pPr>
              <a:spcAft>
                <a:spcPts val="400"/>
              </a:spcAft>
              <a:defRPr sz="1600" b="0">
                <a:solidFill>
                  <a:srgbClr val="2878B8"/>
                </a:solidFill>
                <a:latin typeface="微软雅黑" panose="020B0503020204020204" charset="-122"/>
              </a:defRPr>
            </a:pPr>
            <a:r>
              <a:rPr>
                <a:ea typeface="微软雅黑" panose="020B0503020204020204" charset="-122"/>
              </a:rPr>
              <a:t>(0,0)  −1</a:t>
            </a:r>
            <a:endParaRPr>
              <a:ea typeface="微软雅黑" panose="020B0503020204020204" charset="-122"/>
            </a:endParaRPr>
          </a:p>
        </p:txBody>
      </p:sp>
      <p:sp>
        <p:nvSpPr>
          <p:cNvPr id="31" name="sample_class_1"/>
          <p:cNvSpPr/>
          <p:nvPr/>
        </p:nvSpPr>
        <p:spPr>
          <a:xfrm>
            <a:off x="1703832" y="2161032"/>
            <a:ext cx="219456" cy="219456"/>
          </a:xfrm>
          <a:prstGeom prst="ellipse">
            <a:avLst/>
          </a:prstGeom>
          <a:solidFill>
            <a:srgbClr val="E98726"/>
          </a:solidFill>
          <a:ln w="10160">
            <a:solidFill>
              <a:srgbClr val="FFFFFF"/>
            </a:solidFill>
          </a:ln>
        </p:spPr>
        <p:txBody>
          <a:bodyPr rtlCol="0" anchor="ctr"/>
          <a:lstStyle/>
          <a:p>
            <a:pPr algn="ctr"/>
          </a:p>
        </p:txBody>
      </p:sp>
      <p:sp>
        <p:nvSpPr>
          <p:cNvPr id="32" name="editable_text"/>
          <p:cNvSpPr txBox="1"/>
          <p:nvPr/>
        </p:nvSpPr>
        <p:spPr>
          <a:xfrm>
            <a:off x="1950720" y="2142744"/>
            <a:ext cx="1325880" cy="310896"/>
          </a:xfrm>
          <a:prstGeom prst="rect">
            <a:avLst/>
          </a:prstGeom>
          <a:noFill/>
        </p:spPr>
        <p:txBody>
          <a:bodyPr wrap="square" lIns="13716" tIns="0" rIns="13716" bIns="0">
            <a:spAutoFit/>
          </a:bodyPr>
          <a:lstStyle/>
          <a:p>
            <a:pPr>
              <a:spcAft>
                <a:spcPts val="400"/>
              </a:spcAft>
              <a:defRPr sz="1600" b="0">
                <a:solidFill>
                  <a:srgbClr val="E98726"/>
                </a:solidFill>
                <a:latin typeface="微软雅黑" panose="020B0503020204020204" charset="-122"/>
              </a:defRPr>
            </a:pPr>
            <a:r>
              <a:rPr>
                <a:ea typeface="微软雅黑" panose="020B0503020204020204" charset="-122"/>
              </a:rPr>
              <a:t>(0,1)  +1</a:t>
            </a:r>
            <a:endParaRPr>
              <a:ea typeface="微软雅黑" panose="020B0503020204020204" charset="-122"/>
            </a:endParaRPr>
          </a:p>
        </p:txBody>
      </p:sp>
      <p:sp>
        <p:nvSpPr>
          <p:cNvPr id="33" name="sample_class_1"/>
          <p:cNvSpPr/>
          <p:nvPr/>
        </p:nvSpPr>
        <p:spPr>
          <a:xfrm>
            <a:off x="4751832" y="5209032"/>
            <a:ext cx="219456" cy="219456"/>
          </a:xfrm>
          <a:prstGeom prst="ellipse">
            <a:avLst/>
          </a:prstGeom>
          <a:solidFill>
            <a:srgbClr val="E98726"/>
          </a:solidFill>
          <a:ln w="10160">
            <a:solidFill>
              <a:srgbClr val="FFFFFF"/>
            </a:solidFill>
          </a:ln>
        </p:spPr>
        <p:txBody>
          <a:bodyPr rtlCol="0" anchor="ctr"/>
          <a:lstStyle/>
          <a:p>
            <a:pPr algn="ctr"/>
          </a:p>
        </p:txBody>
      </p:sp>
      <p:sp>
        <p:nvSpPr>
          <p:cNvPr id="34" name="editable_text"/>
          <p:cNvSpPr txBox="1"/>
          <p:nvPr/>
        </p:nvSpPr>
        <p:spPr>
          <a:xfrm>
            <a:off x="4998720" y="5190744"/>
            <a:ext cx="1325880" cy="310896"/>
          </a:xfrm>
          <a:prstGeom prst="rect">
            <a:avLst/>
          </a:prstGeom>
          <a:noFill/>
        </p:spPr>
        <p:txBody>
          <a:bodyPr wrap="square" lIns="13716" tIns="0" rIns="13716" bIns="0">
            <a:spAutoFit/>
          </a:bodyPr>
          <a:lstStyle/>
          <a:p>
            <a:pPr>
              <a:spcAft>
                <a:spcPts val="400"/>
              </a:spcAft>
              <a:defRPr sz="1600" b="0">
                <a:solidFill>
                  <a:srgbClr val="E98726"/>
                </a:solidFill>
                <a:latin typeface="微软雅黑" panose="020B0503020204020204" charset="-122"/>
              </a:defRPr>
            </a:pPr>
            <a:r>
              <a:rPr>
                <a:ea typeface="微软雅黑" panose="020B0503020204020204" charset="-122"/>
              </a:rPr>
              <a:t>(1,0)  +1</a:t>
            </a:r>
            <a:endParaRPr>
              <a:ea typeface="微软雅黑" panose="020B0503020204020204" charset="-122"/>
            </a:endParaRPr>
          </a:p>
        </p:txBody>
      </p:sp>
      <p:sp>
        <p:nvSpPr>
          <p:cNvPr id="35" name="sample_class_-1"/>
          <p:cNvSpPr/>
          <p:nvPr/>
        </p:nvSpPr>
        <p:spPr>
          <a:xfrm>
            <a:off x="4751832" y="2161032"/>
            <a:ext cx="219456" cy="219456"/>
          </a:xfrm>
          <a:prstGeom prst="ellipse">
            <a:avLst/>
          </a:prstGeom>
          <a:solidFill>
            <a:srgbClr val="2878B8"/>
          </a:solidFill>
          <a:ln w="10160">
            <a:solidFill>
              <a:srgbClr val="FFFFFF"/>
            </a:solidFill>
          </a:ln>
        </p:spPr>
        <p:txBody>
          <a:bodyPr rtlCol="0" anchor="ctr"/>
          <a:lstStyle/>
          <a:p>
            <a:pPr algn="ctr"/>
          </a:p>
        </p:txBody>
      </p:sp>
      <p:sp>
        <p:nvSpPr>
          <p:cNvPr id="36" name="editable_text"/>
          <p:cNvSpPr txBox="1"/>
          <p:nvPr/>
        </p:nvSpPr>
        <p:spPr>
          <a:xfrm>
            <a:off x="4998720" y="2142744"/>
            <a:ext cx="1325880" cy="310896"/>
          </a:xfrm>
          <a:prstGeom prst="rect">
            <a:avLst/>
          </a:prstGeom>
          <a:noFill/>
        </p:spPr>
        <p:txBody>
          <a:bodyPr wrap="square" lIns="13716" tIns="0" rIns="13716" bIns="0">
            <a:spAutoFit/>
          </a:bodyPr>
          <a:lstStyle/>
          <a:p>
            <a:pPr>
              <a:spcAft>
                <a:spcPts val="400"/>
              </a:spcAft>
              <a:defRPr sz="1600" b="0">
                <a:solidFill>
                  <a:srgbClr val="2878B8"/>
                </a:solidFill>
                <a:latin typeface="微软雅黑" panose="020B0503020204020204" charset="-122"/>
              </a:defRPr>
            </a:pPr>
            <a:r>
              <a:rPr>
                <a:ea typeface="微软雅黑" panose="020B0503020204020204" charset="-122"/>
              </a:rPr>
              <a:t>(1,1)  −1</a:t>
            </a:r>
            <a:endParaRPr>
              <a:ea typeface="微软雅黑" panose="020B0503020204020204" charset="-122"/>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sp>
        <p:nvSpPr>
          <p:cNvPr id="3"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升维：加入交互特征 x₁x₂</a:t>
            </a:r>
            <a:endParaRPr>
              <a:ea typeface="微软雅黑" panose="020B0503020204020204" charset="-122"/>
            </a:endParaRPr>
          </a:p>
        </p:txBody>
      </p:sp>
      <p:sp>
        <p:nvSpPr>
          <p:cNvPr id="4" name="TextBox 3"/>
          <p:cNvSpPr txBox="1"/>
          <p:nvPr/>
        </p:nvSpPr>
        <p:spPr>
          <a:xfrm>
            <a:off x="12207240" y="594360"/>
            <a:ext cx="868680" cy="228600"/>
          </a:xfrm>
          <a:prstGeom prst="rect">
            <a:avLst/>
          </a:prstGeom>
          <a:noFill/>
        </p:spPr>
        <p:txBody>
          <a:bodyPr wrap="square" lIns="13716" tIns="0" rIns="13716" bIns="0">
            <a:spAutoFit/>
          </a:bodyPr>
          <a:lstStyle/>
          <a:p>
            <a:pPr>
              <a:spcAft>
                <a:spcPts val="500"/>
              </a:spcAft>
              <a:defRPr sz="1200" b="1">
                <a:solidFill>
                  <a:srgbClr val="E98726"/>
                </a:solidFill>
                <a:latin typeface="微软雅黑" panose="020B0503020204020204" charset="-122"/>
              </a:defRPr>
            </a:pPr>
            <a:r>
              <a:rPr>
                <a:ea typeface="微软雅黑" panose="020B0503020204020204" charset="-122"/>
              </a:rPr>
              <a:t>+1 正类</a:t>
            </a:r>
            <a:endParaRPr>
              <a:ea typeface="微软雅黑" panose="020B0503020204020204" charset="-122"/>
            </a:endParaRPr>
          </a:p>
        </p:txBody>
      </p:sp>
      <p:sp>
        <p:nvSpPr>
          <p:cNvPr id="5" name="TextBox 4"/>
          <p:cNvSpPr txBox="1"/>
          <p:nvPr/>
        </p:nvSpPr>
        <p:spPr>
          <a:xfrm>
            <a:off x="13213080" y="594360"/>
            <a:ext cx="868680" cy="228600"/>
          </a:xfrm>
          <a:prstGeom prst="rect">
            <a:avLst/>
          </a:prstGeom>
          <a:noFill/>
        </p:spPr>
        <p:txBody>
          <a:bodyPr wrap="square" lIns="13716" tIns="0" rIns="13716" bIns="0">
            <a:spAutoFit/>
          </a:bodyPr>
          <a:lstStyle/>
          <a:p>
            <a:pPr>
              <a:spcAft>
                <a:spcPts val="500"/>
              </a:spcAft>
              <a:defRPr sz="1200" b="1">
                <a:solidFill>
                  <a:srgbClr val="2878B8"/>
                </a:solidFill>
                <a:latin typeface="微软雅黑" panose="020B0503020204020204" charset="-122"/>
              </a:defRPr>
            </a:pPr>
            <a:r>
              <a:rPr>
                <a:ea typeface="微软雅黑" panose="020B0503020204020204" charset="-122"/>
              </a:rPr>
              <a:t>−1 负类</a:t>
            </a:r>
            <a:endParaRPr>
              <a:ea typeface="微软雅黑" panose="020B0503020204020204" charset="-122"/>
            </a:endParaRPr>
          </a:p>
        </p:txBody>
      </p:sp>
      <p:cxnSp>
        <p:nvCxnSpPr>
          <p:cNvPr id="6"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7"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05 / 25</a:t>
            </a:r>
            <a:endParaRPr>
              <a:ea typeface="微软雅黑" panose="020B0503020204020204" charset="-122"/>
            </a:endParaRPr>
          </a:p>
        </p:txBody>
      </p:sp>
      <p:sp>
        <p:nvSpPr>
          <p:cNvPr id="8" name="TextBox 8"/>
          <p:cNvSpPr txBox="1"/>
          <p:nvPr/>
        </p:nvSpPr>
        <p:spPr>
          <a:xfrm>
            <a:off x="685800" y="1261872"/>
            <a:ext cx="5029200" cy="365760"/>
          </a:xfrm>
          <a:prstGeom prst="rect">
            <a:avLst/>
          </a:prstGeom>
          <a:noFill/>
        </p:spPr>
        <p:txBody>
          <a:bodyPr wrap="square" lIns="13716" tIns="0" rIns="13716" bIns="0">
            <a:spAutoFit/>
          </a:bodyPr>
          <a:lstStyle/>
          <a:p>
            <a:pPr>
              <a:spcAft>
                <a:spcPts val="500"/>
              </a:spcAft>
              <a:defRPr sz="2200" b="1">
                <a:solidFill>
                  <a:srgbClr val="142F50"/>
                </a:solidFill>
                <a:latin typeface="微软雅黑" panose="020B0503020204020204" charset="-122"/>
              </a:defRPr>
            </a:pPr>
            <a:r>
              <a:rPr>
                <a:ea typeface="微软雅黑" panose="020B0503020204020204" charset="-122"/>
              </a:rPr>
              <a:t>输入空间 ℝ²</a:t>
            </a:r>
            <a:endParaRPr>
              <a:ea typeface="微软雅黑" panose="020B0503020204020204" charset="-122"/>
            </a:endParaRPr>
          </a:p>
        </p:txBody>
      </p:sp>
      <p:cxnSp>
        <p:nvCxnSpPr>
          <p:cNvPr id="9" name="Connector 9"/>
          <p:cNvCxnSpPr/>
          <p:nvPr/>
        </p:nvCxnSpPr>
        <p:spPr>
          <a:xfrm flipV="1">
            <a:off x="1584959" y="1874519"/>
            <a:ext cx="0" cy="2926081"/>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0" name="Connector 10"/>
          <p:cNvCxnSpPr/>
          <p:nvPr/>
        </p:nvCxnSpPr>
        <p:spPr>
          <a:xfrm>
            <a:off x="1051560" y="4312920"/>
            <a:ext cx="320040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11" name="TextBox 11"/>
          <p:cNvSpPr txBox="1"/>
          <p:nvPr/>
        </p:nvSpPr>
        <p:spPr>
          <a:xfrm>
            <a:off x="1466087" y="4837176"/>
            <a:ext cx="320040" cy="219456"/>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cxnSp>
        <p:nvCxnSpPr>
          <p:cNvPr id="12" name="Connector 12"/>
          <p:cNvCxnSpPr/>
          <p:nvPr/>
        </p:nvCxnSpPr>
        <p:spPr>
          <a:xfrm flipV="1">
            <a:off x="3718560" y="1874519"/>
            <a:ext cx="0" cy="2926081"/>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3" name="Connector 13"/>
          <p:cNvCxnSpPr/>
          <p:nvPr/>
        </p:nvCxnSpPr>
        <p:spPr>
          <a:xfrm>
            <a:off x="1051560" y="2362199"/>
            <a:ext cx="320040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14" name="TextBox 14"/>
          <p:cNvSpPr txBox="1"/>
          <p:nvPr/>
        </p:nvSpPr>
        <p:spPr>
          <a:xfrm>
            <a:off x="3599688" y="4837176"/>
            <a:ext cx="320040" cy="219456"/>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cxnSp>
        <p:nvCxnSpPr>
          <p:cNvPr id="15" name="Connector 15"/>
          <p:cNvCxnSpPr/>
          <p:nvPr/>
        </p:nvCxnSpPr>
        <p:spPr>
          <a:xfrm>
            <a:off x="1051560" y="4800600"/>
            <a:ext cx="3200400" cy="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cxnSp>
        <p:nvCxnSpPr>
          <p:cNvPr id="16" name="Connector 16"/>
          <p:cNvCxnSpPr/>
          <p:nvPr/>
        </p:nvCxnSpPr>
        <p:spPr>
          <a:xfrm>
            <a:off x="1051560" y="1874519"/>
            <a:ext cx="0" cy="2926081"/>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sp>
        <p:nvSpPr>
          <p:cNvPr id="17" name="TextBox 17"/>
          <p:cNvSpPr txBox="1"/>
          <p:nvPr/>
        </p:nvSpPr>
        <p:spPr>
          <a:xfrm>
            <a:off x="4114800" y="5056632"/>
            <a:ext cx="411480" cy="274320"/>
          </a:xfrm>
          <a:prstGeom prst="rect">
            <a:avLst/>
          </a:prstGeom>
          <a:noFill/>
        </p:spPr>
        <p:txBody>
          <a:bodyPr wrap="square" lIns="13716" tIns="0" rIns="13716" bIns="0">
            <a:spAutoFit/>
          </a:bodyPr>
          <a:lstStyle/>
          <a:p>
            <a:pPr>
              <a:spcAft>
                <a:spcPts val="500"/>
              </a:spcAft>
              <a:defRPr sz="1500" b="0">
                <a:solidFill>
                  <a:srgbClr val="142F50"/>
                </a:solidFill>
                <a:latin typeface="微软雅黑" panose="020B0503020204020204" charset="-122"/>
              </a:defRPr>
            </a:pPr>
            <a:r>
              <a:rPr>
                <a:ea typeface="微软雅黑" panose="020B0503020204020204" charset="-122"/>
              </a:rPr>
              <a:t>x₁</a:t>
            </a:r>
            <a:endParaRPr>
              <a:ea typeface="微软雅黑" panose="020B0503020204020204" charset="-122"/>
            </a:endParaRPr>
          </a:p>
        </p:txBody>
      </p:sp>
      <p:sp>
        <p:nvSpPr>
          <p:cNvPr id="18" name="TextBox 18"/>
          <p:cNvSpPr txBox="1"/>
          <p:nvPr/>
        </p:nvSpPr>
        <p:spPr>
          <a:xfrm>
            <a:off x="704087" y="1783079"/>
            <a:ext cx="365760" cy="274320"/>
          </a:xfrm>
          <a:prstGeom prst="rect">
            <a:avLst/>
          </a:prstGeom>
          <a:noFill/>
        </p:spPr>
        <p:txBody>
          <a:bodyPr wrap="square" lIns="13716" tIns="0" rIns="13716" bIns="0">
            <a:spAutoFit/>
          </a:bodyPr>
          <a:lstStyle/>
          <a:p>
            <a:pPr>
              <a:spcAft>
                <a:spcPts val="500"/>
              </a:spcAft>
              <a:defRPr sz="1500" b="0">
                <a:solidFill>
                  <a:srgbClr val="142F50"/>
                </a:solidFill>
                <a:latin typeface="微软雅黑" panose="020B0503020204020204" charset="-122"/>
              </a:defRPr>
            </a:pPr>
            <a:r>
              <a:rPr>
                <a:ea typeface="微软雅黑" panose="020B0503020204020204" charset="-122"/>
              </a:rPr>
              <a:t>x₂</a:t>
            </a:r>
            <a:endParaRPr>
              <a:ea typeface="微软雅黑" panose="020B0503020204020204" charset="-122"/>
            </a:endParaRPr>
          </a:p>
        </p:txBody>
      </p:sp>
      <p:sp>
        <p:nvSpPr>
          <p:cNvPr id="19" name="Oval 19"/>
          <p:cNvSpPr/>
          <p:nvPr/>
        </p:nvSpPr>
        <p:spPr>
          <a:xfrm>
            <a:off x="1475232" y="4203192"/>
            <a:ext cx="219456" cy="219456"/>
          </a:xfrm>
          <a:prstGeom prst="ellipse">
            <a:avLst/>
          </a:prstGeom>
          <a:solidFill>
            <a:srgbClr val="2878B8"/>
          </a:solidFill>
          <a:ln w="10160">
            <a:solidFill>
              <a:srgbClr val="FFFFFF"/>
            </a:solidFill>
          </a:ln>
        </p:spPr>
        <p:txBody>
          <a:bodyPr rtlCol="0" anchor="ctr"/>
          <a:lstStyle/>
          <a:p>
            <a:pPr algn="ctr"/>
          </a:p>
        </p:txBody>
      </p:sp>
      <p:sp>
        <p:nvSpPr>
          <p:cNvPr id="20" name="Oval 20"/>
          <p:cNvSpPr/>
          <p:nvPr/>
        </p:nvSpPr>
        <p:spPr>
          <a:xfrm>
            <a:off x="1475232" y="2252471"/>
            <a:ext cx="219456" cy="219456"/>
          </a:xfrm>
          <a:prstGeom prst="ellipse">
            <a:avLst/>
          </a:prstGeom>
          <a:solidFill>
            <a:srgbClr val="E98726"/>
          </a:solidFill>
          <a:ln w="10160">
            <a:solidFill>
              <a:srgbClr val="FFFFFF"/>
            </a:solidFill>
          </a:ln>
        </p:spPr>
        <p:txBody>
          <a:bodyPr rtlCol="0" anchor="ctr"/>
          <a:lstStyle/>
          <a:p>
            <a:pPr algn="ctr"/>
          </a:p>
        </p:txBody>
      </p:sp>
      <p:sp>
        <p:nvSpPr>
          <p:cNvPr id="21" name="Oval 21"/>
          <p:cNvSpPr/>
          <p:nvPr/>
        </p:nvSpPr>
        <p:spPr>
          <a:xfrm>
            <a:off x="3608831" y="4203192"/>
            <a:ext cx="219456" cy="219456"/>
          </a:xfrm>
          <a:prstGeom prst="ellipse">
            <a:avLst/>
          </a:prstGeom>
          <a:solidFill>
            <a:srgbClr val="E98726"/>
          </a:solidFill>
          <a:ln w="10160">
            <a:solidFill>
              <a:srgbClr val="FFFFFF"/>
            </a:solidFill>
          </a:ln>
        </p:spPr>
        <p:txBody>
          <a:bodyPr rtlCol="0" anchor="ctr"/>
          <a:lstStyle/>
          <a:p>
            <a:pPr algn="ctr"/>
          </a:p>
        </p:txBody>
      </p:sp>
      <p:sp>
        <p:nvSpPr>
          <p:cNvPr id="22" name="Oval 22"/>
          <p:cNvSpPr/>
          <p:nvPr/>
        </p:nvSpPr>
        <p:spPr>
          <a:xfrm>
            <a:off x="3608831" y="2252471"/>
            <a:ext cx="219456" cy="219456"/>
          </a:xfrm>
          <a:prstGeom prst="ellipse">
            <a:avLst/>
          </a:prstGeom>
          <a:solidFill>
            <a:srgbClr val="2878B8"/>
          </a:solidFill>
          <a:ln w="10160">
            <a:solidFill>
              <a:srgbClr val="FFFFFF"/>
            </a:solidFill>
          </a:ln>
        </p:spPr>
        <p:txBody>
          <a:bodyPr rtlCol="0" anchor="ctr"/>
          <a:lstStyle/>
          <a:p>
            <a:pPr algn="ctr"/>
          </a:p>
        </p:txBody>
      </p:sp>
      <p:sp>
        <p:nvSpPr>
          <p:cNvPr id="23" name="Right Arrow 23"/>
          <p:cNvSpPr/>
          <p:nvPr/>
        </p:nvSpPr>
        <p:spPr>
          <a:xfrm>
            <a:off x="4709160" y="2907792"/>
            <a:ext cx="640080" cy="384048"/>
          </a:xfrm>
          <a:prstGeom prst="rightArrow">
            <a:avLst/>
          </a:prstGeom>
          <a:solidFill>
            <a:srgbClr val="142F50"/>
          </a:solidFill>
          <a:ln>
            <a:noFill/>
          </a:ln>
        </p:spPr>
        <p:txBody>
          <a:bodyPr rtlCol="0" anchor="ctr"/>
          <a:lstStyle/>
          <a:p>
            <a:pPr algn="ctr"/>
          </a:p>
        </p:txBody>
      </p:sp>
      <p:sp>
        <p:nvSpPr>
          <p:cNvPr id="24" name="TextBox 24"/>
          <p:cNvSpPr txBox="1"/>
          <p:nvPr/>
        </p:nvSpPr>
        <p:spPr>
          <a:xfrm>
            <a:off x="5943600" y="1261872"/>
            <a:ext cx="7863840" cy="365760"/>
          </a:xfrm>
          <a:prstGeom prst="rect">
            <a:avLst/>
          </a:prstGeom>
          <a:noFill/>
        </p:spPr>
        <p:txBody>
          <a:bodyPr wrap="square" lIns="13716" tIns="0" rIns="13716" bIns="0">
            <a:spAutoFit/>
          </a:bodyPr>
          <a:lstStyle/>
          <a:p>
            <a:pPr>
              <a:spcAft>
                <a:spcPts val="400"/>
              </a:spcAft>
              <a:defRPr sz="2200" b="1">
                <a:solidFill>
                  <a:srgbClr val="142F50"/>
                </a:solidFill>
                <a:latin typeface="微软雅黑" panose="020B0503020204020204" charset="-122"/>
              </a:defRPr>
            </a:pPr>
            <a:r>
              <a:rPr>
                <a:ea typeface="微软雅黑" panose="020B0503020204020204" charset="-122"/>
              </a:rPr>
              <a:t>特征空间 ℝ³：XOR 四点线性可分</a:t>
            </a:r>
            <a:endParaRPr>
              <a:ea typeface="微软雅黑" panose="020B0503020204020204" charset="-122"/>
            </a:endParaRPr>
          </a:p>
        </p:txBody>
      </p:sp>
      <p:sp>
        <p:nvSpPr>
          <p:cNvPr id="25" name="TextBox 53"/>
          <p:cNvSpPr txBox="1"/>
          <p:nvPr/>
        </p:nvSpPr>
        <p:spPr>
          <a:xfrm>
            <a:off x="777240" y="5449824"/>
            <a:ext cx="6035040" cy="457200"/>
          </a:xfrm>
          <a:prstGeom prst="rect">
            <a:avLst/>
          </a:prstGeom>
          <a:noFill/>
        </p:spPr>
        <p:txBody>
          <a:bodyPr wrap="square" lIns="13716" tIns="0" rIns="13716" bIns="0">
            <a:spAutoFit/>
          </a:bodyPr>
          <a:lstStyle/>
          <a:p>
            <a:pPr>
              <a:spcAft>
                <a:spcPts val="500"/>
              </a:spcAft>
              <a:defRPr sz="2500" b="0">
                <a:solidFill>
                  <a:srgbClr val="142F50"/>
                </a:solidFill>
                <a:latin typeface="Cambria Math" panose="02040503050406030204"/>
              </a:defRPr>
            </a:pPr>
            <a:r>
              <a:rPr>
                <a:ea typeface="Cambria Math" panose="02040503050406030204"/>
              </a:rPr>
              <a:t>φ(x) = (x₁, x₂, x₁x₂)</a:t>
            </a:r>
            <a:endParaRPr>
              <a:ea typeface="Cambria Math" panose="02040503050406030204"/>
            </a:endParaRPr>
          </a:p>
        </p:txBody>
      </p:sp>
      <p:sp>
        <p:nvSpPr>
          <p:cNvPr id="26" name="TextBox 54"/>
          <p:cNvSpPr txBox="1"/>
          <p:nvPr/>
        </p:nvSpPr>
        <p:spPr>
          <a:xfrm>
            <a:off x="7872730" y="5504180"/>
            <a:ext cx="4482465" cy="448310"/>
          </a:xfrm>
          <a:prstGeom prst="rect">
            <a:avLst/>
          </a:prstGeom>
          <a:noFill/>
        </p:spPr>
        <p:txBody>
          <a:bodyPr wrap="square" lIns="13716" tIns="0" rIns="13716" bIns="0">
            <a:noAutofit/>
          </a:bodyPr>
          <a:lstStyle/>
          <a:p>
            <a:pPr>
              <a:spcAft>
                <a:spcPts val="500"/>
              </a:spcAft>
              <a:defRPr sz="2500" b="0">
                <a:solidFill>
                  <a:srgbClr val="142F50"/>
                </a:solidFill>
                <a:latin typeface="Cambria Math" panose="02040503050406030204"/>
              </a:defRPr>
            </a:pPr>
            <a:r>
              <a:rPr>
                <a:ea typeface="Cambria Math" panose="02040503050406030204"/>
              </a:rPr>
              <a:t>f(x) = wᵀφ(x) + b</a:t>
            </a:r>
            <a:endParaRPr>
              <a:ea typeface="Cambria Math" panose="02040503050406030204"/>
            </a:endParaRPr>
          </a:p>
        </p:txBody>
      </p:sp>
      <p:sp>
        <p:nvSpPr>
          <p:cNvPr id="27" name="TextBox 55"/>
          <p:cNvSpPr txBox="1"/>
          <p:nvPr/>
        </p:nvSpPr>
        <p:spPr>
          <a:xfrm>
            <a:off x="777240" y="5952744"/>
            <a:ext cx="6446520" cy="411480"/>
          </a:xfrm>
          <a:prstGeom prst="rect">
            <a:avLst/>
          </a:prstGeom>
          <a:noFill/>
        </p:spPr>
        <p:txBody>
          <a:bodyPr wrap="square" lIns="13716" tIns="0" rIns="13716" bIns="0">
            <a:spAutoFit/>
          </a:bodyPr>
          <a:lstStyle/>
          <a:p>
            <a:pPr>
              <a:spcAft>
                <a:spcPts val="400"/>
              </a:spcAft>
              <a:defRPr sz="2300" b="0">
                <a:solidFill>
                  <a:srgbClr val="142F50"/>
                </a:solidFill>
                <a:latin typeface="Cambria Math" panose="02040503050406030204"/>
              </a:defRPr>
            </a:pPr>
            <a:r>
              <a:rPr>
                <a:ea typeface="Cambria Math" panose="02040503050406030204"/>
              </a:rPr>
              <a:t>f(x) = x₁ + x₂ − 2x₁x₂ − 0.5</a:t>
            </a:r>
            <a:endParaRPr>
              <a:ea typeface="Cambria Math" panose="02040503050406030204"/>
            </a:endParaRPr>
          </a:p>
        </p:txBody>
      </p:sp>
      <p:sp>
        <p:nvSpPr>
          <p:cNvPr id="28" name="TextBox 56"/>
          <p:cNvSpPr txBox="1"/>
          <p:nvPr/>
        </p:nvSpPr>
        <p:spPr>
          <a:xfrm>
            <a:off x="777240" y="6976872"/>
            <a:ext cx="12893040" cy="365760"/>
          </a:xfrm>
          <a:prstGeom prst="rect">
            <a:avLst/>
          </a:prstGeom>
          <a:noFill/>
        </p:spPr>
        <p:txBody>
          <a:bodyPr wrap="square" lIns="13716" tIns="0" rIns="13716" bIns="0">
            <a:spAutoFit/>
          </a:bodyPr>
          <a:lstStyle/>
          <a:p>
            <a:pPr>
              <a:spcAft>
                <a:spcPts val="400"/>
              </a:spcAft>
              <a:defRPr sz="1900" b="0">
                <a:solidFill>
                  <a:srgbClr val="243A50"/>
                </a:solidFill>
                <a:latin typeface="微软雅黑" panose="020B0503020204020204" charset="-122"/>
              </a:defRPr>
            </a:pPr>
            <a:r>
              <a:rPr>
                <a:ea typeface="微软雅黑" panose="020B0503020204020204" charset="-122"/>
              </a:rPr>
              <a:t>人工构造的可行分离解，并非 SVM 优化所得的最大间隔超平面。</a:t>
            </a:r>
            <a:endParaRPr>
              <a:ea typeface="微软雅黑" panose="020B0503020204020204" charset="-122"/>
            </a:endParaRPr>
          </a:p>
        </p:txBody>
      </p:sp>
      <p:sp>
        <p:nvSpPr>
          <p:cNvPr id="29" name="TextBox 57"/>
          <p:cNvSpPr txBox="1"/>
          <p:nvPr/>
        </p:nvSpPr>
        <p:spPr>
          <a:xfrm>
            <a:off x="548640" y="7708392"/>
            <a:ext cx="13441680" cy="18415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真实坐标的正交投影；彩色虚线连接样本与平面垂足，d 表示三维有符号距离。</a:t>
            </a:r>
            <a:endParaRPr>
              <a:ea typeface="微软雅黑" panose="020B0503020204020204" charset="-122"/>
            </a:endParaRPr>
          </a:p>
        </p:txBody>
      </p:sp>
      <p:sp>
        <p:nvSpPr>
          <p:cNvPr id="30" name="editable_text"/>
          <p:cNvSpPr txBox="1"/>
          <p:nvPr/>
        </p:nvSpPr>
        <p:spPr>
          <a:xfrm>
            <a:off x="7872730" y="5066030"/>
            <a:ext cx="6080760" cy="398145"/>
          </a:xfrm>
          <a:prstGeom prst="rect">
            <a:avLst/>
          </a:prstGeom>
          <a:noFill/>
        </p:spPr>
        <p:txBody>
          <a:bodyPr wrap="square" lIns="13716" tIns="0" rIns="13716" bIns="0">
            <a:noAutofit/>
          </a:bodyPr>
          <a:lstStyle/>
          <a:p>
            <a:pPr>
              <a:spcAft>
                <a:spcPts val="400"/>
              </a:spcAft>
              <a:defRPr sz="2200" b="0">
                <a:solidFill>
                  <a:srgbClr val="142F50"/>
                </a:solidFill>
                <a:latin typeface="Cambria Math" panose="02040503050406030204"/>
              </a:defRPr>
            </a:pPr>
            <a:r>
              <a:rPr>
                <a:ea typeface="Cambria Math" panose="02040503050406030204"/>
              </a:rPr>
              <a:t>平面：x₁ + x₂ − 2z − 0.5 = 0</a:t>
            </a:r>
            <a:endParaRPr>
              <a:ea typeface="Cambria Math" panose="02040503050406030204"/>
            </a:endParaRPr>
          </a:p>
        </p:txBody>
      </p:sp>
      <p:sp>
        <p:nvSpPr>
          <p:cNvPr id="31" name="editable_text"/>
          <p:cNvSpPr txBox="1"/>
          <p:nvPr/>
        </p:nvSpPr>
        <p:spPr>
          <a:xfrm>
            <a:off x="777240" y="6473952"/>
            <a:ext cx="13258800" cy="365760"/>
          </a:xfrm>
          <a:prstGeom prst="rect">
            <a:avLst/>
          </a:prstGeom>
          <a:noFill/>
        </p:spPr>
        <p:txBody>
          <a:bodyPr wrap="square" lIns="13716" tIns="0" rIns="13716" bIns="0">
            <a:spAutoFit/>
          </a:bodyPr>
          <a:lstStyle/>
          <a:p>
            <a:pPr>
              <a:spcAft>
                <a:spcPts val="400"/>
              </a:spcAft>
              <a:defRPr sz="2200" b="0">
                <a:solidFill>
                  <a:srgbClr val="142F50"/>
                </a:solidFill>
                <a:latin typeface="Cambria Math" panose="02040503050406030204"/>
              </a:defRPr>
            </a:pPr>
            <a:r>
              <a:rPr>
                <a:ea typeface="Cambria Math" panose="02040503050406030204"/>
              </a:rPr>
              <a:t>f(0,0)=−0.5     f(0,1)=+0.5     f(1,0)=+0.5     f(1,1)=−0.5</a:t>
            </a:r>
            <a:endParaRPr>
              <a:ea typeface="Cambria Math" panose="02040503050406030204"/>
            </a:endParaRPr>
          </a:p>
        </p:txBody>
      </p:sp>
      <p:sp>
        <p:nvSpPr>
          <p:cNvPr id="32" name="plane_x1_plus_x2_minus_2z_minus_0.5_equals_0"/>
          <p:cNvSpPr/>
          <p:nvPr/>
        </p:nvSpPr>
        <p:spPr>
          <a:xfrm>
            <a:off x="8171743" y="3428416"/>
            <a:ext cx="3022223" cy="1045334"/>
          </a:xfrm>
          <a:custGeom>
            <a:avLst/>
            <a:gdLst/>
            <a:ahLst/>
            <a:cxnLst/>
            <a:rect l="l" t="t" r="r" b="b"/>
            <a:pathLst>
              <a:path w="3022223" h="1045334">
                <a:moveTo>
                  <a:pt x="1106210" y="1045334"/>
                </a:moveTo>
                <a:lnTo>
                  <a:pt x="3022223" y="384183"/>
                </a:lnTo>
                <a:lnTo>
                  <a:pt x="1916012" y="0"/>
                </a:lnTo>
                <a:lnTo>
                  <a:pt x="0" y="661151"/>
                </a:lnTo>
                <a:close/>
              </a:path>
            </a:pathLst>
          </a:custGeom>
          <a:solidFill>
            <a:srgbClr val="C9E1F3">
              <a:alpha val="46000"/>
            </a:srgbClr>
          </a:solidFill>
          <a:ln w="11430">
            <a:solidFill>
              <a:srgbClr val="86ABC7"/>
            </a:solidFill>
          </a:ln>
        </p:spPr>
        <p:txBody>
          <a:bodyPr rtlCol="0" anchor="ctr"/>
          <a:lstStyle/>
          <a:p>
            <a:pPr algn="ctr"/>
          </a:p>
        </p:txBody>
      </p:sp>
      <p:sp>
        <p:nvSpPr>
          <p:cNvPr id="33" name="Freeform 26"/>
          <p:cNvSpPr/>
          <p:nvPr/>
        </p:nvSpPr>
        <p:spPr>
          <a:xfrm>
            <a:off x="9129749" y="3758992"/>
            <a:ext cx="1106210" cy="384183"/>
          </a:xfrm>
          <a:custGeom>
            <a:avLst/>
            <a:gdLst/>
            <a:ahLst/>
            <a:cxnLst/>
            <a:rect l="l" t="t" r="r" b="b"/>
            <a:pathLst>
              <a:path w="1106210" h="384183">
                <a:moveTo>
                  <a:pt x="1106210" y="384183"/>
                </a:moveTo>
                <a:lnTo>
                  <a:pt x="0" y="0"/>
                </a:lnTo>
              </a:path>
            </a:pathLst>
          </a:custGeom>
          <a:noFill/>
          <a:ln w="6350">
            <a:solidFill>
              <a:srgbClr val="A9C5DA"/>
            </a:solidFill>
          </a:ln>
        </p:spPr>
        <p:txBody>
          <a:bodyPr rtlCol="0" anchor="ctr"/>
          <a:lstStyle/>
          <a:p>
            <a:pPr algn="ctr"/>
          </a:p>
        </p:txBody>
      </p:sp>
      <p:sp>
        <p:nvSpPr>
          <p:cNvPr id="34" name="Freeform 27"/>
          <p:cNvSpPr/>
          <p:nvPr/>
        </p:nvSpPr>
        <p:spPr>
          <a:xfrm>
            <a:off x="8724848" y="3620507"/>
            <a:ext cx="1916013" cy="661152"/>
          </a:xfrm>
          <a:custGeom>
            <a:avLst/>
            <a:gdLst/>
            <a:ahLst/>
            <a:cxnLst/>
            <a:rect l="l" t="t" r="r" b="b"/>
            <a:pathLst>
              <a:path w="1916013" h="661152">
                <a:moveTo>
                  <a:pt x="0" y="661152"/>
                </a:moveTo>
                <a:lnTo>
                  <a:pt x="1916013" y="0"/>
                </a:lnTo>
              </a:path>
            </a:pathLst>
          </a:custGeom>
          <a:noFill/>
          <a:ln w="6350">
            <a:solidFill>
              <a:srgbClr val="A9C5DA"/>
            </a:solidFill>
          </a:ln>
        </p:spPr>
        <p:txBody>
          <a:bodyPr rtlCol="0" anchor="ctr"/>
          <a:lstStyle/>
          <a:p>
            <a:pPr algn="ctr"/>
          </a:p>
        </p:txBody>
      </p:sp>
      <p:cxnSp>
        <p:nvCxnSpPr>
          <p:cNvPr id="35" name="Connector 80"/>
          <p:cNvCxnSpPr/>
          <p:nvPr/>
        </p:nvCxnSpPr>
        <p:spPr>
          <a:xfrm>
            <a:off x="9345437" y="3953515"/>
            <a:ext cx="56236" cy="360531"/>
          </a:xfrm>
          <a:prstGeom prst="line">
            <a:avLst/>
          </a:prstGeom>
          <a:ln w="13335">
            <a:solidFill>
              <a:srgbClr val="2878B8"/>
            </a:solidFill>
            <a:prstDash val="dash"/>
          </a:ln>
        </p:spPr>
        <p:style>
          <a:lnRef idx="2">
            <a:schemeClr val="accent1"/>
          </a:lnRef>
          <a:fillRef idx="0">
            <a:schemeClr val="accent1"/>
          </a:fillRef>
          <a:effectRef idx="1">
            <a:schemeClr val="accent1"/>
          </a:effectRef>
          <a:fontRef idx="minor">
            <a:schemeClr val="tx1"/>
          </a:fontRef>
        </p:style>
      </p:cxnSp>
      <p:sp>
        <p:nvSpPr>
          <p:cNvPr id="36" name="perpendicular_foot_on_plane"/>
          <p:cNvSpPr/>
          <p:nvPr/>
        </p:nvSpPr>
        <p:spPr>
          <a:xfrm>
            <a:off x="9376984" y="4289358"/>
            <a:ext cx="49377" cy="49377"/>
          </a:xfrm>
          <a:prstGeom prst="ellipse">
            <a:avLst/>
          </a:prstGeom>
          <a:solidFill>
            <a:srgbClr val="FFFFFF"/>
          </a:solidFill>
          <a:ln w="10160">
            <a:solidFill>
              <a:srgbClr val="849DB0"/>
            </a:solidFill>
          </a:ln>
        </p:spPr>
        <p:txBody>
          <a:bodyPr rtlCol="0" anchor="ctr"/>
          <a:lstStyle/>
          <a:p>
            <a:pPr algn="ctr"/>
          </a:p>
        </p:txBody>
      </p:sp>
      <p:cxnSp>
        <p:nvCxnSpPr>
          <p:cNvPr id="37" name="Connector 82"/>
          <p:cNvCxnSpPr/>
          <p:nvPr/>
        </p:nvCxnSpPr>
        <p:spPr>
          <a:xfrm flipH="1" flipV="1">
            <a:off x="8367358" y="4139079"/>
            <a:ext cx="56237" cy="360532"/>
          </a:xfrm>
          <a:prstGeom prst="line">
            <a:avLst/>
          </a:prstGeom>
          <a:ln w="13335">
            <a:solidFill>
              <a:srgbClr val="E98726"/>
            </a:solidFill>
            <a:prstDash val="dash"/>
          </a:ln>
        </p:spPr>
        <p:style>
          <a:lnRef idx="2">
            <a:schemeClr val="accent1"/>
          </a:lnRef>
          <a:fillRef idx="0">
            <a:schemeClr val="accent1"/>
          </a:fillRef>
          <a:effectRef idx="1">
            <a:schemeClr val="accent1"/>
          </a:effectRef>
          <a:fontRef idx="minor">
            <a:schemeClr val="tx1"/>
          </a:fontRef>
        </p:style>
      </p:cxnSp>
      <p:sp>
        <p:nvSpPr>
          <p:cNvPr id="38" name="perpendicular_foot_on_plane"/>
          <p:cNvSpPr/>
          <p:nvPr/>
        </p:nvSpPr>
        <p:spPr>
          <a:xfrm>
            <a:off x="8342670" y="4114391"/>
            <a:ext cx="49377" cy="49377"/>
          </a:xfrm>
          <a:prstGeom prst="ellipse">
            <a:avLst/>
          </a:prstGeom>
          <a:solidFill>
            <a:srgbClr val="FFFFFF"/>
          </a:solidFill>
          <a:ln w="10160">
            <a:solidFill>
              <a:srgbClr val="849DB0"/>
            </a:solidFill>
          </a:ln>
        </p:spPr>
        <p:txBody>
          <a:bodyPr rtlCol="0" anchor="ctr"/>
          <a:lstStyle/>
          <a:p>
            <a:pPr algn="ctr"/>
          </a:p>
        </p:txBody>
      </p:sp>
      <p:cxnSp>
        <p:nvCxnSpPr>
          <p:cNvPr id="39" name="Connector 84"/>
          <p:cNvCxnSpPr/>
          <p:nvPr/>
        </p:nvCxnSpPr>
        <p:spPr>
          <a:xfrm flipH="1" flipV="1">
            <a:off x="10885878" y="3908272"/>
            <a:ext cx="56236" cy="360532"/>
          </a:xfrm>
          <a:prstGeom prst="line">
            <a:avLst/>
          </a:prstGeom>
          <a:ln w="13335">
            <a:solidFill>
              <a:srgbClr val="E98726"/>
            </a:solidFill>
            <a:prstDash val="dash"/>
          </a:ln>
        </p:spPr>
        <p:style>
          <a:lnRef idx="2">
            <a:schemeClr val="accent1"/>
          </a:lnRef>
          <a:fillRef idx="0">
            <a:schemeClr val="accent1"/>
          </a:fillRef>
          <a:effectRef idx="1">
            <a:schemeClr val="accent1"/>
          </a:effectRef>
          <a:fontRef idx="minor">
            <a:schemeClr val="tx1"/>
          </a:fontRef>
        </p:style>
      </p:cxnSp>
      <p:sp>
        <p:nvSpPr>
          <p:cNvPr id="40" name="perpendicular_foot_on_plane"/>
          <p:cNvSpPr/>
          <p:nvPr/>
        </p:nvSpPr>
        <p:spPr>
          <a:xfrm>
            <a:off x="10861189" y="3883583"/>
            <a:ext cx="49377" cy="49377"/>
          </a:xfrm>
          <a:prstGeom prst="ellipse">
            <a:avLst/>
          </a:prstGeom>
          <a:solidFill>
            <a:srgbClr val="FFFFFF"/>
          </a:solidFill>
          <a:ln w="10160">
            <a:solidFill>
              <a:srgbClr val="849DB0"/>
            </a:solidFill>
          </a:ln>
        </p:spPr>
        <p:txBody>
          <a:bodyPr rtlCol="0" anchor="ctr"/>
          <a:lstStyle/>
          <a:p>
            <a:pPr algn="ctr"/>
          </a:p>
        </p:txBody>
      </p:sp>
      <p:cxnSp>
        <p:nvCxnSpPr>
          <p:cNvPr id="41" name="Connector 86"/>
          <p:cNvCxnSpPr/>
          <p:nvPr/>
        </p:nvCxnSpPr>
        <p:spPr>
          <a:xfrm>
            <a:off x="10020272" y="3082403"/>
            <a:ext cx="56236" cy="360531"/>
          </a:xfrm>
          <a:prstGeom prst="line">
            <a:avLst/>
          </a:prstGeom>
          <a:ln w="13335">
            <a:solidFill>
              <a:srgbClr val="2878B8"/>
            </a:solidFill>
            <a:prstDash val="dash"/>
          </a:ln>
        </p:spPr>
        <p:style>
          <a:lnRef idx="2">
            <a:schemeClr val="accent1"/>
          </a:lnRef>
          <a:fillRef idx="0">
            <a:schemeClr val="accent1"/>
          </a:fillRef>
          <a:effectRef idx="1">
            <a:schemeClr val="accent1"/>
          </a:effectRef>
          <a:fontRef idx="minor">
            <a:schemeClr val="tx1"/>
          </a:fontRef>
        </p:style>
      </p:cxnSp>
      <p:sp>
        <p:nvSpPr>
          <p:cNvPr id="42" name="perpendicular_foot_on_plane"/>
          <p:cNvSpPr/>
          <p:nvPr/>
        </p:nvSpPr>
        <p:spPr>
          <a:xfrm>
            <a:off x="10051819" y="3418246"/>
            <a:ext cx="49377" cy="49377"/>
          </a:xfrm>
          <a:prstGeom prst="ellipse">
            <a:avLst/>
          </a:prstGeom>
          <a:solidFill>
            <a:srgbClr val="FFFFFF"/>
          </a:solidFill>
          <a:ln w="10160">
            <a:solidFill>
              <a:srgbClr val="849DB0"/>
            </a:solidFill>
          </a:ln>
        </p:spPr>
        <p:txBody>
          <a:bodyPr rtlCol="0" anchor="ctr"/>
          <a:lstStyle/>
          <a:p>
            <a:pPr algn="ctr"/>
          </a:p>
        </p:txBody>
      </p:sp>
      <p:cxnSp>
        <p:nvCxnSpPr>
          <p:cNvPr id="43" name="Connector 88"/>
          <p:cNvCxnSpPr/>
          <p:nvPr/>
        </p:nvCxnSpPr>
        <p:spPr>
          <a:xfrm>
            <a:off x="9345437" y="3953515"/>
            <a:ext cx="2075680" cy="409875"/>
          </a:xfrm>
          <a:prstGeom prst="line">
            <a:avLst/>
          </a:prstGeom>
          <a:ln w="12700">
            <a:solidFill>
              <a:srgbClr val="64758A"/>
            </a:solidFill>
          </a:ln>
        </p:spPr>
        <p:style>
          <a:lnRef idx="2">
            <a:schemeClr val="accent1"/>
          </a:lnRef>
          <a:fillRef idx="0">
            <a:schemeClr val="accent1"/>
          </a:fillRef>
          <a:effectRef idx="1">
            <a:schemeClr val="accent1"/>
          </a:effectRef>
          <a:fontRef idx="minor">
            <a:schemeClr val="tx1"/>
          </a:fontRef>
        </p:style>
      </p:cxnSp>
      <p:sp>
        <p:nvSpPr>
          <p:cNvPr id="44" name="editable_text"/>
          <p:cNvSpPr txBox="1"/>
          <p:nvPr/>
        </p:nvSpPr>
        <p:spPr>
          <a:xfrm>
            <a:off x="11567421" y="4546270"/>
            <a:ext cx="502920" cy="310896"/>
          </a:xfrm>
          <a:prstGeom prst="rect">
            <a:avLst/>
          </a:prstGeom>
          <a:noFill/>
        </p:spPr>
        <p:txBody>
          <a:bodyPr wrap="square" lIns="13716" tIns="0" rIns="13716" bIns="0">
            <a:spAutoFit/>
          </a:bodyPr>
          <a:lstStyle/>
          <a:p>
            <a:pPr>
              <a:spcAft>
                <a:spcPts val="400"/>
              </a:spcAft>
              <a:defRPr sz="1800" b="0">
                <a:solidFill>
                  <a:srgbClr val="142F50"/>
                </a:solidFill>
                <a:latin typeface="微软雅黑" panose="020B0503020204020204" charset="-122"/>
              </a:defRPr>
            </a:pPr>
            <a:r>
              <a:rPr>
                <a:ea typeface="微软雅黑" panose="020B0503020204020204" charset="-122"/>
              </a:rPr>
              <a:t>x₁</a:t>
            </a:r>
            <a:endParaRPr>
              <a:ea typeface="微软雅黑" panose="020B0503020204020204" charset="-122"/>
            </a:endParaRPr>
          </a:p>
        </p:txBody>
      </p:sp>
      <p:cxnSp>
        <p:nvCxnSpPr>
          <p:cNvPr id="45" name="Connector 90"/>
          <p:cNvCxnSpPr/>
          <p:nvPr/>
        </p:nvCxnSpPr>
        <p:spPr>
          <a:xfrm flipH="1">
            <a:off x="8147042" y="3953515"/>
            <a:ext cx="1198395" cy="709925"/>
          </a:xfrm>
          <a:prstGeom prst="line">
            <a:avLst/>
          </a:prstGeom>
          <a:ln w="12700">
            <a:solidFill>
              <a:srgbClr val="64758A"/>
            </a:solidFill>
          </a:ln>
        </p:spPr>
        <p:style>
          <a:lnRef idx="2">
            <a:schemeClr val="accent1"/>
          </a:lnRef>
          <a:fillRef idx="0">
            <a:schemeClr val="accent1"/>
          </a:fillRef>
          <a:effectRef idx="1">
            <a:schemeClr val="accent1"/>
          </a:effectRef>
          <a:fontRef idx="minor">
            <a:schemeClr val="tx1"/>
          </a:fontRef>
        </p:style>
      </p:cxnSp>
      <p:sp>
        <p:nvSpPr>
          <p:cNvPr id="46" name="editable_text"/>
          <p:cNvSpPr txBox="1"/>
          <p:nvPr/>
        </p:nvSpPr>
        <p:spPr>
          <a:xfrm>
            <a:off x="7872722" y="4754879"/>
            <a:ext cx="502920" cy="310896"/>
          </a:xfrm>
          <a:prstGeom prst="rect">
            <a:avLst/>
          </a:prstGeom>
          <a:noFill/>
        </p:spPr>
        <p:txBody>
          <a:bodyPr wrap="square" lIns="13716" tIns="0" rIns="13716" bIns="0">
            <a:spAutoFit/>
          </a:bodyPr>
          <a:lstStyle/>
          <a:p>
            <a:pPr>
              <a:spcAft>
                <a:spcPts val="400"/>
              </a:spcAft>
              <a:defRPr sz="1800" b="0">
                <a:solidFill>
                  <a:srgbClr val="142F50"/>
                </a:solidFill>
                <a:latin typeface="微软雅黑" panose="020B0503020204020204" charset="-122"/>
              </a:defRPr>
            </a:pPr>
            <a:r>
              <a:rPr>
                <a:ea typeface="微软雅黑" panose="020B0503020204020204" charset="-122"/>
              </a:rPr>
              <a:t>x₂</a:t>
            </a:r>
            <a:endParaRPr>
              <a:ea typeface="微软雅黑" panose="020B0503020204020204" charset="-122"/>
            </a:endParaRPr>
          </a:p>
        </p:txBody>
      </p:sp>
      <p:cxnSp>
        <p:nvCxnSpPr>
          <p:cNvPr id="47" name="Connector 92"/>
          <p:cNvCxnSpPr/>
          <p:nvPr/>
        </p:nvCxnSpPr>
        <p:spPr>
          <a:xfrm flipV="1">
            <a:off x="9345437" y="1874519"/>
            <a:ext cx="0" cy="2078996"/>
          </a:xfrm>
          <a:prstGeom prst="line">
            <a:avLst/>
          </a:prstGeom>
          <a:ln w="12700">
            <a:solidFill>
              <a:srgbClr val="64758A"/>
            </a:solidFill>
          </a:ln>
        </p:spPr>
        <p:style>
          <a:lnRef idx="2">
            <a:schemeClr val="accent1"/>
          </a:lnRef>
          <a:fillRef idx="0">
            <a:schemeClr val="accent1"/>
          </a:fillRef>
          <a:effectRef idx="1">
            <a:schemeClr val="accent1"/>
          </a:effectRef>
          <a:fontRef idx="minor">
            <a:schemeClr val="tx1"/>
          </a:fontRef>
        </p:style>
      </p:cxnSp>
      <p:sp>
        <p:nvSpPr>
          <p:cNvPr id="48" name="editable_text"/>
          <p:cNvSpPr txBox="1"/>
          <p:nvPr/>
        </p:nvSpPr>
        <p:spPr>
          <a:xfrm>
            <a:off x="9455165" y="1892807"/>
            <a:ext cx="1508760" cy="310896"/>
          </a:xfrm>
          <a:prstGeom prst="rect">
            <a:avLst/>
          </a:prstGeom>
          <a:noFill/>
        </p:spPr>
        <p:txBody>
          <a:bodyPr wrap="square" lIns="13716" tIns="0" rIns="13716" bIns="0">
            <a:spAutoFit/>
          </a:bodyPr>
          <a:lstStyle/>
          <a:p>
            <a:pPr>
              <a:spcAft>
                <a:spcPts val="400"/>
              </a:spcAft>
              <a:defRPr sz="1800" b="0">
                <a:solidFill>
                  <a:srgbClr val="142F50"/>
                </a:solidFill>
                <a:latin typeface="微软雅黑" panose="020B0503020204020204" charset="-122"/>
              </a:defRPr>
            </a:pPr>
            <a:r>
              <a:rPr>
                <a:ea typeface="微软雅黑" panose="020B0503020204020204" charset="-122"/>
              </a:rPr>
              <a:t>z = x₁x₂</a:t>
            </a:r>
            <a:endParaRPr>
              <a:ea typeface="微软雅黑" panose="020B0503020204020204" charset="-122"/>
            </a:endParaRPr>
          </a:p>
        </p:txBody>
      </p:sp>
      <p:sp>
        <p:nvSpPr>
          <p:cNvPr id="49" name="sample_class_-1"/>
          <p:cNvSpPr/>
          <p:nvPr/>
        </p:nvSpPr>
        <p:spPr>
          <a:xfrm>
            <a:off x="9226565" y="3834643"/>
            <a:ext cx="237744" cy="237744"/>
          </a:xfrm>
          <a:prstGeom prst="ellipse">
            <a:avLst/>
          </a:prstGeom>
          <a:solidFill>
            <a:srgbClr val="2878B8"/>
          </a:solidFill>
          <a:ln w="10160">
            <a:solidFill>
              <a:srgbClr val="FFFFFF"/>
            </a:solidFill>
          </a:ln>
        </p:spPr>
        <p:txBody>
          <a:bodyPr rtlCol="0" anchor="ctr"/>
          <a:lstStyle/>
          <a:p>
            <a:pPr algn="ctr"/>
          </a:p>
        </p:txBody>
      </p:sp>
      <p:sp>
        <p:nvSpPr>
          <p:cNvPr id="50" name="editable_text"/>
          <p:cNvSpPr txBox="1"/>
          <p:nvPr/>
        </p:nvSpPr>
        <p:spPr>
          <a:xfrm>
            <a:off x="9455165" y="3980947"/>
            <a:ext cx="1508760" cy="329184"/>
          </a:xfrm>
          <a:prstGeom prst="rect">
            <a:avLst/>
          </a:prstGeom>
          <a:noFill/>
        </p:spPr>
        <p:txBody>
          <a:bodyPr wrap="square" lIns="13716" tIns="0" rIns="13716" bIns="0">
            <a:spAutoFit/>
          </a:bodyPr>
          <a:lstStyle/>
          <a:p>
            <a:pPr>
              <a:spcAft>
                <a:spcPts val="400"/>
              </a:spcAft>
              <a:defRPr sz="1600" b="0">
                <a:solidFill>
                  <a:srgbClr val="2878B8"/>
                </a:solidFill>
                <a:latin typeface="微软雅黑" panose="020B0503020204020204" charset="-122"/>
              </a:defRPr>
            </a:pPr>
            <a:r>
              <a:rPr>
                <a:ea typeface="微软雅黑" panose="020B0503020204020204" charset="-122"/>
              </a:rPr>
              <a:t>(0,0,0)</a:t>
            </a:r>
            <a:endParaRPr>
              <a:ea typeface="微软雅黑" panose="020B0503020204020204" charset="-122"/>
            </a:endParaRPr>
          </a:p>
        </p:txBody>
      </p:sp>
      <p:sp>
        <p:nvSpPr>
          <p:cNvPr id="51" name="sample_class_1"/>
          <p:cNvSpPr/>
          <p:nvPr/>
        </p:nvSpPr>
        <p:spPr>
          <a:xfrm>
            <a:off x="8304723" y="4380739"/>
            <a:ext cx="237744" cy="237744"/>
          </a:xfrm>
          <a:prstGeom prst="ellipse">
            <a:avLst/>
          </a:prstGeom>
          <a:solidFill>
            <a:srgbClr val="E98726"/>
          </a:solidFill>
          <a:ln w="10160">
            <a:solidFill>
              <a:srgbClr val="FFFFFF"/>
            </a:solidFill>
          </a:ln>
        </p:spPr>
        <p:txBody>
          <a:bodyPr rtlCol="0" anchor="ctr"/>
          <a:lstStyle/>
          <a:p>
            <a:pPr algn="ctr"/>
          </a:p>
        </p:txBody>
      </p:sp>
      <p:sp>
        <p:nvSpPr>
          <p:cNvPr id="52" name="editable_text"/>
          <p:cNvSpPr txBox="1"/>
          <p:nvPr/>
        </p:nvSpPr>
        <p:spPr>
          <a:xfrm>
            <a:off x="7326315" y="4179571"/>
            <a:ext cx="1508760" cy="329184"/>
          </a:xfrm>
          <a:prstGeom prst="rect">
            <a:avLst/>
          </a:prstGeom>
          <a:noFill/>
        </p:spPr>
        <p:txBody>
          <a:bodyPr wrap="square" lIns="13716" tIns="0" rIns="13716" bIns="0">
            <a:spAutoFit/>
          </a:bodyPr>
          <a:lstStyle/>
          <a:p>
            <a:pPr>
              <a:spcAft>
                <a:spcPts val="400"/>
              </a:spcAft>
              <a:defRPr sz="1600" b="0">
                <a:solidFill>
                  <a:srgbClr val="E98726"/>
                </a:solidFill>
                <a:latin typeface="微软雅黑" panose="020B0503020204020204" charset="-122"/>
              </a:defRPr>
            </a:pPr>
            <a:r>
              <a:rPr>
                <a:ea typeface="微软雅黑" panose="020B0503020204020204" charset="-122"/>
              </a:rPr>
              <a:t>(0,1,0)</a:t>
            </a:r>
            <a:endParaRPr>
              <a:ea typeface="微软雅黑" panose="020B0503020204020204" charset="-122"/>
            </a:endParaRPr>
          </a:p>
        </p:txBody>
      </p:sp>
      <p:sp>
        <p:nvSpPr>
          <p:cNvPr id="53" name="sample_class_1"/>
          <p:cNvSpPr/>
          <p:nvPr/>
        </p:nvSpPr>
        <p:spPr>
          <a:xfrm>
            <a:off x="10823242" y="4149932"/>
            <a:ext cx="237744" cy="237744"/>
          </a:xfrm>
          <a:prstGeom prst="ellipse">
            <a:avLst/>
          </a:prstGeom>
          <a:solidFill>
            <a:srgbClr val="E98726"/>
          </a:solidFill>
          <a:ln w="10160">
            <a:solidFill>
              <a:srgbClr val="FFFFFF"/>
            </a:solidFill>
          </a:ln>
        </p:spPr>
        <p:txBody>
          <a:bodyPr rtlCol="0" anchor="ctr"/>
          <a:lstStyle/>
          <a:p>
            <a:pPr algn="ctr"/>
          </a:p>
        </p:txBody>
      </p:sp>
      <p:sp>
        <p:nvSpPr>
          <p:cNvPr id="54" name="editable_text"/>
          <p:cNvSpPr txBox="1"/>
          <p:nvPr/>
        </p:nvSpPr>
        <p:spPr>
          <a:xfrm>
            <a:off x="11051842" y="3948764"/>
            <a:ext cx="1508760" cy="329184"/>
          </a:xfrm>
          <a:prstGeom prst="rect">
            <a:avLst/>
          </a:prstGeom>
          <a:noFill/>
        </p:spPr>
        <p:txBody>
          <a:bodyPr wrap="square" lIns="13716" tIns="0" rIns="13716" bIns="0">
            <a:spAutoFit/>
          </a:bodyPr>
          <a:lstStyle/>
          <a:p>
            <a:pPr>
              <a:spcAft>
                <a:spcPts val="400"/>
              </a:spcAft>
              <a:defRPr sz="1600" b="0">
                <a:solidFill>
                  <a:srgbClr val="E98726"/>
                </a:solidFill>
                <a:latin typeface="微软雅黑" panose="020B0503020204020204" charset="-122"/>
              </a:defRPr>
            </a:pPr>
            <a:r>
              <a:rPr>
                <a:ea typeface="微软雅黑" panose="020B0503020204020204" charset="-122"/>
              </a:rPr>
              <a:t>(1,0,0)</a:t>
            </a:r>
            <a:endParaRPr>
              <a:ea typeface="微软雅黑" panose="020B0503020204020204" charset="-122"/>
            </a:endParaRPr>
          </a:p>
        </p:txBody>
      </p:sp>
      <p:sp>
        <p:nvSpPr>
          <p:cNvPr id="55" name="sample_class_-1"/>
          <p:cNvSpPr/>
          <p:nvPr/>
        </p:nvSpPr>
        <p:spPr>
          <a:xfrm>
            <a:off x="9901400" y="2963531"/>
            <a:ext cx="237744" cy="237744"/>
          </a:xfrm>
          <a:prstGeom prst="ellipse">
            <a:avLst/>
          </a:prstGeom>
          <a:solidFill>
            <a:srgbClr val="2878B8"/>
          </a:solidFill>
          <a:ln w="10160">
            <a:solidFill>
              <a:srgbClr val="FFFFFF"/>
            </a:solidFill>
          </a:ln>
        </p:spPr>
        <p:txBody>
          <a:bodyPr rtlCol="0" anchor="ctr"/>
          <a:lstStyle/>
          <a:p>
            <a:pPr algn="ctr"/>
          </a:p>
        </p:txBody>
      </p:sp>
      <p:sp>
        <p:nvSpPr>
          <p:cNvPr id="56" name="editable_text"/>
          <p:cNvSpPr txBox="1"/>
          <p:nvPr/>
        </p:nvSpPr>
        <p:spPr>
          <a:xfrm>
            <a:off x="10130000" y="2917811"/>
            <a:ext cx="1508760" cy="329184"/>
          </a:xfrm>
          <a:prstGeom prst="rect">
            <a:avLst/>
          </a:prstGeom>
          <a:noFill/>
        </p:spPr>
        <p:txBody>
          <a:bodyPr wrap="square" lIns="13716" tIns="0" rIns="13716" bIns="0">
            <a:spAutoFit/>
          </a:bodyPr>
          <a:lstStyle/>
          <a:p>
            <a:pPr>
              <a:spcAft>
                <a:spcPts val="400"/>
              </a:spcAft>
              <a:defRPr sz="1600" b="0">
                <a:solidFill>
                  <a:srgbClr val="2878B8"/>
                </a:solidFill>
                <a:latin typeface="微软雅黑" panose="020B0503020204020204" charset="-122"/>
              </a:defRPr>
            </a:pPr>
            <a:r>
              <a:rPr>
                <a:ea typeface="微软雅黑" panose="020B0503020204020204" charset="-122"/>
              </a:rPr>
              <a:t>(1,1,1)</a:t>
            </a:r>
            <a:endParaRPr>
              <a:ea typeface="微软雅黑" panose="020B0503020204020204" charset="-122"/>
            </a:endParaRPr>
          </a:p>
        </p:txBody>
      </p:sp>
      <p:sp>
        <p:nvSpPr>
          <p:cNvPr id="57" name="editable_text"/>
          <p:cNvSpPr txBox="1"/>
          <p:nvPr/>
        </p:nvSpPr>
        <p:spPr>
          <a:xfrm>
            <a:off x="6263640" y="1673352"/>
            <a:ext cx="3429000" cy="320040"/>
          </a:xfrm>
          <a:prstGeom prst="rect">
            <a:avLst/>
          </a:prstGeom>
          <a:noFill/>
        </p:spPr>
        <p:txBody>
          <a:bodyPr wrap="square" lIns="13716" tIns="0" rIns="13716" bIns="0">
            <a:spAutoFit/>
          </a:bodyPr>
          <a:lstStyle/>
          <a:p>
            <a:pPr>
              <a:spcAft>
                <a:spcPts val="400"/>
              </a:spcAft>
              <a:defRPr sz="1800" b="0">
                <a:solidFill>
                  <a:srgbClr val="E98726"/>
                </a:solidFill>
                <a:latin typeface="微软雅黑" panose="020B0503020204020204" charset="-122"/>
              </a:defRPr>
            </a:pPr>
            <a:r>
              <a:rPr>
                <a:ea typeface="微软雅黑" panose="020B0503020204020204" charset="-122"/>
              </a:rPr>
              <a:t>f(x)&gt;0，d&gt;0：正类</a:t>
            </a:r>
            <a:endParaRPr>
              <a:ea typeface="微软雅黑" panose="020B0503020204020204" charset="-122"/>
            </a:endParaRPr>
          </a:p>
        </p:txBody>
      </p:sp>
      <p:sp>
        <p:nvSpPr>
          <p:cNvPr id="58" name="editable_text"/>
          <p:cNvSpPr txBox="1"/>
          <p:nvPr/>
        </p:nvSpPr>
        <p:spPr>
          <a:xfrm>
            <a:off x="9875520" y="1673352"/>
            <a:ext cx="3886200" cy="320040"/>
          </a:xfrm>
          <a:prstGeom prst="rect">
            <a:avLst/>
          </a:prstGeom>
          <a:noFill/>
        </p:spPr>
        <p:txBody>
          <a:bodyPr wrap="square" lIns="13716" tIns="0" rIns="13716" bIns="0">
            <a:spAutoFit/>
          </a:bodyPr>
          <a:lstStyle/>
          <a:p>
            <a:pPr>
              <a:spcAft>
                <a:spcPts val="400"/>
              </a:spcAft>
              <a:defRPr sz="1800" b="0">
                <a:solidFill>
                  <a:srgbClr val="2878B8"/>
                </a:solidFill>
                <a:latin typeface="微软雅黑" panose="020B0503020204020204" charset="-122"/>
              </a:defRPr>
            </a:pPr>
            <a:r>
              <a:rPr>
                <a:ea typeface="微软雅黑" panose="020B0503020204020204" charset="-122"/>
              </a:rPr>
              <a:t>f(x)&lt;0，d&lt;0：负类</a:t>
            </a:r>
            <a:endParaRPr>
              <a:ea typeface="微软雅黑" panose="020B0503020204020204" charset="-122"/>
            </a:endParaRPr>
          </a:p>
        </p:txBody>
      </p:sp>
      <p:sp>
        <p:nvSpPr>
          <p:cNvPr id="59" name="editable_text"/>
          <p:cNvSpPr txBox="1"/>
          <p:nvPr/>
        </p:nvSpPr>
        <p:spPr>
          <a:xfrm>
            <a:off x="7872730" y="6021705"/>
            <a:ext cx="4715510" cy="452120"/>
          </a:xfrm>
          <a:prstGeom prst="rect">
            <a:avLst/>
          </a:prstGeom>
          <a:noFill/>
        </p:spPr>
        <p:txBody>
          <a:bodyPr wrap="square" lIns="13716" tIns="0" rIns="13716" bIns="0">
            <a:noAutofit/>
          </a:bodyPr>
          <a:lstStyle/>
          <a:p>
            <a:pPr>
              <a:spcAft>
                <a:spcPts val="400"/>
              </a:spcAft>
              <a:defRPr sz="2200" b="0">
                <a:solidFill>
                  <a:srgbClr val="142F50"/>
                </a:solidFill>
                <a:latin typeface="Cambria Math" panose="02040503050406030204"/>
              </a:defRPr>
            </a:pPr>
            <a:r>
              <a:rPr>
                <a:ea typeface="Cambria Math" panose="02040503050406030204"/>
              </a:rPr>
              <a:t>d(x) = f(x)/√6 ≈ ±0.204</a:t>
            </a:r>
            <a:endParaRPr>
              <a:ea typeface="Cambria Math" panose="02040503050406030204"/>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四次代入：亲手验证分离</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5.1 XOR 与升维</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f(0,0)=−0.5；f(0,1)=+0.5</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f(1,0)=+0.5；f(1,1)=−0.5</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w=(1,1,−2)，‖w‖=√6；有符号距离 f/√6</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能分开 ≠ 自动得到 SVM 最大间隔解</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5.1 XOR 与升维</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06 / 25</a:t>
            </a:r>
            <a:endParaRPr>
              <a:ea typeface="微软雅黑" panose="020B0503020204020204" charset="-122"/>
            </a:endParaRP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困难：显式特征可能多到算不动</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5.2 核函数与核技巧</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原始维度 p，二次含常数特征数为 (p+1)(p+2)/2</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p=1000 时，共 501501 个特征</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对偶训练只依赖特征内积：能否直接算结果？</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K(x,z) := ⟨φ(x), φ(z)⟩</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5.2 核函数与核技巧</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07 / 25</a:t>
            </a:r>
            <a:endParaRPr>
              <a:ea typeface="微软雅黑" panose="020B0503020204020204" charset="-122"/>
            </a:endParaR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sp>
        <p:nvSpPr>
          <p:cNvPr id="3"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两条计算路线，完全相同的内积</a:t>
            </a:r>
            <a:endParaRPr>
              <a:ea typeface="微软雅黑" panose="020B0503020204020204" charset="-122"/>
            </a:endParaRPr>
          </a:p>
        </p:txBody>
      </p:sp>
      <p:sp>
        <p:nvSpPr>
          <p:cNvPr id="4" name="TextBox 3"/>
          <p:cNvSpPr txBox="1"/>
          <p:nvPr/>
        </p:nvSpPr>
        <p:spPr>
          <a:xfrm>
            <a:off x="12207240" y="594360"/>
            <a:ext cx="868680" cy="228600"/>
          </a:xfrm>
          <a:prstGeom prst="rect">
            <a:avLst/>
          </a:prstGeom>
          <a:noFill/>
        </p:spPr>
        <p:txBody>
          <a:bodyPr wrap="square" lIns="13716" tIns="0" rIns="13716" bIns="0">
            <a:spAutoFit/>
          </a:bodyPr>
          <a:lstStyle/>
          <a:p>
            <a:pPr>
              <a:spcAft>
                <a:spcPts val="500"/>
              </a:spcAft>
              <a:defRPr sz="1200" b="1">
                <a:solidFill>
                  <a:srgbClr val="E98726"/>
                </a:solidFill>
                <a:latin typeface="微软雅黑" panose="020B0503020204020204" charset="-122"/>
              </a:defRPr>
            </a:pPr>
            <a:r>
              <a:rPr>
                <a:ea typeface="微软雅黑" panose="020B0503020204020204" charset="-122"/>
              </a:rPr>
              <a:t>+1 正类</a:t>
            </a:r>
            <a:endParaRPr>
              <a:ea typeface="微软雅黑" panose="020B0503020204020204" charset="-122"/>
            </a:endParaRPr>
          </a:p>
        </p:txBody>
      </p:sp>
      <p:sp>
        <p:nvSpPr>
          <p:cNvPr id="5" name="TextBox 4"/>
          <p:cNvSpPr txBox="1"/>
          <p:nvPr/>
        </p:nvSpPr>
        <p:spPr>
          <a:xfrm>
            <a:off x="13213080" y="594360"/>
            <a:ext cx="868680" cy="228600"/>
          </a:xfrm>
          <a:prstGeom prst="rect">
            <a:avLst/>
          </a:prstGeom>
          <a:noFill/>
        </p:spPr>
        <p:txBody>
          <a:bodyPr wrap="square" lIns="13716" tIns="0" rIns="13716" bIns="0">
            <a:spAutoFit/>
          </a:bodyPr>
          <a:lstStyle/>
          <a:p>
            <a:pPr>
              <a:spcAft>
                <a:spcPts val="500"/>
              </a:spcAft>
              <a:defRPr sz="1200" b="1">
                <a:solidFill>
                  <a:srgbClr val="2878B8"/>
                </a:solidFill>
                <a:latin typeface="微软雅黑" panose="020B0503020204020204" charset="-122"/>
              </a:defRPr>
            </a:pPr>
            <a:r>
              <a:rPr>
                <a:ea typeface="微软雅黑" panose="020B0503020204020204" charset="-122"/>
              </a:rPr>
              <a:t>−1 负类</a:t>
            </a:r>
            <a:endParaRPr>
              <a:ea typeface="微软雅黑" panose="020B0503020204020204" charset="-122"/>
            </a:endParaRPr>
          </a:p>
        </p:txBody>
      </p:sp>
      <p:cxnSp>
        <p:nvCxnSpPr>
          <p:cNvPr id="6"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7"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08 / 25</a:t>
            </a:r>
            <a:endParaRPr>
              <a:ea typeface="微软雅黑" panose="020B0503020204020204" charset="-122"/>
            </a:endParaRPr>
          </a:p>
        </p:txBody>
      </p:sp>
      <p:sp>
        <p:nvSpPr>
          <p:cNvPr id="8" name="TextBox 8"/>
          <p:cNvSpPr txBox="1"/>
          <p:nvPr/>
        </p:nvSpPr>
        <p:spPr>
          <a:xfrm>
            <a:off x="685800" y="1234440"/>
            <a:ext cx="13350240" cy="502920"/>
          </a:xfrm>
          <a:prstGeom prst="rect">
            <a:avLst/>
          </a:prstGeom>
          <a:noFill/>
        </p:spPr>
        <p:txBody>
          <a:bodyPr wrap="square" lIns="13716" tIns="0" rIns="13716" bIns="0">
            <a:spAutoFit/>
          </a:bodyPr>
          <a:lstStyle/>
          <a:p>
            <a:pPr>
              <a:spcAft>
                <a:spcPts val="500"/>
              </a:spcAft>
              <a:defRPr sz="2600" b="0">
                <a:solidFill>
                  <a:srgbClr val="142F50"/>
                </a:solidFill>
                <a:latin typeface="Cambria Math" panose="02040503050406030204"/>
              </a:defRPr>
            </a:pPr>
            <a:r>
              <a:rPr>
                <a:ea typeface="Cambria Math" panose="02040503050406030204"/>
              </a:rPr>
              <a:t>K(xᵢ, xⱼ) = ⟨φ(xᵢ), φ(xⱼ)⟩</a:t>
            </a:r>
            <a:endParaRPr>
              <a:ea typeface="Cambria Math" panose="02040503050406030204"/>
            </a:endParaRPr>
          </a:p>
        </p:txBody>
      </p:sp>
      <p:sp>
        <p:nvSpPr>
          <p:cNvPr id="9" name="Rectangle 9"/>
          <p:cNvSpPr/>
          <p:nvPr/>
        </p:nvSpPr>
        <p:spPr>
          <a:xfrm>
            <a:off x="731520" y="1938528"/>
            <a:ext cx="1828800" cy="585216"/>
          </a:xfrm>
          <a:prstGeom prst="rect">
            <a:avLst/>
          </a:prstGeom>
          <a:solidFill>
            <a:srgbClr val="F0F4F8"/>
          </a:solidFill>
          <a:ln w="10160">
            <a:solidFill>
              <a:srgbClr val="DFE7EF"/>
            </a:solidFill>
          </a:ln>
        </p:spPr>
        <p:txBody>
          <a:bodyPr rtlCol="0" anchor="ctr"/>
          <a:lstStyle/>
          <a:p>
            <a:pPr algn="ctr"/>
          </a:p>
        </p:txBody>
      </p:sp>
      <p:sp>
        <p:nvSpPr>
          <p:cNvPr id="10" name="TextBox 10"/>
          <p:cNvSpPr txBox="1"/>
          <p:nvPr/>
        </p:nvSpPr>
        <p:spPr>
          <a:xfrm>
            <a:off x="822960" y="2048256"/>
            <a:ext cx="1645920" cy="475488"/>
          </a:xfrm>
          <a:prstGeom prst="rect">
            <a:avLst/>
          </a:prstGeom>
          <a:noFill/>
        </p:spPr>
        <p:txBody>
          <a:bodyPr wrap="square" lIns="13716" tIns="0" rIns="13716" bIns="0">
            <a:spAutoFit/>
          </a:bodyPr>
          <a:lstStyle/>
          <a:p>
            <a:pPr algn="ctr">
              <a:spcAft>
                <a:spcPts val="500"/>
              </a:spcAft>
              <a:defRPr sz="1800" b="0">
                <a:solidFill>
                  <a:srgbClr val="142F50"/>
                </a:solidFill>
                <a:latin typeface="微软雅黑" panose="020B0503020204020204" charset="-122"/>
              </a:defRPr>
            </a:pPr>
            <a:r>
              <a:rPr>
                <a:ea typeface="微软雅黑" panose="020B0503020204020204" charset="-122"/>
              </a:rPr>
              <a:t>原始数据 x, z</a:t>
            </a:r>
            <a:endParaRPr>
              <a:ea typeface="微软雅黑" panose="020B0503020204020204" charset="-122"/>
            </a:endParaRPr>
          </a:p>
        </p:txBody>
      </p:sp>
      <p:sp>
        <p:nvSpPr>
          <p:cNvPr id="11" name="Right Arrow 11"/>
          <p:cNvSpPr/>
          <p:nvPr/>
        </p:nvSpPr>
        <p:spPr>
          <a:xfrm>
            <a:off x="2724912" y="2084831"/>
            <a:ext cx="365760" cy="274320"/>
          </a:xfrm>
          <a:prstGeom prst="rightArrow">
            <a:avLst/>
          </a:prstGeom>
          <a:solidFill>
            <a:srgbClr val="142F50"/>
          </a:solidFill>
          <a:ln>
            <a:noFill/>
          </a:ln>
        </p:spPr>
        <p:txBody>
          <a:bodyPr rtlCol="0" anchor="ctr"/>
          <a:lstStyle/>
          <a:p>
            <a:pPr algn="ctr"/>
          </a:p>
        </p:txBody>
      </p:sp>
      <p:sp>
        <p:nvSpPr>
          <p:cNvPr id="12" name="Rectangle 12"/>
          <p:cNvSpPr/>
          <p:nvPr/>
        </p:nvSpPr>
        <p:spPr>
          <a:xfrm>
            <a:off x="3246120" y="1938528"/>
            <a:ext cx="3200400" cy="585216"/>
          </a:xfrm>
          <a:prstGeom prst="rect">
            <a:avLst/>
          </a:prstGeom>
          <a:solidFill>
            <a:srgbClr val="F0F4F8"/>
          </a:solidFill>
          <a:ln w="10160">
            <a:solidFill>
              <a:srgbClr val="DFE7EF"/>
            </a:solidFill>
          </a:ln>
        </p:spPr>
        <p:txBody>
          <a:bodyPr rtlCol="0" anchor="ctr"/>
          <a:lstStyle/>
          <a:p>
            <a:pPr algn="ctr"/>
          </a:p>
        </p:txBody>
      </p:sp>
      <p:sp>
        <p:nvSpPr>
          <p:cNvPr id="13" name="TextBox 13"/>
          <p:cNvSpPr txBox="1"/>
          <p:nvPr/>
        </p:nvSpPr>
        <p:spPr>
          <a:xfrm>
            <a:off x="3337560" y="2048256"/>
            <a:ext cx="3017520" cy="475488"/>
          </a:xfrm>
          <a:prstGeom prst="rect">
            <a:avLst/>
          </a:prstGeom>
          <a:noFill/>
        </p:spPr>
        <p:txBody>
          <a:bodyPr wrap="square" lIns="13716" tIns="0" rIns="13716" bIns="0">
            <a:spAutoFit/>
          </a:bodyPr>
          <a:lstStyle/>
          <a:p>
            <a:pPr algn="ctr">
              <a:spcAft>
                <a:spcPts val="500"/>
              </a:spcAft>
              <a:defRPr sz="1800" b="0">
                <a:solidFill>
                  <a:srgbClr val="142F50"/>
                </a:solidFill>
                <a:latin typeface="微软雅黑" panose="020B0503020204020204" charset="-122"/>
              </a:defRPr>
            </a:pPr>
            <a:r>
              <a:rPr>
                <a:ea typeface="微软雅黑" panose="020B0503020204020204" charset="-122"/>
              </a:rPr>
              <a:t>显式映射 φ(x), φ(z)</a:t>
            </a:r>
            <a:endParaRPr>
              <a:ea typeface="微软雅黑" panose="020B0503020204020204" charset="-122"/>
            </a:endParaRPr>
          </a:p>
        </p:txBody>
      </p:sp>
      <p:sp>
        <p:nvSpPr>
          <p:cNvPr id="14" name="Right Arrow 14"/>
          <p:cNvSpPr/>
          <p:nvPr/>
        </p:nvSpPr>
        <p:spPr>
          <a:xfrm>
            <a:off x="6629400" y="2084831"/>
            <a:ext cx="365760" cy="274320"/>
          </a:xfrm>
          <a:prstGeom prst="rightArrow">
            <a:avLst/>
          </a:prstGeom>
          <a:solidFill>
            <a:srgbClr val="142F50"/>
          </a:solidFill>
          <a:ln>
            <a:noFill/>
          </a:ln>
        </p:spPr>
        <p:txBody>
          <a:bodyPr rtlCol="0" anchor="ctr"/>
          <a:lstStyle/>
          <a:p>
            <a:pPr algn="ctr"/>
          </a:p>
        </p:txBody>
      </p:sp>
      <p:sp>
        <p:nvSpPr>
          <p:cNvPr id="15" name="Rectangle 15"/>
          <p:cNvSpPr/>
          <p:nvPr/>
        </p:nvSpPr>
        <p:spPr>
          <a:xfrm>
            <a:off x="7178040" y="1938528"/>
            <a:ext cx="2286000" cy="585216"/>
          </a:xfrm>
          <a:prstGeom prst="rect">
            <a:avLst/>
          </a:prstGeom>
          <a:solidFill>
            <a:srgbClr val="F0F4F8"/>
          </a:solidFill>
          <a:ln w="10160">
            <a:solidFill>
              <a:srgbClr val="DFE7EF"/>
            </a:solidFill>
          </a:ln>
        </p:spPr>
        <p:txBody>
          <a:bodyPr rtlCol="0" anchor="ctr"/>
          <a:lstStyle/>
          <a:p>
            <a:pPr algn="ctr"/>
          </a:p>
        </p:txBody>
      </p:sp>
      <p:sp>
        <p:nvSpPr>
          <p:cNvPr id="16" name="TextBox 16"/>
          <p:cNvSpPr txBox="1"/>
          <p:nvPr/>
        </p:nvSpPr>
        <p:spPr>
          <a:xfrm>
            <a:off x="7269479" y="2048256"/>
            <a:ext cx="2103120" cy="475488"/>
          </a:xfrm>
          <a:prstGeom prst="rect">
            <a:avLst/>
          </a:prstGeom>
          <a:noFill/>
        </p:spPr>
        <p:txBody>
          <a:bodyPr wrap="square" lIns="13716" tIns="0" rIns="13716" bIns="0">
            <a:spAutoFit/>
          </a:bodyPr>
          <a:lstStyle/>
          <a:p>
            <a:pPr algn="ctr">
              <a:spcAft>
                <a:spcPts val="500"/>
              </a:spcAft>
              <a:defRPr sz="1800" b="0">
                <a:solidFill>
                  <a:srgbClr val="142F50"/>
                </a:solidFill>
                <a:latin typeface="微软雅黑" panose="020B0503020204020204" charset="-122"/>
              </a:defRPr>
            </a:pPr>
            <a:r>
              <a:rPr>
                <a:ea typeface="微软雅黑" panose="020B0503020204020204" charset="-122"/>
              </a:rPr>
              <a:t>计算内积</a:t>
            </a:r>
            <a:endParaRPr>
              <a:ea typeface="微软雅黑" panose="020B0503020204020204" charset="-122"/>
            </a:endParaRPr>
          </a:p>
        </p:txBody>
      </p:sp>
      <p:sp>
        <p:nvSpPr>
          <p:cNvPr id="17" name="TextBox 17"/>
          <p:cNvSpPr txBox="1"/>
          <p:nvPr/>
        </p:nvSpPr>
        <p:spPr>
          <a:xfrm>
            <a:off x="9875520" y="2029968"/>
            <a:ext cx="3840480" cy="365760"/>
          </a:xfrm>
          <a:prstGeom prst="rect">
            <a:avLst/>
          </a:prstGeom>
          <a:noFill/>
        </p:spPr>
        <p:txBody>
          <a:bodyPr wrap="square" lIns="13716" tIns="0" rIns="13716" bIns="0">
            <a:spAutoFit/>
          </a:bodyPr>
          <a:lstStyle/>
          <a:p>
            <a:pPr>
              <a:spcAft>
                <a:spcPts val="500"/>
              </a:spcAft>
              <a:defRPr sz="2000" b="1">
                <a:solidFill>
                  <a:srgbClr val="142F50"/>
                </a:solidFill>
                <a:latin typeface="微软雅黑" panose="020B0503020204020204" charset="-122"/>
              </a:defRPr>
            </a:pPr>
            <a:r>
              <a:rPr>
                <a:ea typeface="微软雅黑" panose="020B0503020204020204" charset="-122"/>
              </a:rPr>
              <a:t>相同结果 K(x, z)</a:t>
            </a:r>
            <a:endParaRPr>
              <a:ea typeface="微软雅黑" panose="020B0503020204020204" charset="-122"/>
            </a:endParaRPr>
          </a:p>
        </p:txBody>
      </p:sp>
      <p:sp>
        <p:nvSpPr>
          <p:cNvPr id="18" name="Rectangle 18"/>
          <p:cNvSpPr/>
          <p:nvPr/>
        </p:nvSpPr>
        <p:spPr>
          <a:xfrm>
            <a:off x="3246120" y="2761488"/>
            <a:ext cx="6217920" cy="585216"/>
          </a:xfrm>
          <a:prstGeom prst="rect">
            <a:avLst/>
          </a:prstGeom>
          <a:solidFill>
            <a:srgbClr val="F0F4F8"/>
          </a:solidFill>
          <a:ln w="10160">
            <a:solidFill>
              <a:srgbClr val="DFE7EF"/>
            </a:solidFill>
          </a:ln>
        </p:spPr>
        <p:txBody>
          <a:bodyPr rtlCol="0" anchor="ctr"/>
          <a:lstStyle/>
          <a:p>
            <a:pPr algn="ctr"/>
          </a:p>
        </p:txBody>
      </p:sp>
      <p:sp>
        <p:nvSpPr>
          <p:cNvPr id="19" name="TextBox 19"/>
          <p:cNvSpPr txBox="1"/>
          <p:nvPr/>
        </p:nvSpPr>
        <p:spPr>
          <a:xfrm>
            <a:off x="3337560" y="2871216"/>
            <a:ext cx="6035040" cy="475488"/>
          </a:xfrm>
          <a:prstGeom prst="rect">
            <a:avLst/>
          </a:prstGeom>
          <a:noFill/>
        </p:spPr>
        <p:txBody>
          <a:bodyPr wrap="square" lIns="13716" tIns="0" rIns="13716" bIns="0">
            <a:spAutoFit/>
          </a:bodyPr>
          <a:lstStyle/>
          <a:p>
            <a:pPr algn="ctr">
              <a:spcAft>
                <a:spcPts val="500"/>
              </a:spcAft>
              <a:defRPr sz="1800" b="0">
                <a:solidFill>
                  <a:srgbClr val="142F50"/>
                </a:solidFill>
                <a:latin typeface="微软雅黑" panose="020B0503020204020204" charset="-122"/>
              </a:defRPr>
            </a:pPr>
            <a:r>
              <a:rPr>
                <a:ea typeface="微软雅黑" panose="020B0503020204020204" charset="-122"/>
              </a:rPr>
              <a:t>直接核计算 K(x, z)，省去显式映射</a:t>
            </a:r>
            <a:endParaRPr>
              <a:ea typeface="微软雅黑" panose="020B0503020204020204" charset="-122"/>
            </a:endParaRPr>
          </a:p>
        </p:txBody>
      </p:sp>
      <p:cxnSp>
        <p:nvCxnSpPr>
          <p:cNvPr id="20" name="Connector 20"/>
          <p:cNvCxnSpPr/>
          <p:nvPr/>
        </p:nvCxnSpPr>
        <p:spPr>
          <a:xfrm>
            <a:off x="1645920" y="2532888"/>
            <a:ext cx="0" cy="521208"/>
          </a:xfrm>
          <a:prstGeom prst="line">
            <a:avLst/>
          </a:prstGeom>
          <a:ln w="12700">
            <a:solidFill>
              <a:srgbClr val="64758A"/>
            </a:solidFill>
          </a:ln>
        </p:spPr>
        <p:style>
          <a:lnRef idx="2">
            <a:schemeClr val="accent1"/>
          </a:lnRef>
          <a:fillRef idx="0">
            <a:schemeClr val="accent1"/>
          </a:fillRef>
          <a:effectRef idx="1">
            <a:schemeClr val="accent1"/>
          </a:effectRef>
          <a:fontRef idx="minor">
            <a:schemeClr val="tx1"/>
          </a:fontRef>
        </p:style>
      </p:cxnSp>
      <p:cxnSp>
        <p:nvCxnSpPr>
          <p:cNvPr id="21" name="Connector 21"/>
          <p:cNvCxnSpPr/>
          <p:nvPr/>
        </p:nvCxnSpPr>
        <p:spPr>
          <a:xfrm>
            <a:off x="1645920" y="3054096"/>
            <a:ext cx="1417320" cy="0"/>
          </a:xfrm>
          <a:prstGeom prst="line">
            <a:avLst/>
          </a:prstGeom>
          <a:ln w="12700">
            <a:solidFill>
              <a:srgbClr val="142F50"/>
            </a:solidFill>
          </a:ln>
        </p:spPr>
        <p:style>
          <a:lnRef idx="2">
            <a:schemeClr val="accent1"/>
          </a:lnRef>
          <a:fillRef idx="0">
            <a:schemeClr val="accent1"/>
          </a:fillRef>
          <a:effectRef idx="1">
            <a:schemeClr val="accent1"/>
          </a:effectRef>
          <a:fontRef idx="minor">
            <a:schemeClr val="tx1"/>
          </a:fontRef>
        </p:style>
      </p:cxnSp>
      <p:sp>
        <p:nvSpPr>
          <p:cNvPr id="22" name="Right Arrow 22"/>
          <p:cNvSpPr/>
          <p:nvPr/>
        </p:nvSpPr>
        <p:spPr>
          <a:xfrm>
            <a:off x="2852928" y="2926080"/>
            <a:ext cx="256032" cy="256032"/>
          </a:xfrm>
          <a:prstGeom prst="rightArrow">
            <a:avLst/>
          </a:prstGeom>
          <a:solidFill>
            <a:srgbClr val="142F50"/>
          </a:solidFill>
          <a:ln>
            <a:noFill/>
          </a:ln>
        </p:spPr>
        <p:txBody>
          <a:bodyPr rtlCol="0" anchor="ctr"/>
          <a:lstStyle/>
          <a:p>
            <a:pPr algn="ctr"/>
          </a:p>
        </p:txBody>
      </p:sp>
      <p:sp>
        <p:nvSpPr>
          <p:cNvPr id="23" name="TextBox 23"/>
          <p:cNvSpPr txBox="1"/>
          <p:nvPr/>
        </p:nvSpPr>
        <p:spPr>
          <a:xfrm>
            <a:off x="731520" y="3630168"/>
            <a:ext cx="13441680" cy="438912"/>
          </a:xfrm>
          <a:prstGeom prst="rect">
            <a:avLst/>
          </a:prstGeom>
          <a:noFill/>
        </p:spPr>
        <p:txBody>
          <a:bodyPr wrap="square" lIns="13716" tIns="0" rIns="13716" bIns="0">
            <a:spAutoFit/>
          </a:bodyPr>
          <a:lstStyle/>
          <a:p>
            <a:pPr>
              <a:spcAft>
                <a:spcPts val="500"/>
              </a:spcAft>
              <a:defRPr sz="2100" b="0">
                <a:solidFill>
                  <a:srgbClr val="142F50"/>
                </a:solidFill>
                <a:latin typeface="Cambria Math" panose="02040503050406030204"/>
              </a:defRPr>
            </a:pPr>
            <a:r>
              <a:rPr>
                <a:ea typeface="Cambria Math" panose="02040503050406030204"/>
              </a:rPr>
              <a:t>K(x, z) = (1 + xᵀz)²    ⇔    φ(x) = (1, √2x₁, √2x₂, x₁², √2x₁x₂, x₂²)</a:t>
            </a:r>
            <a:endParaRPr>
              <a:ea typeface="Cambria Math" panose="02040503050406030204"/>
            </a:endParaRPr>
          </a:p>
        </p:txBody>
      </p:sp>
      <p:graphicFrame>
        <p:nvGraphicFramePr>
          <p:cNvPr id="24" name="Table 24"/>
          <p:cNvGraphicFramePr>
            <a:graphicFrameLocks noGrp="1"/>
          </p:cNvGraphicFramePr>
          <p:nvPr/>
        </p:nvGraphicFramePr>
        <p:xfrm>
          <a:off x="731520" y="4315968"/>
          <a:ext cx="13167360" cy="2331720"/>
        </p:xfrm>
        <a:graphic>
          <a:graphicData uri="http://schemas.openxmlformats.org/drawingml/2006/table">
            <a:tbl>
              <a:tblPr firstRow="1" bandRow="1">
                <a:tableStyleId>{5C22544A-7EE6-4342-B048-85BDC9FD1C3A}</a:tableStyleId>
              </a:tblPr>
              <a:tblGrid>
                <a:gridCol w="1828800"/>
                <a:gridCol w="3931920"/>
                <a:gridCol w="7406640"/>
              </a:tblGrid>
              <a:tr h="466344">
                <a:tc>
                  <a:txBody>
                    <a:bodyPr/>
                    <a:lstStyle/>
                    <a:p>
                      <a:pPr>
                        <a:defRPr sz="1900" b="1">
                          <a:solidFill>
                            <a:srgbClr val="FFFFFF"/>
                          </a:solidFill>
                          <a:latin typeface="微软雅黑" panose="020B0503020204020204" charset="-122"/>
                        </a:defRPr>
                      </a:pPr>
                      <a:r>
                        <a:t>核函数</a:t>
                      </a:r>
                    </a:p>
                  </a:txBody>
                  <a:tcPr marL="109728" marR="54864" marT="54864" marB="36576">
                    <a:solidFill>
                      <a:srgbClr val="142F50"/>
                    </a:solidFill>
                  </a:tcPr>
                </a:tc>
                <a:tc>
                  <a:txBody>
                    <a:bodyPr/>
                    <a:lstStyle/>
                    <a:p>
                      <a:pPr>
                        <a:defRPr sz="1900" b="1">
                          <a:solidFill>
                            <a:srgbClr val="FFFFFF"/>
                          </a:solidFill>
                          <a:latin typeface="微软雅黑" panose="020B0503020204020204" charset="-122"/>
                        </a:defRPr>
                      </a:pPr>
                      <a:r>
                        <a:t>表达式 K(x, z)</a:t>
                      </a:r>
                    </a:p>
                  </a:txBody>
                  <a:tcPr marL="109728" marR="54864" marT="54864" marB="36576">
                    <a:solidFill>
                      <a:srgbClr val="142F50"/>
                    </a:solidFill>
                  </a:tcPr>
                </a:tc>
                <a:tc>
                  <a:txBody>
                    <a:bodyPr/>
                    <a:lstStyle/>
                    <a:p>
                      <a:pPr>
                        <a:defRPr sz="1900" b="1">
                          <a:solidFill>
                            <a:srgbClr val="FFFFFF"/>
                          </a:solidFill>
                          <a:latin typeface="微软雅黑" panose="020B0503020204020204" charset="-122"/>
                        </a:defRPr>
                      </a:pPr>
                      <a:r>
                        <a:t>适用特点 / 条件</a:t>
                      </a:r>
                    </a:p>
                  </a:txBody>
                  <a:tcPr marL="109728" marR="54864" marT="54864" marB="36576">
                    <a:solidFill>
                      <a:srgbClr val="142F50"/>
                    </a:solidFill>
                  </a:tcPr>
                </a:tc>
              </a:tr>
              <a:tr h="466344">
                <a:tc>
                  <a:txBody>
                    <a:bodyPr/>
                    <a:lstStyle/>
                    <a:p>
                      <a:pPr>
                        <a:defRPr sz="1900" b="0">
                          <a:solidFill>
                            <a:srgbClr val="243A50"/>
                          </a:solidFill>
                          <a:latin typeface="微软雅黑" panose="020B0503020204020204" charset="-122"/>
                        </a:defRPr>
                      </a:pPr>
                      <a:r>
                        <a:t>线性</a:t>
                      </a:r>
                    </a:p>
                  </a:txBody>
                  <a:tcPr marL="109728" marR="54864" marT="54864" marB="36576">
                    <a:solidFill>
                      <a:srgbClr val="F0F4F8"/>
                    </a:solidFill>
                  </a:tcPr>
                </a:tc>
                <a:tc>
                  <a:txBody>
                    <a:bodyPr/>
                    <a:lstStyle/>
                    <a:p>
                      <a:pPr>
                        <a:defRPr sz="1900" b="0">
                          <a:solidFill>
                            <a:srgbClr val="243A50"/>
                          </a:solidFill>
                          <a:latin typeface="微软雅黑" panose="020B0503020204020204" charset="-122"/>
                        </a:defRPr>
                      </a:pPr>
                      <a:r>
                        <a:t>xᵀz</a:t>
                      </a:r>
                    </a:p>
                  </a:txBody>
                  <a:tcPr marL="109728" marR="54864" marT="54864" marB="36576">
                    <a:solidFill>
                      <a:srgbClr val="F0F4F8"/>
                    </a:solidFill>
                  </a:tcPr>
                </a:tc>
                <a:tc>
                  <a:txBody>
                    <a:bodyPr/>
                    <a:lstStyle/>
                    <a:p>
                      <a:pPr>
                        <a:defRPr sz="1900" b="0">
                          <a:solidFill>
                            <a:srgbClr val="243A50"/>
                          </a:solidFill>
                          <a:latin typeface="微软雅黑" panose="020B0503020204020204" charset="-122"/>
                        </a:defRPr>
                      </a:pPr>
                      <a:r>
                        <a:t>原始空间的线性关系</a:t>
                      </a:r>
                    </a:p>
                  </a:txBody>
                  <a:tcPr marL="109728" marR="54864" marT="54864" marB="36576">
                    <a:solidFill>
                      <a:srgbClr val="F0F4F8"/>
                    </a:solidFill>
                  </a:tcPr>
                </a:tc>
              </a:tr>
              <a:tr h="466344">
                <a:tc>
                  <a:txBody>
                    <a:bodyPr/>
                    <a:lstStyle/>
                    <a:p>
                      <a:pPr>
                        <a:defRPr sz="1900" b="0">
                          <a:solidFill>
                            <a:srgbClr val="243A50"/>
                          </a:solidFill>
                          <a:latin typeface="微软雅黑" panose="020B0503020204020204" charset="-122"/>
                        </a:defRPr>
                      </a:pPr>
                      <a:r>
                        <a:t>多项式</a:t>
                      </a:r>
                    </a:p>
                  </a:txBody>
                  <a:tcPr marL="109728" marR="54864" marT="54864" marB="36576">
                    <a:solidFill>
                      <a:srgbClr val="FFFFFF"/>
                    </a:solidFill>
                  </a:tcPr>
                </a:tc>
                <a:tc>
                  <a:txBody>
                    <a:bodyPr/>
                    <a:lstStyle/>
                    <a:p>
                      <a:pPr>
                        <a:defRPr sz="1900" b="0">
                          <a:solidFill>
                            <a:srgbClr val="243A50"/>
                          </a:solidFill>
                          <a:latin typeface="微软雅黑" panose="020B0503020204020204" charset="-122"/>
                        </a:defRPr>
                      </a:pPr>
                      <a:r>
                        <a:t>(γxᵀz + r)ᵈ</a:t>
                      </a:r>
                    </a:p>
                  </a:txBody>
                  <a:tcPr marL="109728" marR="54864" marT="54864" marB="36576">
                    <a:solidFill>
                      <a:srgbClr val="FFFFFF"/>
                    </a:solidFill>
                  </a:tcPr>
                </a:tc>
                <a:tc>
                  <a:txBody>
                    <a:bodyPr/>
                    <a:lstStyle/>
                    <a:p>
                      <a:pPr>
                        <a:defRPr sz="1900" b="0">
                          <a:solidFill>
                            <a:srgbClr val="243A50"/>
                          </a:solidFill>
                          <a:latin typeface="微软雅黑" panose="020B0503020204020204" charset="-122"/>
                        </a:defRPr>
                      </a:pPr>
                      <a:r>
                        <a:t>多项式交互；γ &gt; 0，r ≥ 0，d 为正整数</a:t>
                      </a:r>
                    </a:p>
                  </a:txBody>
                  <a:tcPr marL="109728" marR="54864" marT="54864" marB="36576">
                    <a:solidFill>
                      <a:srgbClr val="FFFFFF"/>
                    </a:solidFill>
                  </a:tcPr>
                </a:tc>
              </a:tr>
              <a:tr h="466344">
                <a:tc>
                  <a:txBody>
                    <a:bodyPr/>
                    <a:lstStyle/>
                    <a:p>
                      <a:pPr>
                        <a:defRPr sz="1900" b="0">
                          <a:solidFill>
                            <a:srgbClr val="243A50"/>
                          </a:solidFill>
                          <a:latin typeface="微软雅黑" panose="020B0503020204020204" charset="-122"/>
                        </a:defRPr>
                      </a:pPr>
                      <a:r>
                        <a:t>RBF 高斯</a:t>
                      </a:r>
                    </a:p>
                  </a:txBody>
                  <a:tcPr marL="109728" marR="54864" marT="54864" marB="36576">
                    <a:solidFill>
                      <a:srgbClr val="F0F4F8"/>
                    </a:solidFill>
                  </a:tcPr>
                </a:tc>
                <a:tc>
                  <a:txBody>
                    <a:bodyPr/>
                    <a:lstStyle/>
                    <a:p>
                      <a:pPr>
                        <a:defRPr sz="1900" b="0">
                          <a:solidFill>
                            <a:srgbClr val="243A50"/>
                          </a:solidFill>
                          <a:latin typeface="微软雅黑" panose="020B0503020204020204" charset="-122"/>
                        </a:defRPr>
                      </a:pPr>
                      <a:r>
                        <a:t>exp(−γ‖x − z‖²)</a:t>
                      </a:r>
                    </a:p>
                  </a:txBody>
                  <a:tcPr marL="109728" marR="54864" marT="54864" marB="36576">
                    <a:solidFill>
                      <a:srgbClr val="F0F4F8"/>
                    </a:solidFill>
                  </a:tcPr>
                </a:tc>
                <a:tc>
                  <a:txBody>
                    <a:bodyPr/>
                    <a:lstStyle/>
                    <a:p>
                      <a:pPr>
                        <a:defRPr sz="1900" b="0">
                          <a:solidFill>
                            <a:srgbClr val="243A50"/>
                          </a:solidFill>
                          <a:latin typeface="微软雅黑" panose="020B0503020204020204" charset="-122"/>
                        </a:defRPr>
                      </a:pPr>
                      <a:r>
                        <a:t>局部相似性；γ &gt; 0</a:t>
                      </a:r>
                    </a:p>
                  </a:txBody>
                  <a:tcPr marL="109728" marR="54864" marT="54864" marB="36576">
                    <a:solidFill>
                      <a:srgbClr val="F0F4F8"/>
                    </a:solidFill>
                  </a:tcPr>
                </a:tc>
              </a:tr>
              <a:tr h="466344">
                <a:tc>
                  <a:txBody>
                    <a:bodyPr/>
                    <a:lstStyle/>
                    <a:p>
                      <a:pPr>
                        <a:defRPr sz="1900" b="0">
                          <a:solidFill>
                            <a:srgbClr val="243A50"/>
                          </a:solidFill>
                          <a:latin typeface="微软雅黑" panose="020B0503020204020204" charset="-122"/>
                        </a:defRPr>
                      </a:pPr>
                      <a:r>
                        <a:t>Sigmoid</a:t>
                      </a:r>
                    </a:p>
                  </a:txBody>
                  <a:tcPr marL="109728" marR="54864" marT="54864" marB="36576">
                    <a:solidFill>
                      <a:srgbClr val="FFFFFF"/>
                    </a:solidFill>
                  </a:tcPr>
                </a:tc>
                <a:tc>
                  <a:txBody>
                    <a:bodyPr/>
                    <a:lstStyle/>
                    <a:p>
                      <a:pPr>
                        <a:defRPr sz="1900" b="0">
                          <a:solidFill>
                            <a:srgbClr val="243A50"/>
                          </a:solidFill>
                          <a:latin typeface="微软雅黑" panose="020B0503020204020204" charset="-122"/>
                        </a:defRPr>
                      </a:pPr>
                      <a:r>
                        <a:t>tanh(γxᵀz + r)</a:t>
                      </a:r>
                    </a:p>
                  </a:txBody>
                  <a:tcPr marL="109728" marR="54864" marT="54864" marB="36576">
                    <a:solidFill>
                      <a:srgbClr val="FFFFFF"/>
                    </a:solidFill>
                  </a:tcPr>
                </a:tc>
                <a:tc>
                  <a:txBody>
                    <a:bodyPr/>
                    <a:lstStyle/>
                    <a:p>
                      <a:pPr>
                        <a:defRPr sz="1900" b="0">
                          <a:solidFill>
                            <a:srgbClr val="243A50"/>
                          </a:solidFill>
                          <a:latin typeface="微软雅黑" panose="020B0503020204020204" charset="-122"/>
                        </a:defRPr>
                      </a:pPr>
                      <a:r>
                        <a:t>类似激活函数；并非任意参数都半正定</a:t>
                      </a:r>
                    </a:p>
                  </a:txBody>
                  <a:tcPr marL="109728" marR="54864" marT="54864" marB="36576">
                    <a:solidFill>
                      <a:srgbClr val="FFFFFF"/>
                    </a:solidFill>
                  </a:tcPr>
                </a:tc>
              </a:tr>
            </a:tbl>
          </a:graphicData>
        </a:graphic>
      </p:graphicFrame>
      <p:sp>
        <p:nvSpPr>
          <p:cNvPr id="25" name="TextBox 25"/>
          <p:cNvSpPr txBox="1"/>
          <p:nvPr/>
        </p:nvSpPr>
        <p:spPr>
          <a:xfrm>
            <a:off x="777240" y="6720840"/>
            <a:ext cx="13075920" cy="585216"/>
          </a:xfrm>
          <a:prstGeom prst="rect">
            <a:avLst/>
          </a:prstGeom>
          <a:noFill/>
        </p:spPr>
        <p:txBody>
          <a:bodyPr wrap="square" lIns="13716" tIns="0" rIns="13716" bIns="0">
            <a:spAutoFit/>
          </a:bodyPr>
          <a:lstStyle/>
          <a:p>
            <a:pPr>
              <a:spcAft>
                <a:spcPts val="400"/>
              </a:spcAft>
              <a:defRPr sz="1800" b="0">
                <a:solidFill>
                  <a:srgbClr val="142F50"/>
                </a:solidFill>
                <a:latin typeface="微软雅黑" panose="020B0503020204020204" charset="-122"/>
              </a:defRPr>
            </a:pPr>
            <a:r>
              <a:rPr>
                <a:ea typeface="微软雅黑" panose="020B0503020204020204" charset="-122"/>
              </a:rPr>
              <a:t>三维教学映射与六维二次核映射不同。核技巧直接计算特征空间内积，</a:t>
            </a:r>
            <a:endParaRPr>
              <a:ea typeface="微软雅黑" panose="020B0503020204020204" charset="-122"/>
            </a:endParaRPr>
          </a:p>
          <a:p>
            <a:pPr>
              <a:spcAft>
                <a:spcPts val="400"/>
              </a:spcAft>
              <a:defRPr sz="1800" b="0">
                <a:solidFill>
                  <a:srgbClr val="142F50"/>
                </a:solidFill>
                <a:latin typeface="微软雅黑" panose="020B0503020204020204" charset="-122"/>
              </a:defRPr>
            </a:pPr>
            <a:r>
              <a:rPr>
                <a:ea typeface="微软雅黑" panose="020B0503020204020204" charset="-122"/>
              </a:rPr>
              <a:t>避免显式构造高维向量，但核矩阵及优化仍有计算开销。</a:t>
            </a:r>
            <a:endParaRPr>
              <a:ea typeface="微软雅黑" panose="020B0503020204020204" charset="-122"/>
            </a:endParaRPr>
          </a:p>
        </p:txBody>
      </p:sp>
      <p:sp>
        <p:nvSpPr>
          <p:cNvPr id="26" name="TextBox 26"/>
          <p:cNvSpPr txBox="1"/>
          <p:nvPr/>
        </p:nvSpPr>
        <p:spPr>
          <a:xfrm>
            <a:off x="594360" y="7654544"/>
            <a:ext cx="13441680" cy="18415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核技巧的等价计算路径与常用核函数；r 为常数项，d 为多项式次数。</a:t>
            </a:r>
            <a:endParaRPr>
              <a:ea typeface="微软雅黑" panose="020B0503020204020204" charset="-122"/>
            </a:endParaR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二次核：逐项展开给你看</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5.2 核函数与核技巧</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φ(x)=(1, √2x₁, √2x₂, x₁², √2x₁x₂, x₂²)</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φ(x)ᵀφ(z)=1+2x₁z₁+2x₂z₂+x₁²z₁²</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再加 2x₁x₂z₁z₂+x₂²z₂²，恰为 (1+xᵀz)²</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√2 × √2 = 2：系数决定了特征的缩放</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5.2 核函数与核技巧</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09 / 25</a:t>
            </a:r>
            <a:endParaRPr>
              <a:ea typeface="微软雅黑" panose="020B0503020204020204" charset="-122"/>
            </a:endParaR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数值核对：两个算法都得到 4</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5.2 核函数与核技巧</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取 x=(1,0)，z=(1,1)</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直接算：(1+1×1+0×1)²=4</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显式算：(1,√2,0,1,0,0) 点乘 (1,√2,√2,1,√2,1)</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1 + 2 + 1 = 4</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5.2 核函数与核技巧</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10 / 25</a:t>
            </a:r>
            <a:endParaRPr>
              <a:ea typeface="微软雅黑" panose="020B0503020204020204" charset="-122"/>
            </a:endParaR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什么函数才有资格成为内积核？</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5.3 Mercer 与半正定性</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实值核需对称：K(x,z)=K(z,x)</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任意有限样本的 Gram 矩阵 G 都需半正定</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对任意实向量 c，cᵀGc ≥ 0</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Gᵢⱼ=K(xᵢ,xⱼ)；“任意”是条件的关键</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5.3 Mercer 与半正定性</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11 / 25</a:t>
            </a:r>
            <a:endParaRPr>
              <a:ea typeface="微软雅黑" panose="020B0503020204020204" charset="-122"/>
            </a:endParaR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为什么内积一定产生半正定矩阵？</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5.3 Mercer 与半正定性</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cᵀGc = ΣᵢΣⱼ cᵢcⱼ⟨φ(xᵢ),φ(xⱼ)⟩</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利用内积双线性，合并为一个向量的范数平方</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允许等于 0；重复样本就可能造成零特征值</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cᵀGc = ‖Σᵢ cᵢ φ(xᵢ)‖² ≥ 0</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5.3 Mercer 与半正定性</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12 / 25</a:t>
            </a:r>
            <a:endParaRPr>
              <a:ea typeface="微软雅黑" panose="020B0503020204020204" charset="-122"/>
            </a:endParaR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一个反例，比一百次通过更有力量</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5.3 Mercer 与半正定性</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G = [[1,2],[2,1]]：对称，元素也都为正</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取 c=(1,−1)，则 cᵀGc=−2</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因此这种 Gram 矩阵不可能来自实内积</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有限样本检查失败可否定；检查通过不能证明全局合法</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5.3 Mercer 与半正定性</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13 / 25</a:t>
            </a:r>
            <a:endParaRPr>
              <a:ea typeface="微软雅黑" panose="020B0503020204020204" charset="-122"/>
            </a:endParaRP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多项式核：把交互关系交给模型</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5.4 多项式核</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K(x,z)=(γxᵀz+r)ᵈ</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常用合法条件：γ≥0、r≥0、d 为正整数</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d 控制交互阶数；r&gt;0 时包含低阶项</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图片公式 (xᵀz+c)ᵈ 对应 γ=1；这里用 r 避免与 C 混淆</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5.4 多项式核</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14 / 25</a:t>
            </a:r>
            <a:endParaRPr>
              <a:ea typeface="微软雅黑" panose="020B0503020204020204" charset="-122"/>
            </a:endParaR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次数不是越大越好</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5.4 多项式核</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原维度 p，含 ≤d 阶单项式数为组合数 C(p+d,d)</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二次 p=2 → 6 维；p=1000 → 501501 维</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核值可直接计算，但高次数仍会放大尺度与噪声</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先标准化，再通过交叉验证选择 d、γ、r、C</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5.4 多项式核</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15 / 25</a:t>
            </a:r>
            <a:endParaRPr>
              <a:ea typeface="微软雅黑" panose="020B0503020204020204" charset="-122"/>
            </a:endParaR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高斯核：距离越近，核值越大</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5.5 高斯 RBF 核</a:t>
            </a:r>
          </a:p>
        </p:txBody>
      </p:sp>
      <p:sp>
        <p:nvSpPr>
          <p:cNvPr id="6" name="TextBox 7"/>
          <p:cNvSpPr txBox="1"/>
          <p:nvPr/>
        </p:nvSpPr>
        <p:spPr>
          <a:xfrm>
            <a:off x="731520" y="1965960"/>
            <a:ext cx="6583680" cy="3931920"/>
          </a:xfrm>
          <a:prstGeom prst="rect">
            <a:avLst/>
          </a:prstGeom>
          <a:noFill/>
        </p:spPr>
        <p:txBody>
          <a:bodyPr wrap="square" lIns="18288" tIns="0">
            <a:spAutoFit/>
          </a:bodyPr>
          <a:lstStyle/>
          <a:p>
            <a:pPr>
              <a:spcAft>
                <a:spcPts val="1200"/>
              </a:spcAft>
              <a:defRPr sz="2400" b="0">
                <a:solidFill>
                  <a:srgbClr val="243A50"/>
                </a:solidFill>
                <a:latin typeface="Noto Sans CJK SC"/>
              </a:defRPr>
            </a:pPr>
            <a:r>
              <a:rPr>
                <a:ea typeface="Noto Sans CJK SC"/>
              </a:rPr>
              <a:t>• K(x,z)=exp(−γ‖x−z‖²)，γ&gt;0</a:t>
            </a:r>
          </a:p>
          <a:p>
            <a:pPr>
              <a:spcAft>
                <a:spcPts val="1200"/>
              </a:spcAft>
              <a:defRPr sz="2400" b="0">
                <a:solidFill>
                  <a:srgbClr val="243A50"/>
                </a:solidFill>
                <a:latin typeface="Noto Sans CJK SC"/>
              </a:defRPr>
            </a:pPr>
          </a:p>
          <a:p>
            <a:pPr>
              <a:spcAft>
                <a:spcPts val="1200"/>
              </a:spcAft>
              <a:defRPr sz="2400" b="0">
                <a:solidFill>
                  <a:srgbClr val="243A50"/>
                </a:solidFill>
                <a:latin typeface="Noto Sans CJK SC"/>
              </a:defRPr>
            </a:pPr>
            <a:r>
              <a:rPr>
                <a:ea typeface="Noto Sans CJK SC"/>
              </a:rPr>
              <a:t>• 等价写法：exp(−‖x−z‖²/(2σ²))</a:t>
            </a:r>
          </a:p>
          <a:p>
            <a:pPr>
              <a:spcAft>
                <a:spcPts val="1200"/>
              </a:spcAft>
              <a:defRPr sz="2400" b="0">
                <a:solidFill>
                  <a:srgbClr val="243A50"/>
                </a:solidFill>
                <a:latin typeface="Noto Sans CJK SC"/>
              </a:defRPr>
            </a:pPr>
          </a:p>
          <a:p>
            <a:pPr>
              <a:spcAft>
                <a:spcPts val="1200"/>
              </a:spcAft>
              <a:defRPr sz="2400" b="0">
                <a:solidFill>
                  <a:srgbClr val="243A50"/>
                </a:solidFill>
                <a:latin typeface="Noto Sans CJK SC"/>
              </a:defRPr>
            </a:pPr>
            <a:r>
              <a:rPr>
                <a:ea typeface="Noto Sans CJK SC"/>
              </a:rPr>
              <a:t>• γ=1/(2σ²)；K(x,x)=1；0&lt;K≤1</a:t>
            </a:r>
          </a:p>
        </p:txBody>
      </p:sp>
      <p:pic>
        <p:nvPicPr>
          <p:cNvPr id="7" name="Picture 8" descr="rbf.png"/>
          <p:cNvPicPr>
            <a:picLocks noChangeAspect="1"/>
          </p:cNvPicPr>
          <p:nvPr/>
        </p:nvPicPr>
        <p:blipFill>
          <a:blip r:embed="rId2"/>
          <a:stretch>
            <a:fillRect/>
          </a:stretch>
        </p:blipFill>
        <p:spPr>
          <a:xfrm>
            <a:off x="7452360" y="1920240"/>
            <a:ext cx="6400800" cy="4389120"/>
          </a:xfrm>
          <a:prstGeom prst="rect">
            <a:avLst/>
          </a:prstGeom>
        </p:spPr>
      </p:pic>
      <p:sp>
        <p:nvSpPr>
          <p:cNvPr id="8" name="TextBox 9"/>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γ 大 → 作用范围窄；σ 大 → 作用范围宽</a:t>
            </a:r>
          </a:p>
        </p:txBody>
      </p:sp>
      <p:sp>
        <p:nvSpPr>
          <p:cNvPr id="9" name="TextBox 10"/>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5.5 高斯 RBF 核</a:t>
            </a:r>
          </a:p>
        </p:txBody>
      </p:sp>
      <p:sp>
        <p:nvSpPr>
          <p:cNvPr id="10"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16 / 25</a:t>
            </a:r>
            <a:endParaRPr>
              <a:ea typeface="微软雅黑" panose="020B0503020204020204" charset="-122"/>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无限维从哪里来？看指数展开</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5.5 高斯 RBF 核</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K=exp(−γ‖x‖²) exp(−γ‖z‖²) exp(2γxᵀz)</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exp(2γxᵀz)=Σₖ₌₀^∞ (2γ)ᵏ(xᵀz)ᵏ/k!</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每一阶都贡献特征，因此通常对应无限维空间</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单次核值：O(p)；不需要构造无限长向量</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5.5 高斯 RBF 核</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17 / 25</a:t>
            </a:r>
            <a:endParaRPr>
              <a:ea typeface="微软雅黑" panose="020B0503020204020204" charset="-122"/>
            </a:endParaR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核技巧节省什么，又没有节省什么？</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5.5 高斯 RBF 核</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单次 RBF 核计算 O(p)，与无限特征展开区分</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n 个训练样本：完整 Gram 矩阵有 n² 个元素</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稠密存储 O(n²)；总训练成本还取决于优化算法</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核技巧 ≠ 整个 SVM 训练只需 O(p)</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5.5 高斯 RBF 核</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18 / 25</a:t>
            </a:r>
            <a:endParaRPr>
              <a:ea typeface="微软雅黑" panose="020B0503020204020204" charset="-122"/>
            </a:endParaRP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回到 SVM：最大间隔到底在哪里？</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训练与预测</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原始问题：min ½‖w‖² + CΣᵢξᵢ</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约束：yᵢ(⟨w,φ(xᵢ)⟩+b)≥1−ξᵢ，ξᵢ≥0</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在特征空间找大间隔；原空间边界可以弯曲</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C 越大，违约惩罚越重；不保证测试误差更小</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训练与预测</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19 / 25</a:t>
            </a:r>
            <a:endParaRPr>
              <a:ea typeface="微软雅黑" panose="020B0503020204020204" charset="-122"/>
            </a:endParaRP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对偶：内积位置统一换成核函数</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训练与预测</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max Σᵢαᵢ − ½ΣᵢΣⱼαᵢαⱼyᵢyⱼK(xᵢ,xⱼ)</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0≤αᵢ≤C；Σᵢαᵢyᵢ=0</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预测：f(x)=Σᵢ∈SV αᵢyᵢK(xᵢ,x)+b</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ŷ=sign(f(x))；数值实现用容差识别支持向量</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训练与预测</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20 / 25</a:t>
            </a:r>
            <a:endParaRPr>
              <a:ea typeface="微软雅黑" panose="020B0503020204020204" charset="-122"/>
            </a:endParaRP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sp>
        <p:nvSpPr>
          <p:cNvPr id="3"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XOR 闭环：实际训练，不只看示意图</a:t>
            </a:r>
            <a:endParaRPr>
              <a:ea typeface="微软雅黑" panose="020B0503020204020204" charset="-122"/>
            </a:endParaRPr>
          </a:p>
        </p:txBody>
      </p:sp>
      <p:sp>
        <p:nvSpPr>
          <p:cNvPr id="4" name="TextBox 3"/>
          <p:cNvSpPr txBox="1"/>
          <p:nvPr/>
        </p:nvSpPr>
        <p:spPr>
          <a:xfrm>
            <a:off x="12207240" y="594360"/>
            <a:ext cx="868680" cy="228600"/>
          </a:xfrm>
          <a:prstGeom prst="rect">
            <a:avLst/>
          </a:prstGeom>
          <a:noFill/>
        </p:spPr>
        <p:txBody>
          <a:bodyPr wrap="square" lIns="13716" tIns="0" rIns="13716" bIns="0">
            <a:spAutoFit/>
          </a:bodyPr>
          <a:lstStyle/>
          <a:p>
            <a:pPr>
              <a:spcAft>
                <a:spcPts val="500"/>
              </a:spcAft>
              <a:defRPr sz="1200" b="1">
                <a:solidFill>
                  <a:srgbClr val="E98726"/>
                </a:solidFill>
                <a:latin typeface="微软雅黑" panose="020B0503020204020204" charset="-122"/>
              </a:defRPr>
            </a:pPr>
            <a:r>
              <a:rPr>
                <a:ea typeface="微软雅黑" panose="020B0503020204020204" charset="-122"/>
              </a:rPr>
              <a:t>+1 正类</a:t>
            </a:r>
            <a:endParaRPr>
              <a:ea typeface="微软雅黑" panose="020B0503020204020204" charset="-122"/>
            </a:endParaRPr>
          </a:p>
        </p:txBody>
      </p:sp>
      <p:sp>
        <p:nvSpPr>
          <p:cNvPr id="5" name="TextBox 4"/>
          <p:cNvSpPr txBox="1"/>
          <p:nvPr/>
        </p:nvSpPr>
        <p:spPr>
          <a:xfrm>
            <a:off x="13213080" y="594360"/>
            <a:ext cx="868680" cy="228600"/>
          </a:xfrm>
          <a:prstGeom prst="rect">
            <a:avLst/>
          </a:prstGeom>
          <a:noFill/>
        </p:spPr>
        <p:txBody>
          <a:bodyPr wrap="square" lIns="13716" tIns="0" rIns="13716" bIns="0">
            <a:spAutoFit/>
          </a:bodyPr>
          <a:lstStyle/>
          <a:p>
            <a:pPr>
              <a:spcAft>
                <a:spcPts val="500"/>
              </a:spcAft>
              <a:defRPr sz="1200" b="1">
                <a:solidFill>
                  <a:srgbClr val="2878B8"/>
                </a:solidFill>
                <a:latin typeface="微软雅黑" panose="020B0503020204020204" charset="-122"/>
              </a:defRPr>
            </a:pPr>
            <a:r>
              <a:rPr>
                <a:ea typeface="微软雅黑" panose="020B0503020204020204" charset="-122"/>
              </a:rPr>
              <a:t>−1 负类</a:t>
            </a:r>
            <a:endParaRPr>
              <a:ea typeface="微软雅黑" panose="020B0503020204020204" charset="-122"/>
            </a:endParaRPr>
          </a:p>
        </p:txBody>
      </p:sp>
      <p:cxnSp>
        <p:nvCxnSpPr>
          <p:cNvPr id="6"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7"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21 / 25</a:t>
            </a:r>
            <a:endParaRPr>
              <a:ea typeface="微软雅黑" panose="020B0503020204020204" charset="-122"/>
            </a:endParaRPr>
          </a:p>
        </p:txBody>
      </p:sp>
      <p:sp>
        <p:nvSpPr>
          <p:cNvPr id="8" name="TextBox 8"/>
          <p:cNvSpPr txBox="1"/>
          <p:nvPr/>
        </p:nvSpPr>
        <p:spPr>
          <a:xfrm>
            <a:off x="731520" y="1234440"/>
            <a:ext cx="13167360" cy="365760"/>
          </a:xfrm>
          <a:prstGeom prst="rect">
            <a:avLst/>
          </a:prstGeom>
          <a:noFill/>
        </p:spPr>
        <p:txBody>
          <a:bodyPr wrap="square" lIns="13716" tIns="0" rIns="13716" bIns="0">
            <a:spAutoFit/>
          </a:bodyPr>
          <a:lstStyle/>
          <a:p>
            <a:pPr>
              <a:spcAft>
                <a:spcPts val="500"/>
              </a:spcAft>
              <a:defRPr sz="2000" b="0">
                <a:solidFill>
                  <a:srgbClr val="142F50"/>
                </a:solidFill>
                <a:latin typeface="微软雅黑" panose="020B0503020204020204" charset="-122"/>
              </a:defRPr>
            </a:pPr>
            <a:r>
              <a:rPr>
                <a:ea typeface="微软雅黑" panose="020B0503020204020204" charset="-122"/>
              </a:rPr>
              <a:t>四点训练集；标签 (−1, +1, +1, −1)；C = 10；二次核 K(x,z) = (1 + xᵀz)²</a:t>
            </a:r>
            <a:endParaRPr>
              <a:ea typeface="微软雅黑" panose="020B0503020204020204" charset="-122"/>
            </a:endParaRPr>
          </a:p>
        </p:txBody>
      </p:sp>
      <p:sp>
        <p:nvSpPr>
          <p:cNvPr id="9" name="TextBox 9"/>
          <p:cNvSpPr txBox="1"/>
          <p:nvPr/>
        </p:nvSpPr>
        <p:spPr>
          <a:xfrm>
            <a:off x="914400" y="1856231"/>
            <a:ext cx="2926080" cy="365760"/>
          </a:xfrm>
          <a:prstGeom prst="rect">
            <a:avLst/>
          </a:prstGeom>
          <a:noFill/>
        </p:spPr>
        <p:txBody>
          <a:bodyPr wrap="square" lIns="13716" tIns="0" rIns="13716" bIns="0">
            <a:spAutoFit/>
          </a:bodyPr>
          <a:lstStyle/>
          <a:p>
            <a:pPr>
              <a:spcAft>
                <a:spcPts val="500"/>
              </a:spcAft>
              <a:defRPr sz="2000" b="1">
                <a:solidFill>
                  <a:srgbClr val="142F50"/>
                </a:solidFill>
                <a:latin typeface="微软雅黑" panose="020B0503020204020204" charset="-122"/>
              </a:defRPr>
            </a:pPr>
            <a:r>
              <a:rPr>
                <a:ea typeface="微软雅黑" panose="020B0503020204020204" charset="-122"/>
              </a:rPr>
              <a:t>原始 XOR</a:t>
            </a:r>
            <a:endParaRPr>
              <a:ea typeface="微软雅黑" panose="020B0503020204020204" charset="-122"/>
            </a:endParaRPr>
          </a:p>
        </p:txBody>
      </p:sp>
      <p:sp>
        <p:nvSpPr>
          <p:cNvPr id="10" name="TextBox 10"/>
          <p:cNvSpPr txBox="1"/>
          <p:nvPr/>
        </p:nvSpPr>
        <p:spPr>
          <a:xfrm>
            <a:off x="4389120" y="1856231"/>
            <a:ext cx="2926080" cy="365760"/>
          </a:xfrm>
          <a:prstGeom prst="rect">
            <a:avLst/>
          </a:prstGeom>
          <a:noFill/>
        </p:spPr>
        <p:txBody>
          <a:bodyPr wrap="square" lIns="13716" tIns="0" rIns="13716" bIns="0">
            <a:spAutoFit/>
          </a:bodyPr>
          <a:lstStyle/>
          <a:p>
            <a:pPr>
              <a:spcAft>
                <a:spcPts val="500"/>
              </a:spcAft>
              <a:defRPr sz="2000" b="1">
                <a:solidFill>
                  <a:srgbClr val="142F50"/>
                </a:solidFill>
                <a:latin typeface="微软雅黑" panose="020B0503020204020204" charset="-122"/>
              </a:defRPr>
            </a:pPr>
            <a:r>
              <a:rPr>
                <a:ea typeface="微软雅黑" panose="020B0503020204020204" charset="-122"/>
              </a:rPr>
              <a:t>线性核 SVM</a:t>
            </a:r>
            <a:endParaRPr>
              <a:ea typeface="微软雅黑" panose="020B0503020204020204" charset="-122"/>
            </a:endParaRPr>
          </a:p>
        </p:txBody>
      </p:sp>
      <p:sp>
        <p:nvSpPr>
          <p:cNvPr id="11" name="TextBox 11"/>
          <p:cNvSpPr txBox="1"/>
          <p:nvPr/>
        </p:nvSpPr>
        <p:spPr>
          <a:xfrm>
            <a:off x="7863840" y="1856231"/>
            <a:ext cx="2926080" cy="365760"/>
          </a:xfrm>
          <a:prstGeom prst="rect">
            <a:avLst/>
          </a:prstGeom>
          <a:noFill/>
        </p:spPr>
        <p:txBody>
          <a:bodyPr wrap="square" lIns="13716" tIns="0" rIns="13716" bIns="0">
            <a:spAutoFit/>
          </a:bodyPr>
          <a:lstStyle/>
          <a:p>
            <a:pPr>
              <a:spcAft>
                <a:spcPts val="500"/>
              </a:spcAft>
              <a:defRPr sz="2000" b="1">
                <a:solidFill>
                  <a:srgbClr val="142F50"/>
                </a:solidFill>
                <a:latin typeface="微软雅黑" panose="020B0503020204020204" charset="-122"/>
              </a:defRPr>
            </a:pPr>
            <a:r>
              <a:rPr>
                <a:ea typeface="微软雅黑" panose="020B0503020204020204" charset="-122"/>
              </a:rPr>
              <a:t>二次多项式核</a:t>
            </a:r>
            <a:endParaRPr>
              <a:ea typeface="微软雅黑" panose="020B0503020204020204" charset="-122"/>
            </a:endParaRPr>
          </a:p>
        </p:txBody>
      </p:sp>
      <p:sp>
        <p:nvSpPr>
          <p:cNvPr id="12" name="TextBox 12"/>
          <p:cNvSpPr txBox="1"/>
          <p:nvPr/>
        </p:nvSpPr>
        <p:spPr>
          <a:xfrm>
            <a:off x="11201400" y="1856231"/>
            <a:ext cx="2926080" cy="365760"/>
          </a:xfrm>
          <a:prstGeom prst="rect">
            <a:avLst/>
          </a:prstGeom>
          <a:noFill/>
        </p:spPr>
        <p:txBody>
          <a:bodyPr wrap="square" lIns="13716" tIns="0" rIns="13716" bIns="0">
            <a:spAutoFit/>
          </a:bodyPr>
          <a:lstStyle/>
          <a:p>
            <a:pPr>
              <a:spcAft>
                <a:spcPts val="500"/>
              </a:spcAft>
              <a:defRPr sz="2000" b="1">
                <a:solidFill>
                  <a:srgbClr val="142F50"/>
                </a:solidFill>
                <a:latin typeface="微软雅黑" panose="020B0503020204020204" charset="-122"/>
              </a:defRPr>
            </a:pPr>
            <a:r>
              <a:rPr>
                <a:ea typeface="微软雅黑" panose="020B0503020204020204" charset="-122"/>
              </a:rPr>
              <a:t>三维教学映射</a:t>
            </a:r>
            <a:endParaRPr>
              <a:ea typeface="微软雅黑" panose="020B0503020204020204" charset="-122"/>
            </a:endParaRPr>
          </a:p>
        </p:txBody>
      </p:sp>
      <p:sp>
        <p:nvSpPr>
          <p:cNvPr id="13" name="Rectangle 13"/>
          <p:cNvSpPr/>
          <p:nvPr/>
        </p:nvSpPr>
        <p:spPr>
          <a:xfrm>
            <a:off x="4434840" y="2359152"/>
            <a:ext cx="2194560" cy="2194560"/>
          </a:xfrm>
          <a:prstGeom prst="rect">
            <a:avLst/>
          </a:prstGeom>
          <a:solidFill>
            <a:srgbClr val="F5F7F9"/>
          </a:solidFill>
          <a:ln>
            <a:noFill/>
          </a:ln>
        </p:spPr>
        <p:txBody>
          <a:bodyPr rtlCol="0" anchor="ctr"/>
          <a:lstStyle/>
          <a:p>
            <a:pPr algn="ctr"/>
          </a:p>
        </p:txBody>
      </p:sp>
      <p:cxnSp>
        <p:nvCxnSpPr>
          <p:cNvPr id="14" name="Connector 14"/>
          <p:cNvCxnSpPr/>
          <p:nvPr/>
        </p:nvCxnSpPr>
        <p:spPr>
          <a:xfrm flipV="1">
            <a:off x="4800600" y="2359152"/>
            <a:ext cx="0" cy="219456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5" name="Connector 15"/>
          <p:cNvCxnSpPr/>
          <p:nvPr/>
        </p:nvCxnSpPr>
        <p:spPr>
          <a:xfrm>
            <a:off x="4434840" y="4187952"/>
            <a:ext cx="219456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16" name="editable_text"/>
          <p:cNvSpPr txBox="1"/>
          <p:nvPr/>
        </p:nvSpPr>
        <p:spPr>
          <a:xfrm>
            <a:off x="4690872" y="4585716"/>
            <a:ext cx="320040"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sp>
        <p:nvSpPr>
          <p:cNvPr id="17" name="editable_text"/>
          <p:cNvSpPr txBox="1"/>
          <p:nvPr/>
        </p:nvSpPr>
        <p:spPr>
          <a:xfrm>
            <a:off x="4160520" y="4078224"/>
            <a:ext cx="256032"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cxnSp>
        <p:nvCxnSpPr>
          <p:cNvPr id="18" name="Connector 18"/>
          <p:cNvCxnSpPr/>
          <p:nvPr/>
        </p:nvCxnSpPr>
        <p:spPr>
          <a:xfrm flipV="1">
            <a:off x="6263640" y="2359152"/>
            <a:ext cx="0" cy="219456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9" name="Connector 19"/>
          <p:cNvCxnSpPr/>
          <p:nvPr/>
        </p:nvCxnSpPr>
        <p:spPr>
          <a:xfrm>
            <a:off x="4434840" y="2724912"/>
            <a:ext cx="219456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20" name="editable_text"/>
          <p:cNvSpPr txBox="1"/>
          <p:nvPr/>
        </p:nvSpPr>
        <p:spPr>
          <a:xfrm>
            <a:off x="6153912" y="4585716"/>
            <a:ext cx="320040"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sp>
        <p:nvSpPr>
          <p:cNvPr id="21" name="editable_text"/>
          <p:cNvSpPr txBox="1"/>
          <p:nvPr/>
        </p:nvSpPr>
        <p:spPr>
          <a:xfrm>
            <a:off x="4160520" y="2615184"/>
            <a:ext cx="256032"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cxnSp>
        <p:nvCxnSpPr>
          <p:cNvPr id="22" name="Connector 22"/>
          <p:cNvCxnSpPr/>
          <p:nvPr/>
        </p:nvCxnSpPr>
        <p:spPr>
          <a:xfrm>
            <a:off x="4434840" y="4553712"/>
            <a:ext cx="2194560" cy="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cxnSp>
        <p:nvCxnSpPr>
          <p:cNvPr id="23" name="Connector 23"/>
          <p:cNvCxnSpPr/>
          <p:nvPr/>
        </p:nvCxnSpPr>
        <p:spPr>
          <a:xfrm>
            <a:off x="4434840" y="2359152"/>
            <a:ext cx="0" cy="219456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sp>
        <p:nvSpPr>
          <p:cNvPr id="24" name="editable_text"/>
          <p:cNvSpPr txBox="1"/>
          <p:nvPr/>
        </p:nvSpPr>
        <p:spPr>
          <a:xfrm>
            <a:off x="6537960" y="4809744"/>
            <a:ext cx="457200" cy="292608"/>
          </a:xfrm>
          <a:prstGeom prst="rect">
            <a:avLst/>
          </a:prstGeom>
          <a:noFill/>
        </p:spPr>
        <p:txBody>
          <a:bodyPr wrap="square" lIns="13716" tIns="0" rIns="13716" bIns="0">
            <a:spAutoFit/>
          </a:bodyPr>
          <a:lstStyle/>
          <a:p>
            <a:pPr>
              <a:spcAft>
                <a:spcPts val="400"/>
              </a:spcAft>
              <a:defRPr sz="1500" b="0">
                <a:solidFill>
                  <a:srgbClr val="142F50"/>
                </a:solidFill>
                <a:latin typeface="微软雅黑" panose="020B0503020204020204" charset="-122"/>
              </a:defRPr>
            </a:pPr>
            <a:r>
              <a:rPr>
                <a:ea typeface="微软雅黑" panose="020B0503020204020204" charset="-122"/>
              </a:rPr>
              <a:t>x₁</a:t>
            </a:r>
            <a:endParaRPr>
              <a:ea typeface="微软雅黑" panose="020B0503020204020204" charset="-122"/>
            </a:endParaRPr>
          </a:p>
        </p:txBody>
      </p:sp>
      <p:sp>
        <p:nvSpPr>
          <p:cNvPr id="25" name="editable_text"/>
          <p:cNvSpPr txBox="1"/>
          <p:nvPr/>
        </p:nvSpPr>
        <p:spPr>
          <a:xfrm>
            <a:off x="4087368" y="2240280"/>
            <a:ext cx="457200" cy="292608"/>
          </a:xfrm>
          <a:prstGeom prst="rect">
            <a:avLst/>
          </a:prstGeom>
          <a:noFill/>
        </p:spPr>
        <p:txBody>
          <a:bodyPr wrap="square" lIns="13716" tIns="0" rIns="13716" bIns="0">
            <a:spAutoFit/>
          </a:bodyPr>
          <a:lstStyle/>
          <a:p>
            <a:pPr>
              <a:spcAft>
                <a:spcPts val="400"/>
              </a:spcAft>
              <a:defRPr sz="1500" b="0">
                <a:solidFill>
                  <a:srgbClr val="142F50"/>
                </a:solidFill>
                <a:latin typeface="微软雅黑" panose="020B0503020204020204" charset="-122"/>
              </a:defRPr>
            </a:pPr>
            <a:r>
              <a:rPr>
                <a:ea typeface="微软雅黑" panose="020B0503020204020204" charset="-122"/>
              </a:rPr>
              <a:t>x₂</a:t>
            </a:r>
            <a:endParaRPr>
              <a:ea typeface="微软雅黑" panose="020B0503020204020204" charset="-122"/>
            </a:endParaRPr>
          </a:p>
        </p:txBody>
      </p:sp>
      <p:sp>
        <p:nvSpPr>
          <p:cNvPr id="26" name="Oval 26"/>
          <p:cNvSpPr/>
          <p:nvPr/>
        </p:nvSpPr>
        <p:spPr>
          <a:xfrm>
            <a:off x="4663440" y="4050791"/>
            <a:ext cx="274320" cy="274320"/>
          </a:xfrm>
          <a:prstGeom prst="ellipse">
            <a:avLst/>
          </a:prstGeom>
          <a:solidFill>
            <a:srgbClr val="FFFFFF"/>
          </a:solidFill>
          <a:ln w="10160">
            <a:solidFill>
              <a:srgbClr val="142F50"/>
            </a:solidFill>
          </a:ln>
        </p:spPr>
        <p:txBody>
          <a:bodyPr rtlCol="0" anchor="ctr"/>
          <a:lstStyle/>
          <a:p>
            <a:pPr algn="ctr"/>
          </a:p>
        </p:txBody>
      </p:sp>
      <p:sp>
        <p:nvSpPr>
          <p:cNvPr id="27" name="sample_class_-1"/>
          <p:cNvSpPr/>
          <p:nvPr/>
        </p:nvSpPr>
        <p:spPr>
          <a:xfrm>
            <a:off x="4704588" y="4091939"/>
            <a:ext cx="192024" cy="192024"/>
          </a:xfrm>
          <a:prstGeom prst="ellipse">
            <a:avLst/>
          </a:prstGeom>
          <a:solidFill>
            <a:srgbClr val="2878B8"/>
          </a:solidFill>
          <a:ln w="10160">
            <a:solidFill>
              <a:srgbClr val="FFFFFF"/>
            </a:solidFill>
          </a:ln>
        </p:spPr>
        <p:txBody>
          <a:bodyPr rtlCol="0" anchor="ctr"/>
          <a:lstStyle/>
          <a:p>
            <a:pPr algn="ctr"/>
          </a:p>
        </p:txBody>
      </p:sp>
      <p:sp>
        <p:nvSpPr>
          <p:cNvPr id="28" name="Oval 28"/>
          <p:cNvSpPr/>
          <p:nvPr/>
        </p:nvSpPr>
        <p:spPr>
          <a:xfrm>
            <a:off x="4663440" y="2587752"/>
            <a:ext cx="274320" cy="274320"/>
          </a:xfrm>
          <a:prstGeom prst="ellipse">
            <a:avLst/>
          </a:prstGeom>
          <a:solidFill>
            <a:srgbClr val="FFFFFF"/>
          </a:solidFill>
          <a:ln w="10160">
            <a:solidFill>
              <a:srgbClr val="142F50"/>
            </a:solidFill>
          </a:ln>
        </p:spPr>
        <p:txBody>
          <a:bodyPr rtlCol="0" anchor="ctr"/>
          <a:lstStyle/>
          <a:p>
            <a:pPr algn="ctr"/>
          </a:p>
        </p:txBody>
      </p:sp>
      <p:sp>
        <p:nvSpPr>
          <p:cNvPr id="29" name="sample_class_1"/>
          <p:cNvSpPr/>
          <p:nvPr/>
        </p:nvSpPr>
        <p:spPr>
          <a:xfrm>
            <a:off x="4704588" y="2628900"/>
            <a:ext cx="192024" cy="192024"/>
          </a:xfrm>
          <a:prstGeom prst="ellipse">
            <a:avLst/>
          </a:prstGeom>
          <a:solidFill>
            <a:srgbClr val="E98726"/>
          </a:solidFill>
          <a:ln w="10160">
            <a:solidFill>
              <a:srgbClr val="FFFFFF"/>
            </a:solidFill>
          </a:ln>
        </p:spPr>
        <p:txBody>
          <a:bodyPr rtlCol="0" anchor="ctr"/>
          <a:lstStyle/>
          <a:p>
            <a:pPr algn="ctr"/>
          </a:p>
        </p:txBody>
      </p:sp>
      <p:sp>
        <p:nvSpPr>
          <p:cNvPr id="30" name="Oval 30"/>
          <p:cNvSpPr/>
          <p:nvPr/>
        </p:nvSpPr>
        <p:spPr>
          <a:xfrm>
            <a:off x="6126479" y="4050791"/>
            <a:ext cx="274320" cy="274320"/>
          </a:xfrm>
          <a:prstGeom prst="ellipse">
            <a:avLst/>
          </a:prstGeom>
          <a:solidFill>
            <a:srgbClr val="FFFFFF"/>
          </a:solidFill>
          <a:ln w="10160">
            <a:solidFill>
              <a:srgbClr val="142F50"/>
            </a:solidFill>
          </a:ln>
        </p:spPr>
        <p:txBody>
          <a:bodyPr rtlCol="0" anchor="ctr"/>
          <a:lstStyle/>
          <a:p>
            <a:pPr algn="ctr"/>
          </a:p>
        </p:txBody>
      </p:sp>
      <p:sp>
        <p:nvSpPr>
          <p:cNvPr id="31" name="sample_class_1"/>
          <p:cNvSpPr/>
          <p:nvPr/>
        </p:nvSpPr>
        <p:spPr>
          <a:xfrm>
            <a:off x="6167627" y="4091939"/>
            <a:ext cx="192024" cy="192024"/>
          </a:xfrm>
          <a:prstGeom prst="ellipse">
            <a:avLst/>
          </a:prstGeom>
          <a:solidFill>
            <a:srgbClr val="E98726"/>
          </a:solidFill>
          <a:ln w="10160">
            <a:solidFill>
              <a:srgbClr val="FFFFFF"/>
            </a:solidFill>
          </a:ln>
        </p:spPr>
        <p:txBody>
          <a:bodyPr rtlCol="0" anchor="ctr"/>
          <a:lstStyle/>
          <a:p>
            <a:pPr algn="ctr"/>
          </a:p>
        </p:txBody>
      </p:sp>
      <p:sp>
        <p:nvSpPr>
          <p:cNvPr id="32" name="Oval 32"/>
          <p:cNvSpPr/>
          <p:nvPr/>
        </p:nvSpPr>
        <p:spPr>
          <a:xfrm>
            <a:off x="6126479" y="2587752"/>
            <a:ext cx="274320" cy="274320"/>
          </a:xfrm>
          <a:prstGeom prst="ellipse">
            <a:avLst/>
          </a:prstGeom>
          <a:solidFill>
            <a:srgbClr val="FFFFFF"/>
          </a:solidFill>
          <a:ln w="10160">
            <a:solidFill>
              <a:srgbClr val="142F50"/>
            </a:solidFill>
          </a:ln>
        </p:spPr>
        <p:txBody>
          <a:bodyPr rtlCol="0" anchor="ctr"/>
          <a:lstStyle/>
          <a:p>
            <a:pPr algn="ctr"/>
          </a:p>
        </p:txBody>
      </p:sp>
      <p:sp>
        <p:nvSpPr>
          <p:cNvPr id="33" name="sample_class_-1"/>
          <p:cNvSpPr/>
          <p:nvPr/>
        </p:nvSpPr>
        <p:spPr>
          <a:xfrm>
            <a:off x="6167627" y="2628900"/>
            <a:ext cx="192024" cy="192024"/>
          </a:xfrm>
          <a:prstGeom prst="ellipse">
            <a:avLst/>
          </a:prstGeom>
          <a:solidFill>
            <a:srgbClr val="2878B8"/>
          </a:solidFill>
          <a:ln w="10160">
            <a:solidFill>
              <a:srgbClr val="FFFFFF"/>
            </a:solidFill>
          </a:ln>
        </p:spPr>
        <p:txBody>
          <a:bodyPr rtlCol="0" anchor="ctr"/>
          <a:lstStyle/>
          <a:p>
            <a:pPr algn="ctr"/>
          </a:p>
        </p:txBody>
      </p:sp>
      <p:sp>
        <p:nvSpPr>
          <p:cNvPr id="34" name="editable_text"/>
          <p:cNvSpPr txBox="1"/>
          <p:nvPr/>
        </p:nvSpPr>
        <p:spPr>
          <a:xfrm>
            <a:off x="4663440" y="3302812"/>
            <a:ext cx="1783080" cy="411480"/>
          </a:xfrm>
          <a:prstGeom prst="rect">
            <a:avLst/>
          </a:prstGeom>
          <a:noFill/>
        </p:spPr>
        <p:txBody>
          <a:bodyPr wrap="square" lIns="13716" tIns="0" rIns="13716" bIns="0">
            <a:spAutoFit/>
          </a:bodyPr>
          <a:lstStyle/>
          <a:p>
            <a:pPr>
              <a:spcAft>
                <a:spcPts val="400"/>
              </a:spcAft>
              <a:defRPr sz="2200" b="0">
                <a:solidFill>
                  <a:srgbClr val="142F50"/>
                </a:solidFill>
                <a:latin typeface="Cambria Math" panose="02040503050406030204"/>
              </a:defRPr>
            </a:pPr>
            <a:r>
              <a:rPr>
                <a:ea typeface="Cambria Math" panose="02040503050406030204"/>
              </a:rPr>
              <a:t>f(x) ≈ 0</a:t>
            </a:r>
            <a:endParaRPr>
              <a:ea typeface="Cambria Math" panose="02040503050406030204"/>
            </a:endParaRPr>
          </a:p>
        </p:txBody>
      </p:sp>
      <p:sp>
        <p:nvSpPr>
          <p:cNvPr id="35" name="Rectangle 35"/>
          <p:cNvSpPr/>
          <p:nvPr/>
        </p:nvSpPr>
        <p:spPr>
          <a:xfrm>
            <a:off x="7909560" y="4492752"/>
            <a:ext cx="1098651" cy="62331"/>
          </a:xfrm>
          <a:prstGeom prst="rect">
            <a:avLst/>
          </a:prstGeom>
          <a:solidFill>
            <a:srgbClr val="E2EFF8"/>
          </a:solidFill>
          <a:ln>
            <a:noFill/>
          </a:ln>
        </p:spPr>
        <p:txBody>
          <a:bodyPr rtlCol="0" anchor="ctr"/>
          <a:lstStyle/>
          <a:p>
            <a:pPr algn="ctr"/>
          </a:p>
        </p:txBody>
      </p:sp>
      <p:sp>
        <p:nvSpPr>
          <p:cNvPr id="36" name="Rectangle 36"/>
          <p:cNvSpPr/>
          <p:nvPr/>
        </p:nvSpPr>
        <p:spPr>
          <a:xfrm>
            <a:off x="9006840" y="4492752"/>
            <a:ext cx="1098651" cy="62331"/>
          </a:xfrm>
          <a:prstGeom prst="rect">
            <a:avLst/>
          </a:prstGeom>
          <a:solidFill>
            <a:srgbClr val="FCEBDD"/>
          </a:solidFill>
          <a:ln>
            <a:noFill/>
          </a:ln>
        </p:spPr>
        <p:txBody>
          <a:bodyPr rtlCol="0" anchor="ctr"/>
          <a:lstStyle/>
          <a:p>
            <a:pPr algn="ctr"/>
          </a:p>
        </p:txBody>
      </p:sp>
      <p:sp>
        <p:nvSpPr>
          <p:cNvPr id="37" name="Rectangle 37"/>
          <p:cNvSpPr/>
          <p:nvPr/>
        </p:nvSpPr>
        <p:spPr>
          <a:xfrm>
            <a:off x="7909560" y="4431792"/>
            <a:ext cx="1098651" cy="62331"/>
          </a:xfrm>
          <a:prstGeom prst="rect">
            <a:avLst/>
          </a:prstGeom>
          <a:solidFill>
            <a:srgbClr val="E2EFF8"/>
          </a:solidFill>
          <a:ln>
            <a:noFill/>
          </a:ln>
        </p:spPr>
        <p:txBody>
          <a:bodyPr rtlCol="0" anchor="ctr"/>
          <a:lstStyle/>
          <a:p>
            <a:pPr algn="ctr"/>
          </a:p>
        </p:txBody>
      </p:sp>
      <p:sp>
        <p:nvSpPr>
          <p:cNvPr id="38" name="Rectangle 38"/>
          <p:cNvSpPr/>
          <p:nvPr/>
        </p:nvSpPr>
        <p:spPr>
          <a:xfrm>
            <a:off x="9006840" y="4431792"/>
            <a:ext cx="1098651" cy="62331"/>
          </a:xfrm>
          <a:prstGeom prst="rect">
            <a:avLst/>
          </a:prstGeom>
          <a:solidFill>
            <a:srgbClr val="FCEBDD"/>
          </a:solidFill>
          <a:ln>
            <a:noFill/>
          </a:ln>
        </p:spPr>
        <p:txBody>
          <a:bodyPr rtlCol="0" anchor="ctr"/>
          <a:lstStyle/>
          <a:p>
            <a:pPr algn="ctr"/>
          </a:p>
        </p:txBody>
      </p:sp>
      <p:sp>
        <p:nvSpPr>
          <p:cNvPr id="39" name="Rectangle 39"/>
          <p:cNvSpPr/>
          <p:nvPr/>
        </p:nvSpPr>
        <p:spPr>
          <a:xfrm>
            <a:off x="7909560" y="4370832"/>
            <a:ext cx="1159611" cy="62331"/>
          </a:xfrm>
          <a:prstGeom prst="rect">
            <a:avLst/>
          </a:prstGeom>
          <a:solidFill>
            <a:srgbClr val="E2EFF8"/>
          </a:solidFill>
          <a:ln>
            <a:noFill/>
          </a:ln>
        </p:spPr>
        <p:txBody>
          <a:bodyPr rtlCol="0" anchor="ctr"/>
          <a:lstStyle/>
          <a:p>
            <a:pPr algn="ctr"/>
          </a:p>
        </p:txBody>
      </p:sp>
      <p:sp>
        <p:nvSpPr>
          <p:cNvPr id="40" name="Rectangle 40"/>
          <p:cNvSpPr/>
          <p:nvPr/>
        </p:nvSpPr>
        <p:spPr>
          <a:xfrm>
            <a:off x="9067800" y="4370832"/>
            <a:ext cx="1037691" cy="62331"/>
          </a:xfrm>
          <a:prstGeom prst="rect">
            <a:avLst/>
          </a:prstGeom>
          <a:solidFill>
            <a:srgbClr val="FCEBDD"/>
          </a:solidFill>
          <a:ln>
            <a:noFill/>
          </a:ln>
        </p:spPr>
        <p:txBody>
          <a:bodyPr rtlCol="0" anchor="ctr"/>
          <a:lstStyle/>
          <a:p>
            <a:pPr algn="ctr"/>
          </a:p>
        </p:txBody>
      </p:sp>
      <p:sp>
        <p:nvSpPr>
          <p:cNvPr id="41" name="Rectangle 41"/>
          <p:cNvSpPr/>
          <p:nvPr/>
        </p:nvSpPr>
        <p:spPr>
          <a:xfrm>
            <a:off x="7909560" y="4309872"/>
            <a:ext cx="1159611" cy="62331"/>
          </a:xfrm>
          <a:prstGeom prst="rect">
            <a:avLst/>
          </a:prstGeom>
          <a:solidFill>
            <a:srgbClr val="E2EFF8"/>
          </a:solidFill>
          <a:ln>
            <a:noFill/>
          </a:ln>
        </p:spPr>
        <p:txBody>
          <a:bodyPr rtlCol="0" anchor="ctr"/>
          <a:lstStyle/>
          <a:p>
            <a:pPr algn="ctr"/>
          </a:p>
        </p:txBody>
      </p:sp>
      <p:sp>
        <p:nvSpPr>
          <p:cNvPr id="42" name="Rectangle 42"/>
          <p:cNvSpPr/>
          <p:nvPr/>
        </p:nvSpPr>
        <p:spPr>
          <a:xfrm>
            <a:off x="9067800" y="4309872"/>
            <a:ext cx="1037691" cy="62331"/>
          </a:xfrm>
          <a:prstGeom prst="rect">
            <a:avLst/>
          </a:prstGeom>
          <a:solidFill>
            <a:srgbClr val="FCEBDD"/>
          </a:solidFill>
          <a:ln>
            <a:noFill/>
          </a:ln>
        </p:spPr>
        <p:txBody>
          <a:bodyPr rtlCol="0" anchor="ctr"/>
          <a:lstStyle/>
          <a:p>
            <a:pPr algn="ctr"/>
          </a:p>
        </p:txBody>
      </p:sp>
      <p:sp>
        <p:nvSpPr>
          <p:cNvPr id="43" name="Rectangle 43"/>
          <p:cNvSpPr/>
          <p:nvPr/>
        </p:nvSpPr>
        <p:spPr>
          <a:xfrm>
            <a:off x="7909560" y="4248912"/>
            <a:ext cx="1159611" cy="62331"/>
          </a:xfrm>
          <a:prstGeom prst="rect">
            <a:avLst/>
          </a:prstGeom>
          <a:solidFill>
            <a:srgbClr val="E2EFF8"/>
          </a:solidFill>
          <a:ln>
            <a:noFill/>
          </a:ln>
        </p:spPr>
        <p:txBody>
          <a:bodyPr rtlCol="0" anchor="ctr"/>
          <a:lstStyle/>
          <a:p>
            <a:pPr algn="ctr"/>
          </a:p>
        </p:txBody>
      </p:sp>
      <p:sp>
        <p:nvSpPr>
          <p:cNvPr id="44" name="Rectangle 44"/>
          <p:cNvSpPr/>
          <p:nvPr/>
        </p:nvSpPr>
        <p:spPr>
          <a:xfrm>
            <a:off x="9067800" y="4248912"/>
            <a:ext cx="1037691" cy="62331"/>
          </a:xfrm>
          <a:prstGeom prst="rect">
            <a:avLst/>
          </a:prstGeom>
          <a:solidFill>
            <a:srgbClr val="FCEBDD"/>
          </a:solidFill>
          <a:ln>
            <a:noFill/>
          </a:ln>
        </p:spPr>
        <p:txBody>
          <a:bodyPr rtlCol="0" anchor="ctr"/>
          <a:lstStyle/>
          <a:p>
            <a:pPr algn="ctr"/>
          </a:p>
        </p:txBody>
      </p:sp>
      <p:sp>
        <p:nvSpPr>
          <p:cNvPr id="45" name="Rectangle 45"/>
          <p:cNvSpPr/>
          <p:nvPr/>
        </p:nvSpPr>
        <p:spPr>
          <a:xfrm>
            <a:off x="7909560" y="4187952"/>
            <a:ext cx="1220571" cy="62331"/>
          </a:xfrm>
          <a:prstGeom prst="rect">
            <a:avLst/>
          </a:prstGeom>
          <a:solidFill>
            <a:srgbClr val="E2EFF8"/>
          </a:solidFill>
          <a:ln>
            <a:noFill/>
          </a:ln>
        </p:spPr>
        <p:txBody>
          <a:bodyPr rtlCol="0" anchor="ctr"/>
          <a:lstStyle/>
          <a:p>
            <a:pPr algn="ctr"/>
          </a:p>
        </p:txBody>
      </p:sp>
      <p:sp>
        <p:nvSpPr>
          <p:cNvPr id="46" name="Rectangle 46"/>
          <p:cNvSpPr/>
          <p:nvPr/>
        </p:nvSpPr>
        <p:spPr>
          <a:xfrm>
            <a:off x="9128760" y="4187952"/>
            <a:ext cx="976731" cy="62331"/>
          </a:xfrm>
          <a:prstGeom prst="rect">
            <a:avLst/>
          </a:prstGeom>
          <a:solidFill>
            <a:srgbClr val="FCEBDD"/>
          </a:solidFill>
          <a:ln>
            <a:noFill/>
          </a:ln>
        </p:spPr>
        <p:txBody>
          <a:bodyPr rtlCol="0" anchor="ctr"/>
          <a:lstStyle/>
          <a:p>
            <a:pPr algn="ctr"/>
          </a:p>
        </p:txBody>
      </p:sp>
      <p:sp>
        <p:nvSpPr>
          <p:cNvPr id="47" name="Rectangle 47"/>
          <p:cNvSpPr/>
          <p:nvPr/>
        </p:nvSpPr>
        <p:spPr>
          <a:xfrm>
            <a:off x="7909560" y="4126992"/>
            <a:ext cx="1220571" cy="62331"/>
          </a:xfrm>
          <a:prstGeom prst="rect">
            <a:avLst/>
          </a:prstGeom>
          <a:solidFill>
            <a:srgbClr val="E2EFF8"/>
          </a:solidFill>
          <a:ln>
            <a:noFill/>
          </a:ln>
        </p:spPr>
        <p:txBody>
          <a:bodyPr rtlCol="0" anchor="ctr"/>
          <a:lstStyle/>
          <a:p>
            <a:pPr algn="ctr"/>
          </a:p>
        </p:txBody>
      </p:sp>
      <p:sp>
        <p:nvSpPr>
          <p:cNvPr id="48" name="Rectangle 48"/>
          <p:cNvSpPr/>
          <p:nvPr/>
        </p:nvSpPr>
        <p:spPr>
          <a:xfrm>
            <a:off x="9128760" y="4126992"/>
            <a:ext cx="976731" cy="62331"/>
          </a:xfrm>
          <a:prstGeom prst="rect">
            <a:avLst/>
          </a:prstGeom>
          <a:solidFill>
            <a:srgbClr val="FCEBDD"/>
          </a:solidFill>
          <a:ln>
            <a:noFill/>
          </a:ln>
        </p:spPr>
        <p:txBody>
          <a:bodyPr rtlCol="0" anchor="ctr"/>
          <a:lstStyle/>
          <a:p>
            <a:pPr algn="ctr"/>
          </a:p>
        </p:txBody>
      </p:sp>
      <p:sp>
        <p:nvSpPr>
          <p:cNvPr id="49" name="Rectangle 49"/>
          <p:cNvSpPr/>
          <p:nvPr/>
        </p:nvSpPr>
        <p:spPr>
          <a:xfrm>
            <a:off x="7909560" y="4066032"/>
            <a:ext cx="1281531" cy="62331"/>
          </a:xfrm>
          <a:prstGeom prst="rect">
            <a:avLst/>
          </a:prstGeom>
          <a:solidFill>
            <a:srgbClr val="E2EFF8"/>
          </a:solidFill>
          <a:ln>
            <a:noFill/>
          </a:ln>
        </p:spPr>
        <p:txBody>
          <a:bodyPr rtlCol="0" anchor="ctr"/>
          <a:lstStyle/>
          <a:p>
            <a:pPr algn="ctr"/>
          </a:p>
        </p:txBody>
      </p:sp>
      <p:sp>
        <p:nvSpPr>
          <p:cNvPr id="50" name="Rectangle 50"/>
          <p:cNvSpPr/>
          <p:nvPr/>
        </p:nvSpPr>
        <p:spPr>
          <a:xfrm>
            <a:off x="9189720" y="4066032"/>
            <a:ext cx="915771" cy="62331"/>
          </a:xfrm>
          <a:prstGeom prst="rect">
            <a:avLst/>
          </a:prstGeom>
          <a:solidFill>
            <a:srgbClr val="FCEBDD"/>
          </a:solidFill>
          <a:ln>
            <a:noFill/>
          </a:ln>
        </p:spPr>
        <p:txBody>
          <a:bodyPr rtlCol="0" anchor="ctr"/>
          <a:lstStyle/>
          <a:p>
            <a:pPr algn="ctr"/>
          </a:p>
        </p:txBody>
      </p:sp>
      <p:sp>
        <p:nvSpPr>
          <p:cNvPr id="51" name="Rectangle 51"/>
          <p:cNvSpPr/>
          <p:nvPr/>
        </p:nvSpPr>
        <p:spPr>
          <a:xfrm>
            <a:off x="7909560" y="4005072"/>
            <a:ext cx="1281531" cy="62331"/>
          </a:xfrm>
          <a:prstGeom prst="rect">
            <a:avLst/>
          </a:prstGeom>
          <a:solidFill>
            <a:srgbClr val="E2EFF8"/>
          </a:solidFill>
          <a:ln>
            <a:noFill/>
          </a:ln>
        </p:spPr>
        <p:txBody>
          <a:bodyPr rtlCol="0" anchor="ctr"/>
          <a:lstStyle/>
          <a:p>
            <a:pPr algn="ctr"/>
          </a:p>
        </p:txBody>
      </p:sp>
      <p:sp>
        <p:nvSpPr>
          <p:cNvPr id="52" name="Rectangle 52"/>
          <p:cNvSpPr/>
          <p:nvPr/>
        </p:nvSpPr>
        <p:spPr>
          <a:xfrm>
            <a:off x="9189720" y="4005072"/>
            <a:ext cx="915771" cy="62331"/>
          </a:xfrm>
          <a:prstGeom prst="rect">
            <a:avLst/>
          </a:prstGeom>
          <a:solidFill>
            <a:srgbClr val="FCEBDD"/>
          </a:solidFill>
          <a:ln>
            <a:noFill/>
          </a:ln>
        </p:spPr>
        <p:txBody>
          <a:bodyPr rtlCol="0" anchor="ctr"/>
          <a:lstStyle/>
          <a:p>
            <a:pPr algn="ctr"/>
          </a:p>
        </p:txBody>
      </p:sp>
      <p:sp>
        <p:nvSpPr>
          <p:cNvPr id="53" name="Rectangle 53"/>
          <p:cNvSpPr/>
          <p:nvPr/>
        </p:nvSpPr>
        <p:spPr>
          <a:xfrm>
            <a:off x="7909560" y="3944112"/>
            <a:ext cx="1342491" cy="62331"/>
          </a:xfrm>
          <a:prstGeom prst="rect">
            <a:avLst/>
          </a:prstGeom>
          <a:solidFill>
            <a:srgbClr val="E2EFF8"/>
          </a:solidFill>
          <a:ln>
            <a:noFill/>
          </a:ln>
        </p:spPr>
        <p:txBody>
          <a:bodyPr rtlCol="0" anchor="ctr"/>
          <a:lstStyle/>
          <a:p>
            <a:pPr algn="ctr"/>
          </a:p>
        </p:txBody>
      </p:sp>
      <p:sp>
        <p:nvSpPr>
          <p:cNvPr id="54" name="Rectangle 54"/>
          <p:cNvSpPr/>
          <p:nvPr/>
        </p:nvSpPr>
        <p:spPr>
          <a:xfrm>
            <a:off x="9250680" y="3944112"/>
            <a:ext cx="854811" cy="62331"/>
          </a:xfrm>
          <a:prstGeom prst="rect">
            <a:avLst/>
          </a:prstGeom>
          <a:solidFill>
            <a:srgbClr val="FCEBDD"/>
          </a:solidFill>
          <a:ln>
            <a:noFill/>
          </a:ln>
        </p:spPr>
        <p:txBody>
          <a:bodyPr rtlCol="0" anchor="ctr"/>
          <a:lstStyle/>
          <a:p>
            <a:pPr algn="ctr"/>
          </a:p>
        </p:txBody>
      </p:sp>
      <p:sp>
        <p:nvSpPr>
          <p:cNvPr id="55" name="Rectangle 55"/>
          <p:cNvSpPr/>
          <p:nvPr/>
        </p:nvSpPr>
        <p:spPr>
          <a:xfrm>
            <a:off x="7909560" y="3883152"/>
            <a:ext cx="1403451" cy="62331"/>
          </a:xfrm>
          <a:prstGeom prst="rect">
            <a:avLst/>
          </a:prstGeom>
          <a:solidFill>
            <a:srgbClr val="E2EFF8"/>
          </a:solidFill>
          <a:ln>
            <a:noFill/>
          </a:ln>
        </p:spPr>
        <p:txBody>
          <a:bodyPr rtlCol="0" anchor="ctr"/>
          <a:lstStyle/>
          <a:p>
            <a:pPr algn="ctr"/>
          </a:p>
        </p:txBody>
      </p:sp>
      <p:sp>
        <p:nvSpPr>
          <p:cNvPr id="56" name="Rectangle 56"/>
          <p:cNvSpPr/>
          <p:nvPr/>
        </p:nvSpPr>
        <p:spPr>
          <a:xfrm>
            <a:off x="9311640" y="3883152"/>
            <a:ext cx="793851" cy="62331"/>
          </a:xfrm>
          <a:prstGeom prst="rect">
            <a:avLst/>
          </a:prstGeom>
          <a:solidFill>
            <a:srgbClr val="FCEBDD"/>
          </a:solidFill>
          <a:ln>
            <a:noFill/>
          </a:ln>
        </p:spPr>
        <p:txBody>
          <a:bodyPr rtlCol="0" anchor="ctr"/>
          <a:lstStyle/>
          <a:p>
            <a:pPr algn="ctr"/>
          </a:p>
        </p:txBody>
      </p:sp>
      <p:sp>
        <p:nvSpPr>
          <p:cNvPr id="57" name="Rectangle 57"/>
          <p:cNvSpPr/>
          <p:nvPr/>
        </p:nvSpPr>
        <p:spPr>
          <a:xfrm>
            <a:off x="7909560" y="3822191"/>
            <a:ext cx="1464411" cy="62331"/>
          </a:xfrm>
          <a:prstGeom prst="rect">
            <a:avLst/>
          </a:prstGeom>
          <a:solidFill>
            <a:srgbClr val="E2EFF8"/>
          </a:solidFill>
          <a:ln>
            <a:noFill/>
          </a:ln>
        </p:spPr>
        <p:txBody>
          <a:bodyPr rtlCol="0" anchor="ctr"/>
          <a:lstStyle/>
          <a:p>
            <a:pPr algn="ctr"/>
          </a:p>
        </p:txBody>
      </p:sp>
      <p:sp>
        <p:nvSpPr>
          <p:cNvPr id="58" name="Rectangle 58"/>
          <p:cNvSpPr/>
          <p:nvPr/>
        </p:nvSpPr>
        <p:spPr>
          <a:xfrm>
            <a:off x="9372600" y="3822191"/>
            <a:ext cx="732891" cy="62331"/>
          </a:xfrm>
          <a:prstGeom prst="rect">
            <a:avLst/>
          </a:prstGeom>
          <a:solidFill>
            <a:srgbClr val="FCEBDD"/>
          </a:solidFill>
          <a:ln>
            <a:noFill/>
          </a:ln>
        </p:spPr>
        <p:txBody>
          <a:bodyPr rtlCol="0" anchor="ctr"/>
          <a:lstStyle/>
          <a:p>
            <a:pPr algn="ctr"/>
          </a:p>
        </p:txBody>
      </p:sp>
      <p:sp>
        <p:nvSpPr>
          <p:cNvPr id="59" name="Rectangle 59"/>
          <p:cNvSpPr/>
          <p:nvPr/>
        </p:nvSpPr>
        <p:spPr>
          <a:xfrm>
            <a:off x="7909560" y="3761232"/>
            <a:ext cx="1525371" cy="62331"/>
          </a:xfrm>
          <a:prstGeom prst="rect">
            <a:avLst/>
          </a:prstGeom>
          <a:solidFill>
            <a:srgbClr val="E2EFF8"/>
          </a:solidFill>
          <a:ln>
            <a:noFill/>
          </a:ln>
        </p:spPr>
        <p:txBody>
          <a:bodyPr rtlCol="0" anchor="ctr"/>
          <a:lstStyle/>
          <a:p>
            <a:pPr algn="ctr"/>
          </a:p>
        </p:txBody>
      </p:sp>
      <p:sp>
        <p:nvSpPr>
          <p:cNvPr id="60" name="Rectangle 60"/>
          <p:cNvSpPr/>
          <p:nvPr/>
        </p:nvSpPr>
        <p:spPr>
          <a:xfrm>
            <a:off x="9433560" y="3761232"/>
            <a:ext cx="671931" cy="62331"/>
          </a:xfrm>
          <a:prstGeom prst="rect">
            <a:avLst/>
          </a:prstGeom>
          <a:solidFill>
            <a:srgbClr val="FCEBDD"/>
          </a:solidFill>
          <a:ln>
            <a:noFill/>
          </a:ln>
        </p:spPr>
        <p:txBody>
          <a:bodyPr rtlCol="0" anchor="ctr"/>
          <a:lstStyle/>
          <a:p>
            <a:pPr algn="ctr"/>
          </a:p>
        </p:txBody>
      </p:sp>
      <p:sp>
        <p:nvSpPr>
          <p:cNvPr id="61" name="Rectangle 61"/>
          <p:cNvSpPr/>
          <p:nvPr/>
        </p:nvSpPr>
        <p:spPr>
          <a:xfrm>
            <a:off x="7909560" y="3700272"/>
            <a:ext cx="1586331" cy="62331"/>
          </a:xfrm>
          <a:prstGeom prst="rect">
            <a:avLst/>
          </a:prstGeom>
          <a:solidFill>
            <a:srgbClr val="E2EFF8"/>
          </a:solidFill>
          <a:ln>
            <a:noFill/>
          </a:ln>
        </p:spPr>
        <p:txBody>
          <a:bodyPr rtlCol="0" anchor="ctr"/>
          <a:lstStyle/>
          <a:p>
            <a:pPr algn="ctr"/>
          </a:p>
        </p:txBody>
      </p:sp>
      <p:sp>
        <p:nvSpPr>
          <p:cNvPr id="62" name="Rectangle 62"/>
          <p:cNvSpPr/>
          <p:nvPr/>
        </p:nvSpPr>
        <p:spPr>
          <a:xfrm>
            <a:off x="9494520" y="3700272"/>
            <a:ext cx="610971" cy="62331"/>
          </a:xfrm>
          <a:prstGeom prst="rect">
            <a:avLst/>
          </a:prstGeom>
          <a:solidFill>
            <a:srgbClr val="FCEBDD"/>
          </a:solidFill>
          <a:ln>
            <a:noFill/>
          </a:ln>
        </p:spPr>
        <p:txBody>
          <a:bodyPr rtlCol="0" anchor="ctr"/>
          <a:lstStyle/>
          <a:p>
            <a:pPr algn="ctr"/>
          </a:p>
        </p:txBody>
      </p:sp>
      <p:sp>
        <p:nvSpPr>
          <p:cNvPr id="63" name="Rectangle 63"/>
          <p:cNvSpPr/>
          <p:nvPr/>
        </p:nvSpPr>
        <p:spPr>
          <a:xfrm>
            <a:off x="7909560" y="3639312"/>
            <a:ext cx="1647291" cy="62331"/>
          </a:xfrm>
          <a:prstGeom prst="rect">
            <a:avLst/>
          </a:prstGeom>
          <a:solidFill>
            <a:srgbClr val="E2EFF8"/>
          </a:solidFill>
          <a:ln>
            <a:noFill/>
          </a:ln>
        </p:spPr>
        <p:txBody>
          <a:bodyPr rtlCol="0" anchor="ctr"/>
          <a:lstStyle/>
          <a:p>
            <a:pPr algn="ctr"/>
          </a:p>
        </p:txBody>
      </p:sp>
      <p:sp>
        <p:nvSpPr>
          <p:cNvPr id="64" name="Rectangle 64"/>
          <p:cNvSpPr/>
          <p:nvPr/>
        </p:nvSpPr>
        <p:spPr>
          <a:xfrm>
            <a:off x="9555480" y="3639312"/>
            <a:ext cx="550011" cy="62331"/>
          </a:xfrm>
          <a:prstGeom prst="rect">
            <a:avLst/>
          </a:prstGeom>
          <a:solidFill>
            <a:srgbClr val="FCEBDD"/>
          </a:solidFill>
          <a:ln>
            <a:noFill/>
          </a:ln>
        </p:spPr>
        <p:txBody>
          <a:bodyPr rtlCol="0" anchor="ctr"/>
          <a:lstStyle/>
          <a:p>
            <a:pPr algn="ctr"/>
          </a:p>
        </p:txBody>
      </p:sp>
      <p:sp>
        <p:nvSpPr>
          <p:cNvPr id="65" name="Rectangle 65"/>
          <p:cNvSpPr/>
          <p:nvPr/>
        </p:nvSpPr>
        <p:spPr>
          <a:xfrm>
            <a:off x="7909560" y="3578352"/>
            <a:ext cx="1769211" cy="62331"/>
          </a:xfrm>
          <a:prstGeom prst="rect">
            <a:avLst/>
          </a:prstGeom>
          <a:solidFill>
            <a:srgbClr val="E2EFF8"/>
          </a:solidFill>
          <a:ln>
            <a:noFill/>
          </a:ln>
        </p:spPr>
        <p:txBody>
          <a:bodyPr rtlCol="0" anchor="ctr"/>
          <a:lstStyle/>
          <a:p>
            <a:pPr algn="ctr"/>
          </a:p>
        </p:txBody>
      </p:sp>
      <p:sp>
        <p:nvSpPr>
          <p:cNvPr id="66" name="Rectangle 66"/>
          <p:cNvSpPr/>
          <p:nvPr/>
        </p:nvSpPr>
        <p:spPr>
          <a:xfrm>
            <a:off x="9677400" y="3578352"/>
            <a:ext cx="428091" cy="62331"/>
          </a:xfrm>
          <a:prstGeom prst="rect">
            <a:avLst/>
          </a:prstGeom>
          <a:solidFill>
            <a:srgbClr val="FCEBDD"/>
          </a:solidFill>
          <a:ln>
            <a:noFill/>
          </a:ln>
        </p:spPr>
        <p:txBody>
          <a:bodyPr rtlCol="0" anchor="ctr"/>
          <a:lstStyle/>
          <a:p>
            <a:pPr algn="ctr"/>
          </a:p>
        </p:txBody>
      </p:sp>
      <p:sp>
        <p:nvSpPr>
          <p:cNvPr id="67" name="Rectangle 67"/>
          <p:cNvSpPr/>
          <p:nvPr/>
        </p:nvSpPr>
        <p:spPr>
          <a:xfrm>
            <a:off x="7909560" y="3517392"/>
            <a:ext cx="1891131" cy="62331"/>
          </a:xfrm>
          <a:prstGeom prst="rect">
            <a:avLst/>
          </a:prstGeom>
          <a:solidFill>
            <a:srgbClr val="E2EFF8"/>
          </a:solidFill>
          <a:ln>
            <a:noFill/>
          </a:ln>
        </p:spPr>
        <p:txBody>
          <a:bodyPr rtlCol="0" anchor="ctr"/>
          <a:lstStyle/>
          <a:p>
            <a:pPr algn="ctr"/>
          </a:p>
        </p:txBody>
      </p:sp>
      <p:sp>
        <p:nvSpPr>
          <p:cNvPr id="68" name="Rectangle 68"/>
          <p:cNvSpPr/>
          <p:nvPr/>
        </p:nvSpPr>
        <p:spPr>
          <a:xfrm>
            <a:off x="9799320" y="3517392"/>
            <a:ext cx="306171" cy="62331"/>
          </a:xfrm>
          <a:prstGeom prst="rect">
            <a:avLst/>
          </a:prstGeom>
          <a:solidFill>
            <a:srgbClr val="FCEBDD"/>
          </a:solidFill>
          <a:ln>
            <a:noFill/>
          </a:ln>
        </p:spPr>
        <p:txBody>
          <a:bodyPr rtlCol="0" anchor="ctr"/>
          <a:lstStyle/>
          <a:p>
            <a:pPr algn="ctr"/>
          </a:p>
        </p:txBody>
      </p:sp>
      <p:sp>
        <p:nvSpPr>
          <p:cNvPr id="69" name="Rectangle 69"/>
          <p:cNvSpPr/>
          <p:nvPr/>
        </p:nvSpPr>
        <p:spPr>
          <a:xfrm>
            <a:off x="7909560" y="3456432"/>
            <a:ext cx="2074011" cy="62331"/>
          </a:xfrm>
          <a:prstGeom prst="rect">
            <a:avLst/>
          </a:prstGeom>
          <a:solidFill>
            <a:srgbClr val="E2EFF8"/>
          </a:solidFill>
          <a:ln>
            <a:noFill/>
          </a:ln>
        </p:spPr>
        <p:txBody>
          <a:bodyPr rtlCol="0" anchor="ctr"/>
          <a:lstStyle/>
          <a:p>
            <a:pPr algn="ctr"/>
          </a:p>
        </p:txBody>
      </p:sp>
      <p:sp>
        <p:nvSpPr>
          <p:cNvPr id="70" name="Rectangle 70"/>
          <p:cNvSpPr/>
          <p:nvPr/>
        </p:nvSpPr>
        <p:spPr>
          <a:xfrm>
            <a:off x="9982200" y="3456432"/>
            <a:ext cx="123291" cy="62331"/>
          </a:xfrm>
          <a:prstGeom prst="rect">
            <a:avLst/>
          </a:prstGeom>
          <a:solidFill>
            <a:srgbClr val="FCEBDD"/>
          </a:solidFill>
          <a:ln>
            <a:noFill/>
          </a:ln>
        </p:spPr>
        <p:txBody>
          <a:bodyPr rtlCol="0" anchor="ctr"/>
          <a:lstStyle/>
          <a:p>
            <a:pPr algn="ctr"/>
          </a:p>
        </p:txBody>
      </p:sp>
      <p:sp>
        <p:nvSpPr>
          <p:cNvPr id="71" name="Rectangle 71"/>
          <p:cNvSpPr/>
          <p:nvPr/>
        </p:nvSpPr>
        <p:spPr>
          <a:xfrm>
            <a:off x="7909560" y="3395472"/>
            <a:ext cx="123291" cy="62331"/>
          </a:xfrm>
          <a:prstGeom prst="rect">
            <a:avLst/>
          </a:prstGeom>
          <a:solidFill>
            <a:srgbClr val="FCEBDD"/>
          </a:solidFill>
          <a:ln>
            <a:noFill/>
          </a:ln>
        </p:spPr>
        <p:txBody>
          <a:bodyPr rtlCol="0" anchor="ctr"/>
          <a:lstStyle/>
          <a:p>
            <a:pPr algn="ctr"/>
          </a:p>
        </p:txBody>
      </p:sp>
      <p:sp>
        <p:nvSpPr>
          <p:cNvPr id="72" name="Rectangle 72"/>
          <p:cNvSpPr/>
          <p:nvPr/>
        </p:nvSpPr>
        <p:spPr>
          <a:xfrm>
            <a:off x="8031480" y="3395472"/>
            <a:ext cx="2074011" cy="62331"/>
          </a:xfrm>
          <a:prstGeom prst="rect">
            <a:avLst/>
          </a:prstGeom>
          <a:solidFill>
            <a:srgbClr val="E2EFF8"/>
          </a:solidFill>
          <a:ln>
            <a:noFill/>
          </a:ln>
        </p:spPr>
        <p:txBody>
          <a:bodyPr rtlCol="0" anchor="ctr"/>
          <a:lstStyle/>
          <a:p>
            <a:pPr algn="ctr"/>
          </a:p>
        </p:txBody>
      </p:sp>
      <p:sp>
        <p:nvSpPr>
          <p:cNvPr id="73" name="Rectangle 73"/>
          <p:cNvSpPr/>
          <p:nvPr/>
        </p:nvSpPr>
        <p:spPr>
          <a:xfrm>
            <a:off x="7909560" y="3334512"/>
            <a:ext cx="306171" cy="62331"/>
          </a:xfrm>
          <a:prstGeom prst="rect">
            <a:avLst/>
          </a:prstGeom>
          <a:solidFill>
            <a:srgbClr val="FCEBDD"/>
          </a:solidFill>
          <a:ln>
            <a:noFill/>
          </a:ln>
        </p:spPr>
        <p:txBody>
          <a:bodyPr rtlCol="0" anchor="ctr"/>
          <a:lstStyle/>
          <a:p>
            <a:pPr algn="ctr"/>
          </a:p>
        </p:txBody>
      </p:sp>
      <p:sp>
        <p:nvSpPr>
          <p:cNvPr id="74" name="Rectangle 74"/>
          <p:cNvSpPr/>
          <p:nvPr/>
        </p:nvSpPr>
        <p:spPr>
          <a:xfrm>
            <a:off x="8214360" y="3334512"/>
            <a:ext cx="1891131" cy="62331"/>
          </a:xfrm>
          <a:prstGeom prst="rect">
            <a:avLst/>
          </a:prstGeom>
          <a:solidFill>
            <a:srgbClr val="E2EFF8"/>
          </a:solidFill>
          <a:ln>
            <a:noFill/>
          </a:ln>
        </p:spPr>
        <p:txBody>
          <a:bodyPr rtlCol="0" anchor="ctr"/>
          <a:lstStyle/>
          <a:p>
            <a:pPr algn="ctr"/>
          </a:p>
        </p:txBody>
      </p:sp>
      <p:sp>
        <p:nvSpPr>
          <p:cNvPr id="75" name="Rectangle 75"/>
          <p:cNvSpPr/>
          <p:nvPr/>
        </p:nvSpPr>
        <p:spPr>
          <a:xfrm>
            <a:off x="7909560" y="3273552"/>
            <a:ext cx="428091" cy="62331"/>
          </a:xfrm>
          <a:prstGeom prst="rect">
            <a:avLst/>
          </a:prstGeom>
          <a:solidFill>
            <a:srgbClr val="FCEBDD"/>
          </a:solidFill>
          <a:ln>
            <a:noFill/>
          </a:ln>
        </p:spPr>
        <p:txBody>
          <a:bodyPr rtlCol="0" anchor="ctr"/>
          <a:lstStyle/>
          <a:p>
            <a:pPr algn="ctr"/>
          </a:p>
        </p:txBody>
      </p:sp>
      <p:sp>
        <p:nvSpPr>
          <p:cNvPr id="76" name="Rectangle 76"/>
          <p:cNvSpPr/>
          <p:nvPr/>
        </p:nvSpPr>
        <p:spPr>
          <a:xfrm>
            <a:off x="8336280" y="3273552"/>
            <a:ext cx="1769211" cy="62331"/>
          </a:xfrm>
          <a:prstGeom prst="rect">
            <a:avLst/>
          </a:prstGeom>
          <a:solidFill>
            <a:srgbClr val="E2EFF8"/>
          </a:solidFill>
          <a:ln>
            <a:noFill/>
          </a:ln>
        </p:spPr>
        <p:txBody>
          <a:bodyPr rtlCol="0" anchor="ctr"/>
          <a:lstStyle/>
          <a:p>
            <a:pPr algn="ctr"/>
          </a:p>
        </p:txBody>
      </p:sp>
      <p:sp>
        <p:nvSpPr>
          <p:cNvPr id="77" name="Rectangle 77"/>
          <p:cNvSpPr/>
          <p:nvPr/>
        </p:nvSpPr>
        <p:spPr>
          <a:xfrm>
            <a:off x="7909560" y="3212592"/>
            <a:ext cx="550011" cy="62331"/>
          </a:xfrm>
          <a:prstGeom prst="rect">
            <a:avLst/>
          </a:prstGeom>
          <a:solidFill>
            <a:srgbClr val="FCEBDD"/>
          </a:solidFill>
          <a:ln>
            <a:noFill/>
          </a:ln>
        </p:spPr>
        <p:txBody>
          <a:bodyPr rtlCol="0" anchor="ctr"/>
          <a:lstStyle/>
          <a:p>
            <a:pPr algn="ctr"/>
          </a:p>
        </p:txBody>
      </p:sp>
      <p:sp>
        <p:nvSpPr>
          <p:cNvPr id="78" name="Rectangle 78"/>
          <p:cNvSpPr/>
          <p:nvPr/>
        </p:nvSpPr>
        <p:spPr>
          <a:xfrm>
            <a:off x="8458200" y="3212592"/>
            <a:ext cx="1647291" cy="62331"/>
          </a:xfrm>
          <a:prstGeom prst="rect">
            <a:avLst/>
          </a:prstGeom>
          <a:solidFill>
            <a:srgbClr val="E2EFF8"/>
          </a:solidFill>
          <a:ln>
            <a:noFill/>
          </a:ln>
        </p:spPr>
        <p:txBody>
          <a:bodyPr rtlCol="0" anchor="ctr"/>
          <a:lstStyle/>
          <a:p>
            <a:pPr algn="ctr"/>
          </a:p>
        </p:txBody>
      </p:sp>
      <p:sp>
        <p:nvSpPr>
          <p:cNvPr id="79" name="Rectangle 79"/>
          <p:cNvSpPr/>
          <p:nvPr/>
        </p:nvSpPr>
        <p:spPr>
          <a:xfrm>
            <a:off x="7909560" y="3151632"/>
            <a:ext cx="610971" cy="62331"/>
          </a:xfrm>
          <a:prstGeom prst="rect">
            <a:avLst/>
          </a:prstGeom>
          <a:solidFill>
            <a:srgbClr val="FCEBDD"/>
          </a:solidFill>
          <a:ln>
            <a:noFill/>
          </a:ln>
        </p:spPr>
        <p:txBody>
          <a:bodyPr rtlCol="0" anchor="ctr"/>
          <a:lstStyle/>
          <a:p>
            <a:pPr algn="ctr"/>
          </a:p>
        </p:txBody>
      </p:sp>
      <p:sp>
        <p:nvSpPr>
          <p:cNvPr id="80" name="Rectangle 80"/>
          <p:cNvSpPr/>
          <p:nvPr/>
        </p:nvSpPr>
        <p:spPr>
          <a:xfrm>
            <a:off x="8519160" y="3151632"/>
            <a:ext cx="1586331" cy="62331"/>
          </a:xfrm>
          <a:prstGeom prst="rect">
            <a:avLst/>
          </a:prstGeom>
          <a:solidFill>
            <a:srgbClr val="E2EFF8"/>
          </a:solidFill>
          <a:ln>
            <a:noFill/>
          </a:ln>
        </p:spPr>
        <p:txBody>
          <a:bodyPr rtlCol="0" anchor="ctr"/>
          <a:lstStyle/>
          <a:p>
            <a:pPr algn="ctr"/>
          </a:p>
        </p:txBody>
      </p:sp>
      <p:sp>
        <p:nvSpPr>
          <p:cNvPr id="81" name="Rectangle 81"/>
          <p:cNvSpPr/>
          <p:nvPr/>
        </p:nvSpPr>
        <p:spPr>
          <a:xfrm>
            <a:off x="7909560" y="3090672"/>
            <a:ext cx="671931" cy="62331"/>
          </a:xfrm>
          <a:prstGeom prst="rect">
            <a:avLst/>
          </a:prstGeom>
          <a:solidFill>
            <a:srgbClr val="FCEBDD"/>
          </a:solidFill>
          <a:ln>
            <a:noFill/>
          </a:ln>
        </p:spPr>
        <p:txBody>
          <a:bodyPr rtlCol="0" anchor="ctr"/>
          <a:lstStyle/>
          <a:p>
            <a:pPr algn="ctr"/>
          </a:p>
        </p:txBody>
      </p:sp>
      <p:sp>
        <p:nvSpPr>
          <p:cNvPr id="82" name="Rectangle 82"/>
          <p:cNvSpPr/>
          <p:nvPr/>
        </p:nvSpPr>
        <p:spPr>
          <a:xfrm>
            <a:off x="8580120" y="3090672"/>
            <a:ext cx="1525371" cy="62331"/>
          </a:xfrm>
          <a:prstGeom prst="rect">
            <a:avLst/>
          </a:prstGeom>
          <a:solidFill>
            <a:srgbClr val="E2EFF8"/>
          </a:solidFill>
          <a:ln>
            <a:noFill/>
          </a:ln>
        </p:spPr>
        <p:txBody>
          <a:bodyPr rtlCol="0" anchor="ctr"/>
          <a:lstStyle/>
          <a:p>
            <a:pPr algn="ctr"/>
          </a:p>
        </p:txBody>
      </p:sp>
      <p:sp>
        <p:nvSpPr>
          <p:cNvPr id="83" name="Rectangle 83"/>
          <p:cNvSpPr/>
          <p:nvPr/>
        </p:nvSpPr>
        <p:spPr>
          <a:xfrm>
            <a:off x="7909560" y="3029712"/>
            <a:ext cx="732891" cy="62331"/>
          </a:xfrm>
          <a:prstGeom prst="rect">
            <a:avLst/>
          </a:prstGeom>
          <a:solidFill>
            <a:srgbClr val="FCEBDD"/>
          </a:solidFill>
          <a:ln>
            <a:noFill/>
          </a:ln>
        </p:spPr>
        <p:txBody>
          <a:bodyPr rtlCol="0" anchor="ctr"/>
          <a:lstStyle/>
          <a:p>
            <a:pPr algn="ctr"/>
          </a:p>
        </p:txBody>
      </p:sp>
      <p:sp>
        <p:nvSpPr>
          <p:cNvPr id="84" name="Rectangle 84"/>
          <p:cNvSpPr/>
          <p:nvPr/>
        </p:nvSpPr>
        <p:spPr>
          <a:xfrm>
            <a:off x="8641080" y="3029712"/>
            <a:ext cx="1464411" cy="62331"/>
          </a:xfrm>
          <a:prstGeom prst="rect">
            <a:avLst/>
          </a:prstGeom>
          <a:solidFill>
            <a:srgbClr val="E2EFF8"/>
          </a:solidFill>
          <a:ln>
            <a:noFill/>
          </a:ln>
        </p:spPr>
        <p:txBody>
          <a:bodyPr rtlCol="0" anchor="ctr"/>
          <a:lstStyle/>
          <a:p>
            <a:pPr algn="ctr"/>
          </a:p>
        </p:txBody>
      </p:sp>
      <p:sp>
        <p:nvSpPr>
          <p:cNvPr id="85" name="Rectangle 85"/>
          <p:cNvSpPr/>
          <p:nvPr/>
        </p:nvSpPr>
        <p:spPr>
          <a:xfrm>
            <a:off x="7909560" y="2968752"/>
            <a:ext cx="793851" cy="62331"/>
          </a:xfrm>
          <a:prstGeom prst="rect">
            <a:avLst/>
          </a:prstGeom>
          <a:solidFill>
            <a:srgbClr val="FCEBDD"/>
          </a:solidFill>
          <a:ln>
            <a:noFill/>
          </a:ln>
        </p:spPr>
        <p:txBody>
          <a:bodyPr rtlCol="0" anchor="ctr"/>
          <a:lstStyle/>
          <a:p>
            <a:pPr algn="ctr"/>
          </a:p>
        </p:txBody>
      </p:sp>
      <p:sp>
        <p:nvSpPr>
          <p:cNvPr id="86" name="Rectangle 86"/>
          <p:cNvSpPr/>
          <p:nvPr/>
        </p:nvSpPr>
        <p:spPr>
          <a:xfrm>
            <a:off x="8702040" y="2968752"/>
            <a:ext cx="1403451" cy="62331"/>
          </a:xfrm>
          <a:prstGeom prst="rect">
            <a:avLst/>
          </a:prstGeom>
          <a:solidFill>
            <a:srgbClr val="E2EFF8"/>
          </a:solidFill>
          <a:ln>
            <a:noFill/>
          </a:ln>
        </p:spPr>
        <p:txBody>
          <a:bodyPr rtlCol="0" anchor="ctr"/>
          <a:lstStyle/>
          <a:p>
            <a:pPr algn="ctr"/>
          </a:p>
        </p:txBody>
      </p:sp>
      <p:sp>
        <p:nvSpPr>
          <p:cNvPr id="87" name="Rectangle 87"/>
          <p:cNvSpPr/>
          <p:nvPr/>
        </p:nvSpPr>
        <p:spPr>
          <a:xfrm>
            <a:off x="7909560" y="2907792"/>
            <a:ext cx="854811" cy="62331"/>
          </a:xfrm>
          <a:prstGeom prst="rect">
            <a:avLst/>
          </a:prstGeom>
          <a:solidFill>
            <a:srgbClr val="FCEBDD"/>
          </a:solidFill>
          <a:ln>
            <a:noFill/>
          </a:ln>
        </p:spPr>
        <p:txBody>
          <a:bodyPr rtlCol="0" anchor="ctr"/>
          <a:lstStyle/>
          <a:p>
            <a:pPr algn="ctr"/>
          </a:p>
        </p:txBody>
      </p:sp>
      <p:sp>
        <p:nvSpPr>
          <p:cNvPr id="88" name="Rectangle 88"/>
          <p:cNvSpPr/>
          <p:nvPr/>
        </p:nvSpPr>
        <p:spPr>
          <a:xfrm>
            <a:off x="8763000" y="2907792"/>
            <a:ext cx="1342491" cy="62331"/>
          </a:xfrm>
          <a:prstGeom prst="rect">
            <a:avLst/>
          </a:prstGeom>
          <a:solidFill>
            <a:srgbClr val="E2EFF8"/>
          </a:solidFill>
          <a:ln>
            <a:noFill/>
          </a:ln>
        </p:spPr>
        <p:txBody>
          <a:bodyPr rtlCol="0" anchor="ctr"/>
          <a:lstStyle/>
          <a:p>
            <a:pPr algn="ctr"/>
          </a:p>
        </p:txBody>
      </p:sp>
      <p:sp>
        <p:nvSpPr>
          <p:cNvPr id="89" name="Rectangle 89"/>
          <p:cNvSpPr/>
          <p:nvPr/>
        </p:nvSpPr>
        <p:spPr>
          <a:xfrm>
            <a:off x="7909560" y="2846832"/>
            <a:ext cx="915771" cy="62331"/>
          </a:xfrm>
          <a:prstGeom prst="rect">
            <a:avLst/>
          </a:prstGeom>
          <a:solidFill>
            <a:srgbClr val="FCEBDD"/>
          </a:solidFill>
          <a:ln>
            <a:noFill/>
          </a:ln>
        </p:spPr>
        <p:txBody>
          <a:bodyPr rtlCol="0" anchor="ctr"/>
          <a:lstStyle/>
          <a:p>
            <a:pPr algn="ctr"/>
          </a:p>
        </p:txBody>
      </p:sp>
      <p:sp>
        <p:nvSpPr>
          <p:cNvPr id="90" name="Rectangle 90"/>
          <p:cNvSpPr/>
          <p:nvPr/>
        </p:nvSpPr>
        <p:spPr>
          <a:xfrm>
            <a:off x="8823960" y="2846832"/>
            <a:ext cx="1281531" cy="62331"/>
          </a:xfrm>
          <a:prstGeom prst="rect">
            <a:avLst/>
          </a:prstGeom>
          <a:solidFill>
            <a:srgbClr val="E2EFF8"/>
          </a:solidFill>
          <a:ln>
            <a:noFill/>
          </a:ln>
        </p:spPr>
        <p:txBody>
          <a:bodyPr rtlCol="0" anchor="ctr"/>
          <a:lstStyle/>
          <a:p>
            <a:pPr algn="ctr"/>
          </a:p>
        </p:txBody>
      </p:sp>
      <p:sp>
        <p:nvSpPr>
          <p:cNvPr id="91" name="Rectangle 91"/>
          <p:cNvSpPr/>
          <p:nvPr/>
        </p:nvSpPr>
        <p:spPr>
          <a:xfrm>
            <a:off x="7909560" y="2785872"/>
            <a:ext cx="915771" cy="62331"/>
          </a:xfrm>
          <a:prstGeom prst="rect">
            <a:avLst/>
          </a:prstGeom>
          <a:solidFill>
            <a:srgbClr val="FCEBDD"/>
          </a:solidFill>
          <a:ln>
            <a:noFill/>
          </a:ln>
        </p:spPr>
        <p:txBody>
          <a:bodyPr rtlCol="0" anchor="ctr"/>
          <a:lstStyle/>
          <a:p>
            <a:pPr algn="ctr"/>
          </a:p>
        </p:txBody>
      </p:sp>
      <p:sp>
        <p:nvSpPr>
          <p:cNvPr id="92" name="Rectangle 92"/>
          <p:cNvSpPr/>
          <p:nvPr/>
        </p:nvSpPr>
        <p:spPr>
          <a:xfrm>
            <a:off x="8823960" y="2785872"/>
            <a:ext cx="1281531" cy="62331"/>
          </a:xfrm>
          <a:prstGeom prst="rect">
            <a:avLst/>
          </a:prstGeom>
          <a:solidFill>
            <a:srgbClr val="E2EFF8"/>
          </a:solidFill>
          <a:ln>
            <a:noFill/>
          </a:ln>
        </p:spPr>
        <p:txBody>
          <a:bodyPr rtlCol="0" anchor="ctr"/>
          <a:lstStyle/>
          <a:p>
            <a:pPr algn="ctr"/>
          </a:p>
        </p:txBody>
      </p:sp>
      <p:sp>
        <p:nvSpPr>
          <p:cNvPr id="93" name="Rectangle 93"/>
          <p:cNvSpPr/>
          <p:nvPr/>
        </p:nvSpPr>
        <p:spPr>
          <a:xfrm>
            <a:off x="7909560" y="2724912"/>
            <a:ext cx="976731" cy="62331"/>
          </a:xfrm>
          <a:prstGeom prst="rect">
            <a:avLst/>
          </a:prstGeom>
          <a:solidFill>
            <a:srgbClr val="FCEBDD"/>
          </a:solidFill>
          <a:ln>
            <a:noFill/>
          </a:ln>
        </p:spPr>
        <p:txBody>
          <a:bodyPr rtlCol="0" anchor="ctr"/>
          <a:lstStyle/>
          <a:p>
            <a:pPr algn="ctr"/>
          </a:p>
        </p:txBody>
      </p:sp>
      <p:sp>
        <p:nvSpPr>
          <p:cNvPr id="94" name="Rectangle 94"/>
          <p:cNvSpPr/>
          <p:nvPr/>
        </p:nvSpPr>
        <p:spPr>
          <a:xfrm>
            <a:off x="8884920" y="2724912"/>
            <a:ext cx="1220571" cy="62331"/>
          </a:xfrm>
          <a:prstGeom prst="rect">
            <a:avLst/>
          </a:prstGeom>
          <a:solidFill>
            <a:srgbClr val="E2EFF8"/>
          </a:solidFill>
          <a:ln>
            <a:noFill/>
          </a:ln>
        </p:spPr>
        <p:txBody>
          <a:bodyPr rtlCol="0" anchor="ctr"/>
          <a:lstStyle/>
          <a:p>
            <a:pPr algn="ctr"/>
          </a:p>
        </p:txBody>
      </p:sp>
      <p:sp>
        <p:nvSpPr>
          <p:cNvPr id="95" name="Rectangle 95"/>
          <p:cNvSpPr/>
          <p:nvPr/>
        </p:nvSpPr>
        <p:spPr>
          <a:xfrm>
            <a:off x="7909560" y="2663952"/>
            <a:ext cx="976731" cy="62331"/>
          </a:xfrm>
          <a:prstGeom prst="rect">
            <a:avLst/>
          </a:prstGeom>
          <a:solidFill>
            <a:srgbClr val="FCEBDD"/>
          </a:solidFill>
          <a:ln>
            <a:noFill/>
          </a:ln>
        </p:spPr>
        <p:txBody>
          <a:bodyPr rtlCol="0" anchor="ctr"/>
          <a:lstStyle/>
          <a:p>
            <a:pPr algn="ctr"/>
          </a:p>
        </p:txBody>
      </p:sp>
      <p:sp>
        <p:nvSpPr>
          <p:cNvPr id="96" name="Rectangle 96"/>
          <p:cNvSpPr/>
          <p:nvPr/>
        </p:nvSpPr>
        <p:spPr>
          <a:xfrm>
            <a:off x="8884920" y="2663952"/>
            <a:ext cx="1220571" cy="62331"/>
          </a:xfrm>
          <a:prstGeom prst="rect">
            <a:avLst/>
          </a:prstGeom>
          <a:solidFill>
            <a:srgbClr val="E2EFF8"/>
          </a:solidFill>
          <a:ln>
            <a:noFill/>
          </a:ln>
        </p:spPr>
        <p:txBody>
          <a:bodyPr rtlCol="0" anchor="ctr"/>
          <a:lstStyle/>
          <a:p>
            <a:pPr algn="ctr"/>
          </a:p>
        </p:txBody>
      </p:sp>
      <p:sp>
        <p:nvSpPr>
          <p:cNvPr id="97" name="Rectangle 97"/>
          <p:cNvSpPr/>
          <p:nvPr/>
        </p:nvSpPr>
        <p:spPr>
          <a:xfrm>
            <a:off x="7909560" y="2602992"/>
            <a:ext cx="1037691" cy="62331"/>
          </a:xfrm>
          <a:prstGeom prst="rect">
            <a:avLst/>
          </a:prstGeom>
          <a:solidFill>
            <a:srgbClr val="FCEBDD"/>
          </a:solidFill>
          <a:ln>
            <a:noFill/>
          </a:ln>
        </p:spPr>
        <p:txBody>
          <a:bodyPr rtlCol="0" anchor="ctr"/>
          <a:lstStyle/>
          <a:p>
            <a:pPr algn="ctr"/>
          </a:p>
        </p:txBody>
      </p:sp>
      <p:sp>
        <p:nvSpPr>
          <p:cNvPr id="98" name="Rectangle 98"/>
          <p:cNvSpPr/>
          <p:nvPr/>
        </p:nvSpPr>
        <p:spPr>
          <a:xfrm>
            <a:off x="8945880" y="2602992"/>
            <a:ext cx="1159611" cy="62331"/>
          </a:xfrm>
          <a:prstGeom prst="rect">
            <a:avLst/>
          </a:prstGeom>
          <a:solidFill>
            <a:srgbClr val="E2EFF8"/>
          </a:solidFill>
          <a:ln>
            <a:noFill/>
          </a:ln>
        </p:spPr>
        <p:txBody>
          <a:bodyPr rtlCol="0" anchor="ctr"/>
          <a:lstStyle/>
          <a:p>
            <a:pPr algn="ctr"/>
          </a:p>
        </p:txBody>
      </p:sp>
      <p:sp>
        <p:nvSpPr>
          <p:cNvPr id="99" name="Rectangle 99"/>
          <p:cNvSpPr/>
          <p:nvPr/>
        </p:nvSpPr>
        <p:spPr>
          <a:xfrm>
            <a:off x="7909560" y="2542032"/>
            <a:ext cx="1037691" cy="62331"/>
          </a:xfrm>
          <a:prstGeom prst="rect">
            <a:avLst/>
          </a:prstGeom>
          <a:solidFill>
            <a:srgbClr val="FCEBDD"/>
          </a:solidFill>
          <a:ln>
            <a:noFill/>
          </a:ln>
        </p:spPr>
        <p:txBody>
          <a:bodyPr rtlCol="0" anchor="ctr"/>
          <a:lstStyle/>
          <a:p>
            <a:pPr algn="ctr"/>
          </a:p>
        </p:txBody>
      </p:sp>
      <p:sp>
        <p:nvSpPr>
          <p:cNvPr id="100" name="Rectangle 100"/>
          <p:cNvSpPr/>
          <p:nvPr/>
        </p:nvSpPr>
        <p:spPr>
          <a:xfrm>
            <a:off x="8945880" y="2542032"/>
            <a:ext cx="1159611" cy="62331"/>
          </a:xfrm>
          <a:prstGeom prst="rect">
            <a:avLst/>
          </a:prstGeom>
          <a:solidFill>
            <a:srgbClr val="E2EFF8"/>
          </a:solidFill>
          <a:ln>
            <a:noFill/>
          </a:ln>
        </p:spPr>
        <p:txBody>
          <a:bodyPr rtlCol="0" anchor="ctr"/>
          <a:lstStyle/>
          <a:p>
            <a:pPr algn="ctr"/>
          </a:p>
        </p:txBody>
      </p:sp>
      <p:sp>
        <p:nvSpPr>
          <p:cNvPr id="101" name="Rectangle 101"/>
          <p:cNvSpPr/>
          <p:nvPr/>
        </p:nvSpPr>
        <p:spPr>
          <a:xfrm>
            <a:off x="7909560" y="2481072"/>
            <a:ext cx="1037691" cy="62331"/>
          </a:xfrm>
          <a:prstGeom prst="rect">
            <a:avLst/>
          </a:prstGeom>
          <a:solidFill>
            <a:srgbClr val="FCEBDD"/>
          </a:solidFill>
          <a:ln>
            <a:noFill/>
          </a:ln>
        </p:spPr>
        <p:txBody>
          <a:bodyPr rtlCol="0" anchor="ctr"/>
          <a:lstStyle/>
          <a:p>
            <a:pPr algn="ctr"/>
          </a:p>
        </p:txBody>
      </p:sp>
      <p:sp>
        <p:nvSpPr>
          <p:cNvPr id="102" name="Rectangle 102"/>
          <p:cNvSpPr/>
          <p:nvPr/>
        </p:nvSpPr>
        <p:spPr>
          <a:xfrm>
            <a:off x="8945880" y="2481072"/>
            <a:ext cx="1159611" cy="62331"/>
          </a:xfrm>
          <a:prstGeom prst="rect">
            <a:avLst/>
          </a:prstGeom>
          <a:solidFill>
            <a:srgbClr val="E2EFF8"/>
          </a:solidFill>
          <a:ln>
            <a:noFill/>
          </a:ln>
        </p:spPr>
        <p:txBody>
          <a:bodyPr rtlCol="0" anchor="ctr"/>
          <a:lstStyle/>
          <a:p>
            <a:pPr algn="ctr"/>
          </a:p>
        </p:txBody>
      </p:sp>
      <p:sp>
        <p:nvSpPr>
          <p:cNvPr id="103" name="Rectangle 103"/>
          <p:cNvSpPr/>
          <p:nvPr/>
        </p:nvSpPr>
        <p:spPr>
          <a:xfrm>
            <a:off x="7909560" y="2420112"/>
            <a:ext cx="1098651" cy="62331"/>
          </a:xfrm>
          <a:prstGeom prst="rect">
            <a:avLst/>
          </a:prstGeom>
          <a:solidFill>
            <a:srgbClr val="FCEBDD"/>
          </a:solidFill>
          <a:ln>
            <a:noFill/>
          </a:ln>
        </p:spPr>
        <p:txBody>
          <a:bodyPr rtlCol="0" anchor="ctr"/>
          <a:lstStyle/>
          <a:p>
            <a:pPr algn="ctr"/>
          </a:p>
        </p:txBody>
      </p:sp>
      <p:sp>
        <p:nvSpPr>
          <p:cNvPr id="104" name="Rectangle 104"/>
          <p:cNvSpPr/>
          <p:nvPr/>
        </p:nvSpPr>
        <p:spPr>
          <a:xfrm>
            <a:off x="9006840" y="2420112"/>
            <a:ext cx="1098651" cy="62331"/>
          </a:xfrm>
          <a:prstGeom prst="rect">
            <a:avLst/>
          </a:prstGeom>
          <a:solidFill>
            <a:srgbClr val="E2EFF8"/>
          </a:solidFill>
          <a:ln>
            <a:noFill/>
          </a:ln>
        </p:spPr>
        <p:txBody>
          <a:bodyPr rtlCol="0" anchor="ctr"/>
          <a:lstStyle/>
          <a:p>
            <a:pPr algn="ctr"/>
          </a:p>
        </p:txBody>
      </p:sp>
      <p:sp>
        <p:nvSpPr>
          <p:cNvPr id="105" name="Rectangle 105"/>
          <p:cNvSpPr/>
          <p:nvPr/>
        </p:nvSpPr>
        <p:spPr>
          <a:xfrm>
            <a:off x="7909560" y="2359152"/>
            <a:ext cx="1098651" cy="62331"/>
          </a:xfrm>
          <a:prstGeom prst="rect">
            <a:avLst/>
          </a:prstGeom>
          <a:solidFill>
            <a:srgbClr val="FCEBDD"/>
          </a:solidFill>
          <a:ln>
            <a:noFill/>
          </a:ln>
        </p:spPr>
        <p:txBody>
          <a:bodyPr rtlCol="0" anchor="ctr"/>
          <a:lstStyle/>
          <a:p>
            <a:pPr algn="ctr"/>
          </a:p>
        </p:txBody>
      </p:sp>
      <p:sp>
        <p:nvSpPr>
          <p:cNvPr id="106" name="Rectangle 106"/>
          <p:cNvSpPr/>
          <p:nvPr/>
        </p:nvSpPr>
        <p:spPr>
          <a:xfrm>
            <a:off x="9006840" y="2359152"/>
            <a:ext cx="1098651" cy="62331"/>
          </a:xfrm>
          <a:prstGeom prst="rect">
            <a:avLst/>
          </a:prstGeom>
          <a:solidFill>
            <a:srgbClr val="E2EFF8"/>
          </a:solidFill>
          <a:ln>
            <a:noFill/>
          </a:ln>
        </p:spPr>
        <p:txBody>
          <a:bodyPr rtlCol="0" anchor="ctr"/>
          <a:lstStyle/>
          <a:p>
            <a:pPr algn="ctr"/>
          </a:p>
        </p:txBody>
      </p:sp>
      <p:cxnSp>
        <p:nvCxnSpPr>
          <p:cNvPr id="107" name="Connector 107"/>
          <p:cNvCxnSpPr/>
          <p:nvPr/>
        </p:nvCxnSpPr>
        <p:spPr>
          <a:xfrm flipV="1">
            <a:off x="8275320" y="2359152"/>
            <a:ext cx="0" cy="219456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08" name="Connector 108"/>
          <p:cNvCxnSpPr/>
          <p:nvPr/>
        </p:nvCxnSpPr>
        <p:spPr>
          <a:xfrm>
            <a:off x="7909560" y="4187952"/>
            <a:ext cx="219456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109" name="editable_text"/>
          <p:cNvSpPr txBox="1"/>
          <p:nvPr/>
        </p:nvSpPr>
        <p:spPr>
          <a:xfrm>
            <a:off x="8165592" y="4585716"/>
            <a:ext cx="320040"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sp>
        <p:nvSpPr>
          <p:cNvPr id="110" name="editable_text"/>
          <p:cNvSpPr txBox="1"/>
          <p:nvPr/>
        </p:nvSpPr>
        <p:spPr>
          <a:xfrm>
            <a:off x="7635240" y="4078224"/>
            <a:ext cx="256032"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cxnSp>
        <p:nvCxnSpPr>
          <p:cNvPr id="111" name="Connector 111"/>
          <p:cNvCxnSpPr/>
          <p:nvPr/>
        </p:nvCxnSpPr>
        <p:spPr>
          <a:xfrm flipV="1">
            <a:off x="9738360" y="2359152"/>
            <a:ext cx="0" cy="219456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12" name="Connector 112"/>
          <p:cNvCxnSpPr/>
          <p:nvPr/>
        </p:nvCxnSpPr>
        <p:spPr>
          <a:xfrm>
            <a:off x="7909560" y="2724912"/>
            <a:ext cx="219456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113" name="editable_text"/>
          <p:cNvSpPr txBox="1"/>
          <p:nvPr/>
        </p:nvSpPr>
        <p:spPr>
          <a:xfrm>
            <a:off x="9628632" y="4585716"/>
            <a:ext cx="320040"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sp>
        <p:nvSpPr>
          <p:cNvPr id="114" name="editable_text"/>
          <p:cNvSpPr txBox="1"/>
          <p:nvPr/>
        </p:nvSpPr>
        <p:spPr>
          <a:xfrm>
            <a:off x="7635240" y="2615184"/>
            <a:ext cx="256032"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cxnSp>
        <p:nvCxnSpPr>
          <p:cNvPr id="115" name="Connector 115"/>
          <p:cNvCxnSpPr/>
          <p:nvPr/>
        </p:nvCxnSpPr>
        <p:spPr>
          <a:xfrm>
            <a:off x="7909560" y="4553712"/>
            <a:ext cx="2194560" cy="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cxnSp>
        <p:nvCxnSpPr>
          <p:cNvPr id="116" name="Connector 116"/>
          <p:cNvCxnSpPr/>
          <p:nvPr/>
        </p:nvCxnSpPr>
        <p:spPr>
          <a:xfrm>
            <a:off x="7909560" y="2359152"/>
            <a:ext cx="0" cy="219456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sp>
        <p:nvSpPr>
          <p:cNvPr id="117" name="editable_text"/>
          <p:cNvSpPr txBox="1"/>
          <p:nvPr/>
        </p:nvSpPr>
        <p:spPr>
          <a:xfrm>
            <a:off x="10012680" y="4809744"/>
            <a:ext cx="457200" cy="292608"/>
          </a:xfrm>
          <a:prstGeom prst="rect">
            <a:avLst/>
          </a:prstGeom>
          <a:noFill/>
        </p:spPr>
        <p:txBody>
          <a:bodyPr wrap="square" lIns="13716" tIns="0" rIns="13716" bIns="0">
            <a:spAutoFit/>
          </a:bodyPr>
          <a:lstStyle/>
          <a:p>
            <a:pPr>
              <a:spcAft>
                <a:spcPts val="400"/>
              </a:spcAft>
              <a:defRPr sz="1500" b="0">
                <a:solidFill>
                  <a:srgbClr val="142F50"/>
                </a:solidFill>
                <a:latin typeface="微软雅黑" panose="020B0503020204020204" charset="-122"/>
              </a:defRPr>
            </a:pPr>
            <a:r>
              <a:rPr>
                <a:ea typeface="微软雅黑" panose="020B0503020204020204" charset="-122"/>
              </a:rPr>
              <a:t>x₁</a:t>
            </a:r>
            <a:endParaRPr>
              <a:ea typeface="微软雅黑" panose="020B0503020204020204" charset="-122"/>
            </a:endParaRPr>
          </a:p>
        </p:txBody>
      </p:sp>
      <p:sp>
        <p:nvSpPr>
          <p:cNvPr id="118" name="editable_text"/>
          <p:cNvSpPr txBox="1"/>
          <p:nvPr/>
        </p:nvSpPr>
        <p:spPr>
          <a:xfrm>
            <a:off x="7562088" y="2240280"/>
            <a:ext cx="457200" cy="292608"/>
          </a:xfrm>
          <a:prstGeom prst="rect">
            <a:avLst/>
          </a:prstGeom>
          <a:noFill/>
        </p:spPr>
        <p:txBody>
          <a:bodyPr wrap="square" lIns="13716" tIns="0" rIns="13716" bIns="0">
            <a:spAutoFit/>
          </a:bodyPr>
          <a:lstStyle/>
          <a:p>
            <a:pPr>
              <a:spcAft>
                <a:spcPts val="400"/>
              </a:spcAft>
              <a:defRPr sz="1500" b="0">
                <a:solidFill>
                  <a:srgbClr val="142F50"/>
                </a:solidFill>
                <a:latin typeface="微软雅黑" panose="020B0503020204020204" charset="-122"/>
              </a:defRPr>
            </a:pPr>
            <a:r>
              <a:rPr>
                <a:ea typeface="微软雅黑" panose="020B0503020204020204" charset="-122"/>
              </a:rPr>
              <a:t>x₂</a:t>
            </a:r>
            <a:endParaRPr>
              <a:ea typeface="微软雅黑" panose="020B0503020204020204" charset="-122"/>
            </a:endParaRPr>
          </a:p>
        </p:txBody>
      </p:sp>
      <p:sp>
        <p:nvSpPr>
          <p:cNvPr id="119" name="Freeform 119"/>
          <p:cNvSpPr/>
          <p:nvPr/>
        </p:nvSpPr>
        <p:spPr>
          <a:xfrm>
            <a:off x="7909560" y="2359152"/>
            <a:ext cx="1117665" cy="1117665"/>
          </a:xfrm>
          <a:custGeom>
            <a:avLst/>
            <a:gdLst/>
            <a:ahLst/>
            <a:cxnLst/>
            <a:rect l="l" t="t" r="r" b="b"/>
            <a:pathLst>
              <a:path w="1117665" h="1117665">
                <a:moveTo>
                  <a:pt x="0" y="1117665"/>
                </a:moveTo>
                <a:lnTo>
                  <a:pt x="6606" y="1115568"/>
                </a:lnTo>
                <a:lnTo>
                  <a:pt x="9144" y="1114757"/>
                </a:lnTo>
                <a:lnTo>
                  <a:pt x="18288" y="1111832"/>
                </a:lnTo>
                <a:lnTo>
                  <a:pt x="27432" y="1108883"/>
                </a:lnTo>
                <a:lnTo>
                  <a:pt x="35005" y="1106424"/>
                </a:lnTo>
                <a:lnTo>
                  <a:pt x="36576" y="1105910"/>
                </a:lnTo>
                <a:lnTo>
                  <a:pt x="45720" y="1102920"/>
                </a:lnTo>
                <a:lnTo>
                  <a:pt x="54864" y="1099904"/>
                </a:lnTo>
                <a:lnTo>
                  <a:pt x="62759" y="1097280"/>
                </a:lnTo>
                <a:lnTo>
                  <a:pt x="64008" y="1096862"/>
                </a:lnTo>
                <a:lnTo>
                  <a:pt x="73152" y="1093801"/>
                </a:lnTo>
                <a:lnTo>
                  <a:pt x="82296" y="1090713"/>
                </a:lnTo>
                <a:lnTo>
                  <a:pt x="89869" y="1088136"/>
                </a:lnTo>
                <a:lnTo>
                  <a:pt x="91440" y="1087598"/>
                </a:lnTo>
                <a:lnTo>
                  <a:pt x="100584" y="1084461"/>
                </a:lnTo>
                <a:lnTo>
                  <a:pt x="109728" y="1081295"/>
                </a:lnTo>
                <a:lnTo>
                  <a:pt x="116334" y="1078992"/>
                </a:lnTo>
                <a:lnTo>
                  <a:pt x="118872" y="1078101"/>
                </a:lnTo>
                <a:lnTo>
                  <a:pt x="128016" y="1074883"/>
                </a:lnTo>
                <a:lnTo>
                  <a:pt x="137160" y="1071633"/>
                </a:lnTo>
                <a:lnTo>
                  <a:pt x="142154" y="1069848"/>
                </a:lnTo>
                <a:lnTo>
                  <a:pt x="146304" y="1068355"/>
                </a:lnTo>
                <a:lnTo>
                  <a:pt x="155448" y="1065049"/>
                </a:lnTo>
                <a:lnTo>
                  <a:pt x="164592" y="1061708"/>
                </a:lnTo>
                <a:lnTo>
                  <a:pt x="167331" y="1060704"/>
                </a:lnTo>
                <a:lnTo>
                  <a:pt x="173736" y="1058339"/>
                </a:lnTo>
                <a:lnTo>
                  <a:pt x="182880" y="1054938"/>
                </a:lnTo>
                <a:lnTo>
                  <a:pt x="191864" y="1051560"/>
                </a:lnTo>
                <a:lnTo>
                  <a:pt x="192024" y="1051499"/>
                </a:lnTo>
                <a:lnTo>
                  <a:pt x="201168" y="1048033"/>
                </a:lnTo>
                <a:lnTo>
                  <a:pt x="210312" y="1044528"/>
                </a:lnTo>
                <a:lnTo>
                  <a:pt x="215782" y="1042416"/>
                </a:lnTo>
                <a:lnTo>
                  <a:pt x="219456" y="1040987"/>
                </a:lnTo>
                <a:lnTo>
                  <a:pt x="228600" y="1037412"/>
                </a:lnTo>
                <a:lnTo>
                  <a:pt x="237744" y="1033794"/>
                </a:lnTo>
                <a:lnTo>
                  <a:pt x="239061" y="1033272"/>
                </a:lnTo>
                <a:lnTo>
                  <a:pt x="246888" y="1030144"/>
                </a:lnTo>
                <a:lnTo>
                  <a:pt x="256032" y="1026450"/>
                </a:lnTo>
                <a:lnTo>
                  <a:pt x="261732" y="1024128"/>
                </a:lnTo>
                <a:lnTo>
                  <a:pt x="265176" y="1022714"/>
                </a:lnTo>
                <a:lnTo>
                  <a:pt x="274320" y="1018940"/>
                </a:lnTo>
                <a:lnTo>
                  <a:pt x="283464" y="1015116"/>
                </a:lnTo>
                <a:lnTo>
                  <a:pt x="283780" y="1014984"/>
                </a:lnTo>
                <a:lnTo>
                  <a:pt x="292608" y="1011256"/>
                </a:lnTo>
                <a:lnTo>
                  <a:pt x="301752" y="1007344"/>
                </a:lnTo>
                <a:lnTo>
                  <a:pt x="305244" y="1005840"/>
                </a:lnTo>
                <a:lnTo>
                  <a:pt x="310896" y="1003387"/>
                </a:lnTo>
                <a:lnTo>
                  <a:pt x="320040" y="999382"/>
                </a:lnTo>
                <a:lnTo>
                  <a:pt x="326110" y="996696"/>
                </a:lnTo>
                <a:lnTo>
                  <a:pt x="329184" y="995325"/>
                </a:lnTo>
                <a:lnTo>
                  <a:pt x="338328" y="991220"/>
                </a:lnTo>
                <a:lnTo>
                  <a:pt x="346391" y="987552"/>
                </a:lnTo>
                <a:lnTo>
                  <a:pt x="347472" y="987056"/>
                </a:lnTo>
                <a:lnTo>
                  <a:pt x="356616" y="982845"/>
                </a:lnTo>
                <a:lnTo>
                  <a:pt x="365760" y="978570"/>
                </a:lnTo>
                <a:lnTo>
                  <a:pt x="366107" y="978408"/>
                </a:lnTo>
                <a:lnTo>
                  <a:pt x="374904" y="974246"/>
                </a:lnTo>
                <a:lnTo>
                  <a:pt x="384048" y="969855"/>
                </a:lnTo>
                <a:lnTo>
                  <a:pt x="385272" y="969264"/>
                </a:lnTo>
                <a:lnTo>
                  <a:pt x="393192" y="965408"/>
                </a:lnTo>
                <a:lnTo>
                  <a:pt x="402336" y="960892"/>
                </a:lnTo>
                <a:lnTo>
                  <a:pt x="403891" y="960120"/>
                </a:lnTo>
                <a:lnTo>
                  <a:pt x="411480" y="956317"/>
                </a:lnTo>
                <a:lnTo>
                  <a:pt x="420624" y="951669"/>
                </a:lnTo>
                <a:lnTo>
                  <a:pt x="421978" y="950976"/>
                </a:lnTo>
                <a:lnTo>
                  <a:pt x="429768" y="946957"/>
                </a:lnTo>
                <a:lnTo>
                  <a:pt x="438912" y="942166"/>
                </a:lnTo>
                <a:lnTo>
                  <a:pt x="439546" y="941832"/>
                </a:lnTo>
                <a:lnTo>
                  <a:pt x="448056" y="937309"/>
                </a:lnTo>
                <a:lnTo>
                  <a:pt x="456612" y="932688"/>
                </a:lnTo>
                <a:lnTo>
                  <a:pt x="457200" y="932367"/>
                </a:lnTo>
                <a:lnTo>
                  <a:pt x="466344" y="927355"/>
                </a:lnTo>
                <a:lnTo>
                  <a:pt x="473192" y="923544"/>
                </a:lnTo>
                <a:lnTo>
                  <a:pt x="475488" y="922255"/>
                </a:lnTo>
                <a:lnTo>
                  <a:pt x="484632" y="917074"/>
                </a:lnTo>
                <a:lnTo>
                  <a:pt x="489294" y="914400"/>
                </a:lnTo>
                <a:lnTo>
                  <a:pt x="493776" y="911805"/>
                </a:lnTo>
                <a:lnTo>
                  <a:pt x="502920" y="906444"/>
                </a:lnTo>
                <a:lnTo>
                  <a:pt x="504928" y="905256"/>
                </a:lnTo>
                <a:lnTo>
                  <a:pt x="512064" y="900994"/>
                </a:lnTo>
                <a:lnTo>
                  <a:pt x="520113" y="896112"/>
                </a:lnTo>
                <a:lnTo>
                  <a:pt x="521208" y="895441"/>
                </a:lnTo>
                <a:lnTo>
                  <a:pt x="530352" y="889796"/>
                </a:lnTo>
                <a:lnTo>
                  <a:pt x="534871" y="886968"/>
                </a:lnTo>
                <a:lnTo>
                  <a:pt x="539496" y="884045"/>
                </a:lnTo>
                <a:lnTo>
                  <a:pt x="548640" y="878183"/>
                </a:lnTo>
                <a:lnTo>
                  <a:pt x="549196" y="877824"/>
                </a:lnTo>
                <a:lnTo>
                  <a:pt x="557784" y="872219"/>
                </a:lnTo>
                <a:lnTo>
                  <a:pt x="563126" y="868680"/>
                </a:lnTo>
                <a:lnTo>
                  <a:pt x="566928" y="866136"/>
                </a:lnTo>
                <a:lnTo>
                  <a:pt x="576072" y="859931"/>
                </a:lnTo>
                <a:lnTo>
                  <a:pt x="576649" y="859536"/>
                </a:lnTo>
                <a:lnTo>
                  <a:pt x="585216" y="853612"/>
                </a:lnTo>
                <a:lnTo>
                  <a:pt x="589804" y="850392"/>
                </a:lnTo>
                <a:lnTo>
                  <a:pt x="594360" y="847161"/>
                </a:lnTo>
                <a:lnTo>
                  <a:pt x="602579" y="841248"/>
                </a:lnTo>
                <a:lnTo>
                  <a:pt x="603504" y="840575"/>
                </a:lnTo>
                <a:lnTo>
                  <a:pt x="612648" y="833859"/>
                </a:lnTo>
                <a:lnTo>
                  <a:pt x="615007" y="832104"/>
                </a:lnTo>
                <a:lnTo>
                  <a:pt x="621792" y="827002"/>
                </a:lnTo>
                <a:lnTo>
                  <a:pt x="627090" y="822960"/>
                </a:lnTo>
                <a:lnTo>
                  <a:pt x="630936" y="819995"/>
                </a:lnTo>
                <a:lnTo>
                  <a:pt x="638837" y="813816"/>
                </a:lnTo>
                <a:lnTo>
                  <a:pt x="640080" y="812833"/>
                </a:lnTo>
                <a:lnTo>
                  <a:pt x="649224" y="805517"/>
                </a:lnTo>
                <a:lnTo>
                  <a:pt x="650268" y="804672"/>
                </a:lnTo>
                <a:lnTo>
                  <a:pt x="658368" y="798040"/>
                </a:lnTo>
                <a:lnTo>
                  <a:pt x="661395" y="795528"/>
                </a:lnTo>
                <a:lnTo>
                  <a:pt x="667512" y="790392"/>
                </a:lnTo>
                <a:lnTo>
                  <a:pt x="672222" y="786384"/>
                </a:lnTo>
                <a:lnTo>
                  <a:pt x="676656" y="782567"/>
                </a:lnTo>
                <a:lnTo>
                  <a:pt x="682762" y="777240"/>
                </a:lnTo>
                <a:lnTo>
                  <a:pt x="685800" y="774558"/>
                </a:lnTo>
                <a:lnTo>
                  <a:pt x="693025" y="768096"/>
                </a:lnTo>
                <a:lnTo>
                  <a:pt x="694944" y="766359"/>
                </a:lnTo>
                <a:lnTo>
                  <a:pt x="703022" y="758952"/>
                </a:lnTo>
                <a:lnTo>
                  <a:pt x="704088" y="757963"/>
                </a:lnTo>
                <a:lnTo>
                  <a:pt x="712764" y="749808"/>
                </a:lnTo>
                <a:lnTo>
                  <a:pt x="713232" y="749363"/>
                </a:lnTo>
                <a:lnTo>
                  <a:pt x="722260" y="740664"/>
                </a:lnTo>
                <a:lnTo>
                  <a:pt x="722376" y="740551"/>
                </a:lnTo>
                <a:lnTo>
                  <a:pt x="731519" y="731520"/>
                </a:lnTo>
                <a:lnTo>
                  <a:pt x="731520" y="731519"/>
                </a:lnTo>
                <a:lnTo>
                  <a:pt x="740551" y="722376"/>
                </a:lnTo>
                <a:lnTo>
                  <a:pt x="740664" y="722260"/>
                </a:lnTo>
                <a:lnTo>
                  <a:pt x="749363" y="713232"/>
                </a:lnTo>
                <a:lnTo>
                  <a:pt x="749808" y="712764"/>
                </a:lnTo>
                <a:lnTo>
                  <a:pt x="757963" y="704088"/>
                </a:lnTo>
                <a:lnTo>
                  <a:pt x="758952" y="703022"/>
                </a:lnTo>
                <a:lnTo>
                  <a:pt x="766359" y="694944"/>
                </a:lnTo>
                <a:lnTo>
                  <a:pt x="768096" y="693025"/>
                </a:lnTo>
                <a:lnTo>
                  <a:pt x="774558" y="685800"/>
                </a:lnTo>
                <a:lnTo>
                  <a:pt x="777240" y="682762"/>
                </a:lnTo>
                <a:lnTo>
                  <a:pt x="782567" y="676656"/>
                </a:lnTo>
                <a:lnTo>
                  <a:pt x="786384" y="672222"/>
                </a:lnTo>
                <a:lnTo>
                  <a:pt x="790392" y="667512"/>
                </a:lnTo>
                <a:lnTo>
                  <a:pt x="795528" y="661395"/>
                </a:lnTo>
                <a:lnTo>
                  <a:pt x="798040" y="658368"/>
                </a:lnTo>
                <a:lnTo>
                  <a:pt x="804672" y="650268"/>
                </a:lnTo>
                <a:lnTo>
                  <a:pt x="805517" y="649224"/>
                </a:lnTo>
                <a:lnTo>
                  <a:pt x="812833" y="640080"/>
                </a:lnTo>
                <a:lnTo>
                  <a:pt x="813816" y="638837"/>
                </a:lnTo>
                <a:lnTo>
                  <a:pt x="819995" y="630936"/>
                </a:lnTo>
                <a:lnTo>
                  <a:pt x="822960" y="627090"/>
                </a:lnTo>
                <a:lnTo>
                  <a:pt x="827002" y="621792"/>
                </a:lnTo>
                <a:lnTo>
                  <a:pt x="832104" y="615007"/>
                </a:lnTo>
                <a:lnTo>
                  <a:pt x="833859" y="612648"/>
                </a:lnTo>
                <a:lnTo>
                  <a:pt x="840575" y="603504"/>
                </a:lnTo>
                <a:lnTo>
                  <a:pt x="841248" y="602579"/>
                </a:lnTo>
                <a:lnTo>
                  <a:pt x="847161" y="594360"/>
                </a:lnTo>
                <a:lnTo>
                  <a:pt x="850392" y="589804"/>
                </a:lnTo>
                <a:lnTo>
                  <a:pt x="853612" y="585216"/>
                </a:lnTo>
                <a:lnTo>
                  <a:pt x="859536" y="576649"/>
                </a:lnTo>
                <a:lnTo>
                  <a:pt x="859931" y="576072"/>
                </a:lnTo>
                <a:lnTo>
                  <a:pt x="866136" y="566928"/>
                </a:lnTo>
                <a:lnTo>
                  <a:pt x="868680" y="563126"/>
                </a:lnTo>
                <a:lnTo>
                  <a:pt x="872219" y="557784"/>
                </a:lnTo>
                <a:lnTo>
                  <a:pt x="877824" y="549196"/>
                </a:lnTo>
                <a:lnTo>
                  <a:pt x="878183" y="548640"/>
                </a:lnTo>
                <a:lnTo>
                  <a:pt x="884045" y="539496"/>
                </a:lnTo>
                <a:lnTo>
                  <a:pt x="886968" y="534871"/>
                </a:lnTo>
                <a:lnTo>
                  <a:pt x="889796" y="530352"/>
                </a:lnTo>
                <a:lnTo>
                  <a:pt x="895441" y="521208"/>
                </a:lnTo>
                <a:lnTo>
                  <a:pt x="896112" y="520113"/>
                </a:lnTo>
                <a:lnTo>
                  <a:pt x="900994" y="512064"/>
                </a:lnTo>
                <a:lnTo>
                  <a:pt x="905256" y="504928"/>
                </a:lnTo>
                <a:lnTo>
                  <a:pt x="906444" y="502920"/>
                </a:lnTo>
                <a:lnTo>
                  <a:pt x="911805" y="493776"/>
                </a:lnTo>
                <a:lnTo>
                  <a:pt x="914400" y="489294"/>
                </a:lnTo>
                <a:lnTo>
                  <a:pt x="917074" y="484632"/>
                </a:lnTo>
                <a:lnTo>
                  <a:pt x="922255" y="475488"/>
                </a:lnTo>
                <a:lnTo>
                  <a:pt x="923544" y="473192"/>
                </a:lnTo>
                <a:lnTo>
                  <a:pt x="927355" y="466344"/>
                </a:lnTo>
                <a:lnTo>
                  <a:pt x="932367" y="457200"/>
                </a:lnTo>
                <a:lnTo>
                  <a:pt x="932688" y="456612"/>
                </a:lnTo>
                <a:lnTo>
                  <a:pt x="937309" y="448056"/>
                </a:lnTo>
                <a:lnTo>
                  <a:pt x="941832" y="439546"/>
                </a:lnTo>
                <a:lnTo>
                  <a:pt x="942166" y="438912"/>
                </a:lnTo>
                <a:lnTo>
                  <a:pt x="946957" y="429768"/>
                </a:lnTo>
                <a:lnTo>
                  <a:pt x="950976" y="421978"/>
                </a:lnTo>
                <a:lnTo>
                  <a:pt x="951669" y="420624"/>
                </a:lnTo>
                <a:lnTo>
                  <a:pt x="956317" y="411480"/>
                </a:lnTo>
                <a:lnTo>
                  <a:pt x="960120" y="403891"/>
                </a:lnTo>
                <a:lnTo>
                  <a:pt x="960892" y="402336"/>
                </a:lnTo>
                <a:lnTo>
                  <a:pt x="965408" y="393192"/>
                </a:lnTo>
                <a:lnTo>
                  <a:pt x="969264" y="385272"/>
                </a:lnTo>
                <a:lnTo>
                  <a:pt x="969855" y="384048"/>
                </a:lnTo>
                <a:lnTo>
                  <a:pt x="974246" y="374904"/>
                </a:lnTo>
                <a:lnTo>
                  <a:pt x="978408" y="366107"/>
                </a:lnTo>
                <a:lnTo>
                  <a:pt x="978570" y="365760"/>
                </a:lnTo>
                <a:lnTo>
                  <a:pt x="982845" y="356616"/>
                </a:lnTo>
                <a:lnTo>
                  <a:pt x="987056" y="347472"/>
                </a:lnTo>
                <a:lnTo>
                  <a:pt x="987552" y="346391"/>
                </a:lnTo>
                <a:lnTo>
                  <a:pt x="991220" y="338328"/>
                </a:lnTo>
                <a:lnTo>
                  <a:pt x="995325" y="329184"/>
                </a:lnTo>
                <a:lnTo>
                  <a:pt x="996696" y="326110"/>
                </a:lnTo>
                <a:lnTo>
                  <a:pt x="999382" y="320040"/>
                </a:lnTo>
                <a:lnTo>
                  <a:pt x="1003387" y="310896"/>
                </a:lnTo>
                <a:lnTo>
                  <a:pt x="1005840" y="305244"/>
                </a:lnTo>
                <a:lnTo>
                  <a:pt x="1007344" y="301752"/>
                </a:lnTo>
                <a:lnTo>
                  <a:pt x="1011256" y="292608"/>
                </a:lnTo>
                <a:lnTo>
                  <a:pt x="1014984" y="283780"/>
                </a:lnTo>
                <a:lnTo>
                  <a:pt x="1015116" y="283464"/>
                </a:lnTo>
                <a:lnTo>
                  <a:pt x="1018940" y="274320"/>
                </a:lnTo>
                <a:lnTo>
                  <a:pt x="1022714" y="265176"/>
                </a:lnTo>
                <a:lnTo>
                  <a:pt x="1024128" y="261732"/>
                </a:lnTo>
                <a:lnTo>
                  <a:pt x="1026450" y="256032"/>
                </a:lnTo>
                <a:lnTo>
                  <a:pt x="1030144" y="246888"/>
                </a:lnTo>
                <a:lnTo>
                  <a:pt x="1033272" y="239061"/>
                </a:lnTo>
                <a:lnTo>
                  <a:pt x="1033794" y="237744"/>
                </a:lnTo>
                <a:lnTo>
                  <a:pt x="1037412" y="228600"/>
                </a:lnTo>
                <a:lnTo>
                  <a:pt x="1040987" y="219456"/>
                </a:lnTo>
                <a:lnTo>
                  <a:pt x="1042416" y="215782"/>
                </a:lnTo>
                <a:lnTo>
                  <a:pt x="1044528" y="210312"/>
                </a:lnTo>
                <a:lnTo>
                  <a:pt x="1048033" y="201168"/>
                </a:lnTo>
                <a:lnTo>
                  <a:pt x="1051499" y="192024"/>
                </a:lnTo>
                <a:lnTo>
                  <a:pt x="1051560" y="191864"/>
                </a:lnTo>
                <a:lnTo>
                  <a:pt x="1054938" y="182880"/>
                </a:lnTo>
                <a:lnTo>
                  <a:pt x="1058339" y="173736"/>
                </a:lnTo>
                <a:lnTo>
                  <a:pt x="1060704" y="167331"/>
                </a:lnTo>
                <a:lnTo>
                  <a:pt x="1061708" y="164592"/>
                </a:lnTo>
                <a:lnTo>
                  <a:pt x="1065049" y="155448"/>
                </a:lnTo>
                <a:lnTo>
                  <a:pt x="1068355" y="146304"/>
                </a:lnTo>
                <a:lnTo>
                  <a:pt x="1069848" y="142154"/>
                </a:lnTo>
                <a:lnTo>
                  <a:pt x="1071633" y="137160"/>
                </a:lnTo>
                <a:lnTo>
                  <a:pt x="1074883" y="128016"/>
                </a:lnTo>
                <a:lnTo>
                  <a:pt x="1078101" y="118872"/>
                </a:lnTo>
                <a:lnTo>
                  <a:pt x="1078992" y="116334"/>
                </a:lnTo>
                <a:lnTo>
                  <a:pt x="1081295" y="109728"/>
                </a:lnTo>
                <a:lnTo>
                  <a:pt x="1084461" y="100584"/>
                </a:lnTo>
                <a:lnTo>
                  <a:pt x="1087598" y="91440"/>
                </a:lnTo>
                <a:lnTo>
                  <a:pt x="1088136" y="89869"/>
                </a:lnTo>
                <a:lnTo>
                  <a:pt x="1090713" y="82296"/>
                </a:lnTo>
                <a:lnTo>
                  <a:pt x="1093801" y="73152"/>
                </a:lnTo>
                <a:lnTo>
                  <a:pt x="1096862" y="64008"/>
                </a:lnTo>
                <a:lnTo>
                  <a:pt x="1097280" y="62759"/>
                </a:lnTo>
                <a:lnTo>
                  <a:pt x="1099904" y="54864"/>
                </a:lnTo>
                <a:lnTo>
                  <a:pt x="1102920" y="45720"/>
                </a:lnTo>
                <a:lnTo>
                  <a:pt x="1105910" y="36576"/>
                </a:lnTo>
                <a:lnTo>
                  <a:pt x="1106424" y="35005"/>
                </a:lnTo>
                <a:lnTo>
                  <a:pt x="1108883" y="27432"/>
                </a:lnTo>
                <a:lnTo>
                  <a:pt x="1111832" y="18288"/>
                </a:lnTo>
                <a:lnTo>
                  <a:pt x="1114757" y="9144"/>
                </a:lnTo>
                <a:lnTo>
                  <a:pt x="1115568" y="6606"/>
                </a:lnTo>
                <a:lnTo>
                  <a:pt x="1117665" y="0"/>
                </a:lnTo>
              </a:path>
            </a:pathLst>
          </a:custGeom>
          <a:noFill/>
          <a:ln w="21590">
            <a:solidFill>
              <a:srgbClr val="142F50"/>
            </a:solidFill>
          </a:ln>
        </p:spPr>
        <p:txBody>
          <a:bodyPr rtlCol="0" anchor="ctr"/>
          <a:lstStyle/>
          <a:p>
            <a:pPr algn="ctr"/>
          </a:p>
        </p:txBody>
      </p:sp>
      <p:sp>
        <p:nvSpPr>
          <p:cNvPr id="120" name="Freeform 120"/>
          <p:cNvSpPr/>
          <p:nvPr/>
        </p:nvSpPr>
        <p:spPr>
          <a:xfrm>
            <a:off x="8986454" y="3436046"/>
            <a:ext cx="1117666" cy="1117666"/>
          </a:xfrm>
          <a:custGeom>
            <a:avLst/>
            <a:gdLst/>
            <a:ahLst/>
            <a:cxnLst/>
            <a:rect l="l" t="t" r="r" b="b"/>
            <a:pathLst>
              <a:path w="1117666" h="1117666">
                <a:moveTo>
                  <a:pt x="1117666" y="0"/>
                </a:moveTo>
                <a:lnTo>
                  <a:pt x="1111059" y="2098"/>
                </a:lnTo>
                <a:lnTo>
                  <a:pt x="1108522" y="2908"/>
                </a:lnTo>
                <a:lnTo>
                  <a:pt x="1099378" y="5833"/>
                </a:lnTo>
                <a:lnTo>
                  <a:pt x="1090234" y="8782"/>
                </a:lnTo>
                <a:lnTo>
                  <a:pt x="1082660" y="11242"/>
                </a:lnTo>
                <a:lnTo>
                  <a:pt x="1081090" y="11755"/>
                </a:lnTo>
                <a:lnTo>
                  <a:pt x="1071946" y="14745"/>
                </a:lnTo>
                <a:lnTo>
                  <a:pt x="1062802" y="17761"/>
                </a:lnTo>
                <a:lnTo>
                  <a:pt x="1054906" y="20386"/>
                </a:lnTo>
                <a:lnTo>
                  <a:pt x="1053658" y="20803"/>
                </a:lnTo>
                <a:lnTo>
                  <a:pt x="1044514" y="23864"/>
                </a:lnTo>
                <a:lnTo>
                  <a:pt x="1035370" y="26952"/>
                </a:lnTo>
                <a:lnTo>
                  <a:pt x="1027796" y="29530"/>
                </a:lnTo>
                <a:lnTo>
                  <a:pt x="1026226" y="30067"/>
                </a:lnTo>
                <a:lnTo>
                  <a:pt x="1017082" y="33204"/>
                </a:lnTo>
                <a:lnTo>
                  <a:pt x="1007938" y="36370"/>
                </a:lnTo>
                <a:lnTo>
                  <a:pt x="1001331" y="38674"/>
                </a:lnTo>
                <a:lnTo>
                  <a:pt x="998794" y="39564"/>
                </a:lnTo>
                <a:lnTo>
                  <a:pt x="989650" y="42782"/>
                </a:lnTo>
                <a:lnTo>
                  <a:pt x="980506" y="46032"/>
                </a:lnTo>
                <a:lnTo>
                  <a:pt x="975511" y="47818"/>
                </a:lnTo>
                <a:lnTo>
                  <a:pt x="971362" y="49310"/>
                </a:lnTo>
                <a:lnTo>
                  <a:pt x="962218" y="52616"/>
                </a:lnTo>
                <a:lnTo>
                  <a:pt x="953074" y="55957"/>
                </a:lnTo>
                <a:lnTo>
                  <a:pt x="950334" y="56962"/>
                </a:lnTo>
                <a:lnTo>
                  <a:pt x="943930" y="59326"/>
                </a:lnTo>
                <a:lnTo>
                  <a:pt x="934786" y="62727"/>
                </a:lnTo>
                <a:lnTo>
                  <a:pt x="925801" y="66106"/>
                </a:lnTo>
                <a:lnTo>
                  <a:pt x="925642" y="66166"/>
                </a:lnTo>
                <a:lnTo>
                  <a:pt x="916498" y="69632"/>
                </a:lnTo>
                <a:lnTo>
                  <a:pt x="907354" y="73137"/>
                </a:lnTo>
                <a:lnTo>
                  <a:pt x="901883" y="75250"/>
                </a:lnTo>
                <a:lnTo>
                  <a:pt x="898210" y="76678"/>
                </a:lnTo>
                <a:lnTo>
                  <a:pt x="889066" y="80253"/>
                </a:lnTo>
                <a:lnTo>
                  <a:pt x="879922" y="83871"/>
                </a:lnTo>
                <a:lnTo>
                  <a:pt x="878604" y="84394"/>
                </a:lnTo>
                <a:lnTo>
                  <a:pt x="870778" y="87521"/>
                </a:lnTo>
                <a:lnTo>
                  <a:pt x="861634" y="91215"/>
                </a:lnTo>
                <a:lnTo>
                  <a:pt x="855933" y="93538"/>
                </a:lnTo>
                <a:lnTo>
                  <a:pt x="852490" y="94951"/>
                </a:lnTo>
                <a:lnTo>
                  <a:pt x="843346" y="98725"/>
                </a:lnTo>
                <a:lnTo>
                  <a:pt x="834202" y="102549"/>
                </a:lnTo>
                <a:lnTo>
                  <a:pt x="833885" y="102682"/>
                </a:lnTo>
                <a:lnTo>
                  <a:pt x="825058" y="106409"/>
                </a:lnTo>
                <a:lnTo>
                  <a:pt x="815914" y="110321"/>
                </a:lnTo>
                <a:lnTo>
                  <a:pt x="812421" y="111826"/>
                </a:lnTo>
                <a:lnTo>
                  <a:pt x="806770" y="114278"/>
                </a:lnTo>
                <a:lnTo>
                  <a:pt x="797626" y="118283"/>
                </a:lnTo>
                <a:lnTo>
                  <a:pt x="791555" y="120970"/>
                </a:lnTo>
                <a:lnTo>
                  <a:pt x="788482" y="122340"/>
                </a:lnTo>
                <a:lnTo>
                  <a:pt x="779338" y="126445"/>
                </a:lnTo>
                <a:lnTo>
                  <a:pt x="771274" y="130114"/>
                </a:lnTo>
                <a:lnTo>
                  <a:pt x="770194" y="130609"/>
                </a:lnTo>
                <a:lnTo>
                  <a:pt x="761050" y="134820"/>
                </a:lnTo>
                <a:lnTo>
                  <a:pt x="751906" y="139095"/>
                </a:lnTo>
                <a:lnTo>
                  <a:pt x="751558" y="139258"/>
                </a:lnTo>
                <a:lnTo>
                  <a:pt x="742762" y="143419"/>
                </a:lnTo>
                <a:lnTo>
                  <a:pt x="733618" y="147810"/>
                </a:lnTo>
                <a:lnTo>
                  <a:pt x="732393" y="148402"/>
                </a:lnTo>
                <a:lnTo>
                  <a:pt x="724474" y="152257"/>
                </a:lnTo>
                <a:lnTo>
                  <a:pt x="715330" y="156773"/>
                </a:lnTo>
                <a:lnTo>
                  <a:pt x="713774" y="157546"/>
                </a:lnTo>
                <a:lnTo>
                  <a:pt x="706186" y="161348"/>
                </a:lnTo>
                <a:lnTo>
                  <a:pt x="697042" y="165996"/>
                </a:lnTo>
                <a:lnTo>
                  <a:pt x="695687" y="166690"/>
                </a:lnTo>
                <a:lnTo>
                  <a:pt x="687898" y="170708"/>
                </a:lnTo>
                <a:lnTo>
                  <a:pt x="678754" y="175499"/>
                </a:lnTo>
                <a:lnTo>
                  <a:pt x="678119" y="175834"/>
                </a:lnTo>
                <a:lnTo>
                  <a:pt x="669610" y="180356"/>
                </a:lnTo>
                <a:lnTo>
                  <a:pt x="661053" y="184978"/>
                </a:lnTo>
                <a:lnTo>
                  <a:pt x="660466" y="185298"/>
                </a:lnTo>
                <a:lnTo>
                  <a:pt x="651322" y="190310"/>
                </a:lnTo>
                <a:lnTo>
                  <a:pt x="644473" y="194122"/>
                </a:lnTo>
                <a:lnTo>
                  <a:pt x="642178" y="195410"/>
                </a:lnTo>
                <a:lnTo>
                  <a:pt x="633034" y="200591"/>
                </a:lnTo>
                <a:lnTo>
                  <a:pt x="628371" y="203266"/>
                </a:lnTo>
                <a:lnTo>
                  <a:pt x="623890" y="205860"/>
                </a:lnTo>
                <a:lnTo>
                  <a:pt x="614746" y="211221"/>
                </a:lnTo>
                <a:lnTo>
                  <a:pt x="612737" y="212410"/>
                </a:lnTo>
                <a:lnTo>
                  <a:pt x="605602" y="216671"/>
                </a:lnTo>
                <a:lnTo>
                  <a:pt x="597552" y="221554"/>
                </a:lnTo>
                <a:lnTo>
                  <a:pt x="596458" y="222224"/>
                </a:lnTo>
                <a:lnTo>
                  <a:pt x="587314" y="227869"/>
                </a:lnTo>
                <a:lnTo>
                  <a:pt x="582794" y="230698"/>
                </a:lnTo>
                <a:lnTo>
                  <a:pt x="578170" y="233620"/>
                </a:lnTo>
                <a:lnTo>
                  <a:pt x="569026" y="239482"/>
                </a:lnTo>
                <a:lnTo>
                  <a:pt x="568469" y="239842"/>
                </a:lnTo>
                <a:lnTo>
                  <a:pt x="559882" y="245446"/>
                </a:lnTo>
                <a:lnTo>
                  <a:pt x="554539" y="248986"/>
                </a:lnTo>
                <a:lnTo>
                  <a:pt x="550738" y="251529"/>
                </a:lnTo>
                <a:lnTo>
                  <a:pt x="541594" y="257734"/>
                </a:lnTo>
                <a:lnTo>
                  <a:pt x="541016" y="258130"/>
                </a:lnTo>
                <a:lnTo>
                  <a:pt x="532450" y="264053"/>
                </a:lnTo>
                <a:lnTo>
                  <a:pt x="527861" y="267274"/>
                </a:lnTo>
                <a:lnTo>
                  <a:pt x="523306" y="270504"/>
                </a:lnTo>
                <a:lnTo>
                  <a:pt x="515086" y="276418"/>
                </a:lnTo>
                <a:lnTo>
                  <a:pt x="514162" y="277089"/>
                </a:lnTo>
                <a:lnTo>
                  <a:pt x="505018" y="283806"/>
                </a:lnTo>
                <a:lnTo>
                  <a:pt x="502658" y="285562"/>
                </a:lnTo>
                <a:lnTo>
                  <a:pt x="495874" y="290663"/>
                </a:lnTo>
                <a:lnTo>
                  <a:pt x="490575" y="294706"/>
                </a:lnTo>
                <a:lnTo>
                  <a:pt x="486730" y="297670"/>
                </a:lnTo>
                <a:lnTo>
                  <a:pt x="478828" y="303850"/>
                </a:lnTo>
                <a:lnTo>
                  <a:pt x="477586" y="304832"/>
                </a:lnTo>
                <a:lnTo>
                  <a:pt x="468442" y="312148"/>
                </a:lnTo>
                <a:lnTo>
                  <a:pt x="467397" y="312994"/>
                </a:lnTo>
                <a:lnTo>
                  <a:pt x="459298" y="319625"/>
                </a:lnTo>
                <a:lnTo>
                  <a:pt x="456270" y="322138"/>
                </a:lnTo>
                <a:lnTo>
                  <a:pt x="450154" y="327273"/>
                </a:lnTo>
                <a:lnTo>
                  <a:pt x="445443" y="331282"/>
                </a:lnTo>
                <a:lnTo>
                  <a:pt x="441010" y="335098"/>
                </a:lnTo>
                <a:lnTo>
                  <a:pt x="434903" y="340426"/>
                </a:lnTo>
                <a:lnTo>
                  <a:pt x="431866" y="343107"/>
                </a:lnTo>
                <a:lnTo>
                  <a:pt x="424640" y="349570"/>
                </a:lnTo>
                <a:lnTo>
                  <a:pt x="422722" y="351306"/>
                </a:lnTo>
                <a:lnTo>
                  <a:pt x="414643" y="358714"/>
                </a:lnTo>
                <a:lnTo>
                  <a:pt x="413578" y="359702"/>
                </a:lnTo>
                <a:lnTo>
                  <a:pt x="404901" y="367858"/>
                </a:lnTo>
                <a:lnTo>
                  <a:pt x="404434" y="368302"/>
                </a:lnTo>
                <a:lnTo>
                  <a:pt x="395405" y="377002"/>
                </a:lnTo>
                <a:lnTo>
                  <a:pt x="395290" y="377114"/>
                </a:lnTo>
                <a:lnTo>
                  <a:pt x="386146" y="386145"/>
                </a:lnTo>
                <a:lnTo>
                  <a:pt x="386145" y="386146"/>
                </a:lnTo>
                <a:lnTo>
                  <a:pt x="377114" y="395290"/>
                </a:lnTo>
                <a:lnTo>
                  <a:pt x="377002" y="395405"/>
                </a:lnTo>
                <a:lnTo>
                  <a:pt x="368302" y="404434"/>
                </a:lnTo>
                <a:lnTo>
                  <a:pt x="367858" y="404901"/>
                </a:lnTo>
                <a:lnTo>
                  <a:pt x="359702" y="413578"/>
                </a:lnTo>
                <a:lnTo>
                  <a:pt x="358714" y="414643"/>
                </a:lnTo>
                <a:lnTo>
                  <a:pt x="351306" y="422722"/>
                </a:lnTo>
                <a:lnTo>
                  <a:pt x="349570" y="424640"/>
                </a:lnTo>
                <a:lnTo>
                  <a:pt x="343107" y="431866"/>
                </a:lnTo>
                <a:lnTo>
                  <a:pt x="340426" y="434903"/>
                </a:lnTo>
                <a:lnTo>
                  <a:pt x="335098" y="441010"/>
                </a:lnTo>
                <a:lnTo>
                  <a:pt x="331282" y="445443"/>
                </a:lnTo>
                <a:lnTo>
                  <a:pt x="327273" y="450154"/>
                </a:lnTo>
                <a:lnTo>
                  <a:pt x="322138" y="456270"/>
                </a:lnTo>
                <a:lnTo>
                  <a:pt x="319625" y="459298"/>
                </a:lnTo>
                <a:lnTo>
                  <a:pt x="312994" y="467397"/>
                </a:lnTo>
                <a:lnTo>
                  <a:pt x="312148" y="468442"/>
                </a:lnTo>
                <a:lnTo>
                  <a:pt x="304832" y="477586"/>
                </a:lnTo>
                <a:lnTo>
                  <a:pt x="303850" y="478828"/>
                </a:lnTo>
                <a:lnTo>
                  <a:pt x="297670" y="486730"/>
                </a:lnTo>
                <a:lnTo>
                  <a:pt x="294706" y="490575"/>
                </a:lnTo>
                <a:lnTo>
                  <a:pt x="290663" y="495874"/>
                </a:lnTo>
                <a:lnTo>
                  <a:pt x="285562" y="502658"/>
                </a:lnTo>
                <a:lnTo>
                  <a:pt x="283806" y="505018"/>
                </a:lnTo>
                <a:lnTo>
                  <a:pt x="277089" y="514162"/>
                </a:lnTo>
                <a:lnTo>
                  <a:pt x="276418" y="515086"/>
                </a:lnTo>
                <a:lnTo>
                  <a:pt x="270504" y="523306"/>
                </a:lnTo>
                <a:lnTo>
                  <a:pt x="267274" y="527861"/>
                </a:lnTo>
                <a:lnTo>
                  <a:pt x="264053" y="532450"/>
                </a:lnTo>
                <a:lnTo>
                  <a:pt x="258130" y="541016"/>
                </a:lnTo>
                <a:lnTo>
                  <a:pt x="257734" y="541594"/>
                </a:lnTo>
                <a:lnTo>
                  <a:pt x="251529" y="550738"/>
                </a:lnTo>
                <a:lnTo>
                  <a:pt x="248986" y="554539"/>
                </a:lnTo>
                <a:lnTo>
                  <a:pt x="245446" y="559882"/>
                </a:lnTo>
                <a:lnTo>
                  <a:pt x="239842" y="568469"/>
                </a:lnTo>
                <a:lnTo>
                  <a:pt x="239482" y="569026"/>
                </a:lnTo>
                <a:lnTo>
                  <a:pt x="233620" y="578170"/>
                </a:lnTo>
                <a:lnTo>
                  <a:pt x="230698" y="582794"/>
                </a:lnTo>
                <a:lnTo>
                  <a:pt x="227869" y="587314"/>
                </a:lnTo>
                <a:lnTo>
                  <a:pt x="222224" y="596458"/>
                </a:lnTo>
                <a:lnTo>
                  <a:pt x="221554" y="597552"/>
                </a:lnTo>
                <a:lnTo>
                  <a:pt x="216671" y="605602"/>
                </a:lnTo>
                <a:lnTo>
                  <a:pt x="212410" y="612737"/>
                </a:lnTo>
                <a:lnTo>
                  <a:pt x="211221" y="614746"/>
                </a:lnTo>
                <a:lnTo>
                  <a:pt x="205860" y="623890"/>
                </a:lnTo>
                <a:lnTo>
                  <a:pt x="203266" y="628371"/>
                </a:lnTo>
                <a:lnTo>
                  <a:pt x="200591" y="633034"/>
                </a:lnTo>
                <a:lnTo>
                  <a:pt x="195410" y="642178"/>
                </a:lnTo>
                <a:lnTo>
                  <a:pt x="194122" y="644473"/>
                </a:lnTo>
                <a:lnTo>
                  <a:pt x="190310" y="651322"/>
                </a:lnTo>
                <a:lnTo>
                  <a:pt x="185298" y="660466"/>
                </a:lnTo>
                <a:lnTo>
                  <a:pt x="184978" y="661053"/>
                </a:lnTo>
                <a:lnTo>
                  <a:pt x="180356" y="669610"/>
                </a:lnTo>
                <a:lnTo>
                  <a:pt x="175834" y="678119"/>
                </a:lnTo>
                <a:lnTo>
                  <a:pt x="175499" y="678754"/>
                </a:lnTo>
                <a:lnTo>
                  <a:pt x="170708" y="687898"/>
                </a:lnTo>
                <a:lnTo>
                  <a:pt x="166690" y="695687"/>
                </a:lnTo>
                <a:lnTo>
                  <a:pt x="165996" y="697042"/>
                </a:lnTo>
                <a:lnTo>
                  <a:pt x="161348" y="706186"/>
                </a:lnTo>
                <a:lnTo>
                  <a:pt x="157546" y="713774"/>
                </a:lnTo>
                <a:lnTo>
                  <a:pt x="156773" y="715330"/>
                </a:lnTo>
                <a:lnTo>
                  <a:pt x="152257" y="724474"/>
                </a:lnTo>
                <a:lnTo>
                  <a:pt x="148402" y="732393"/>
                </a:lnTo>
                <a:lnTo>
                  <a:pt x="147810" y="733618"/>
                </a:lnTo>
                <a:lnTo>
                  <a:pt x="143419" y="742762"/>
                </a:lnTo>
                <a:lnTo>
                  <a:pt x="139258" y="751558"/>
                </a:lnTo>
                <a:lnTo>
                  <a:pt x="139095" y="751906"/>
                </a:lnTo>
                <a:lnTo>
                  <a:pt x="134820" y="761050"/>
                </a:lnTo>
                <a:lnTo>
                  <a:pt x="130609" y="770194"/>
                </a:lnTo>
                <a:lnTo>
                  <a:pt x="130114" y="771274"/>
                </a:lnTo>
                <a:lnTo>
                  <a:pt x="126445" y="779338"/>
                </a:lnTo>
                <a:lnTo>
                  <a:pt x="122340" y="788482"/>
                </a:lnTo>
                <a:lnTo>
                  <a:pt x="120970" y="791555"/>
                </a:lnTo>
                <a:lnTo>
                  <a:pt x="118283" y="797626"/>
                </a:lnTo>
                <a:lnTo>
                  <a:pt x="114278" y="806770"/>
                </a:lnTo>
                <a:lnTo>
                  <a:pt x="111826" y="812421"/>
                </a:lnTo>
                <a:lnTo>
                  <a:pt x="110321" y="815914"/>
                </a:lnTo>
                <a:lnTo>
                  <a:pt x="106409" y="825058"/>
                </a:lnTo>
                <a:lnTo>
                  <a:pt x="102682" y="833885"/>
                </a:lnTo>
                <a:lnTo>
                  <a:pt x="102549" y="834202"/>
                </a:lnTo>
                <a:lnTo>
                  <a:pt x="98725" y="843346"/>
                </a:lnTo>
                <a:lnTo>
                  <a:pt x="94951" y="852490"/>
                </a:lnTo>
                <a:lnTo>
                  <a:pt x="93538" y="855933"/>
                </a:lnTo>
                <a:lnTo>
                  <a:pt x="91215" y="861634"/>
                </a:lnTo>
                <a:lnTo>
                  <a:pt x="87521" y="870778"/>
                </a:lnTo>
                <a:lnTo>
                  <a:pt x="84394" y="878604"/>
                </a:lnTo>
                <a:lnTo>
                  <a:pt x="83871" y="879922"/>
                </a:lnTo>
                <a:lnTo>
                  <a:pt x="80253" y="889066"/>
                </a:lnTo>
                <a:lnTo>
                  <a:pt x="76678" y="898210"/>
                </a:lnTo>
                <a:lnTo>
                  <a:pt x="75250" y="901883"/>
                </a:lnTo>
                <a:lnTo>
                  <a:pt x="73137" y="907354"/>
                </a:lnTo>
                <a:lnTo>
                  <a:pt x="69632" y="916498"/>
                </a:lnTo>
                <a:lnTo>
                  <a:pt x="66166" y="925642"/>
                </a:lnTo>
                <a:lnTo>
                  <a:pt x="66106" y="925801"/>
                </a:lnTo>
                <a:lnTo>
                  <a:pt x="62727" y="934786"/>
                </a:lnTo>
                <a:lnTo>
                  <a:pt x="59326" y="943930"/>
                </a:lnTo>
                <a:lnTo>
                  <a:pt x="56962" y="950334"/>
                </a:lnTo>
                <a:lnTo>
                  <a:pt x="55957" y="953074"/>
                </a:lnTo>
                <a:lnTo>
                  <a:pt x="52616" y="962218"/>
                </a:lnTo>
                <a:lnTo>
                  <a:pt x="49310" y="971362"/>
                </a:lnTo>
                <a:lnTo>
                  <a:pt x="47818" y="975511"/>
                </a:lnTo>
                <a:lnTo>
                  <a:pt x="46032" y="980506"/>
                </a:lnTo>
                <a:lnTo>
                  <a:pt x="42782" y="989650"/>
                </a:lnTo>
                <a:lnTo>
                  <a:pt x="39564" y="998794"/>
                </a:lnTo>
                <a:lnTo>
                  <a:pt x="38674" y="1001331"/>
                </a:lnTo>
                <a:lnTo>
                  <a:pt x="36370" y="1007938"/>
                </a:lnTo>
                <a:lnTo>
                  <a:pt x="33204" y="1017082"/>
                </a:lnTo>
                <a:lnTo>
                  <a:pt x="30067" y="1026226"/>
                </a:lnTo>
                <a:lnTo>
                  <a:pt x="29530" y="1027796"/>
                </a:lnTo>
                <a:lnTo>
                  <a:pt x="26952" y="1035370"/>
                </a:lnTo>
                <a:lnTo>
                  <a:pt x="23864" y="1044514"/>
                </a:lnTo>
                <a:lnTo>
                  <a:pt x="20803" y="1053658"/>
                </a:lnTo>
                <a:lnTo>
                  <a:pt x="20386" y="1054906"/>
                </a:lnTo>
                <a:lnTo>
                  <a:pt x="17761" y="1062802"/>
                </a:lnTo>
                <a:lnTo>
                  <a:pt x="14745" y="1071946"/>
                </a:lnTo>
                <a:lnTo>
                  <a:pt x="11755" y="1081090"/>
                </a:lnTo>
                <a:lnTo>
                  <a:pt x="11242" y="1082660"/>
                </a:lnTo>
                <a:lnTo>
                  <a:pt x="8782" y="1090234"/>
                </a:lnTo>
                <a:lnTo>
                  <a:pt x="5833" y="1099378"/>
                </a:lnTo>
                <a:lnTo>
                  <a:pt x="2908" y="1108522"/>
                </a:lnTo>
                <a:lnTo>
                  <a:pt x="2098" y="1111059"/>
                </a:lnTo>
                <a:lnTo>
                  <a:pt x="0" y="1117666"/>
                </a:lnTo>
              </a:path>
            </a:pathLst>
          </a:custGeom>
          <a:noFill/>
          <a:ln w="21590">
            <a:solidFill>
              <a:srgbClr val="142F50"/>
            </a:solidFill>
          </a:ln>
        </p:spPr>
        <p:txBody>
          <a:bodyPr rtlCol="0" anchor="ctr"/>
          <a:lstStyle/>
          <a:p>
            <a:pPr algn="ctr"/>
          </a:p>
        </p:txBody>
      </p:sp>
      <p:sp>
        <p:nvSpPr>
          <p:cNvPr id="121" name="Oval 121"/>
          <p:cNvSpPr/>
          <p:nvPr/>
        </p:nvSpPr>
        <p:spPr>
          <a:xfrm>
            <a:off x="8138160" y="4050791"/>
            <a:ext cx="274320" cy="274320"/>
          </a:xfrm>
          <a:prstGeom prst="ellipse">
            <a:avLst/>
          </a:prstGeom>
          <a:solidFill>
            <a:srgbClr val="FFFFFF"/>
          </a:solidFill>
          <a:ln w="10160">
            <a:solidFill>
              <a:srgbClr val="142F50"/>
            </a:solidFill>
          </a:ln>
        </p:spPr>
        <p:txBody>
          <a:bodyPr rtlCol="0" anchor="ctr"/>
          <a:lstStyle/>
          <a:p>
            <a:pPr algn="ctr"/>
          </a:p>
        </p:txBody>
      </p:sp>
      <p:sp>
        <p:nvSpPr>
          <p:cNvPr id="122" name="sample_class_-1"/>
          <p:cNvSpPr/>
          <p:nvPr/>
        </p:nvSpPr>
        <p:spPr>
          <a:xfrm>
            <a:off x="8179308" y="4091939"/>
            <a:ext cx="192024" cy="192024"/>
          </a:xfrm>
          <a:prstGeom prst="ellipse">
            <a:avLst/>
          </a:prstGeom>
          <a:solidFill>
            <a:srgbClr val="2878B8"/>
          </a:solidFill>
          <a:ln w="10160">
            <a:solidFill>
              <a:srgbClr val="FFFFFF"/>
            </a:solidFill>
          </a:ln>
        </p:spPr>
        <p:txBody>
          <a:bodyPr rtlCol="0" anchor="ctr"/>
          <a:lstStyle/>
          <a:p>
            <a:pPr algn="ctr"/>
          </a:p>
        </p:txBody>
      </p:sp>
      <p:sp>
        <p:nvSpPr>
          <p:cNvPr id="123" name="Oval 123"/>
          <p:cNvSpPr/>
          <p:nvPr/>
        </p:nvSpPr>
        <p:spPr>
          <a:xfrm>
            <a:off x="8138160" y="2587752"/>
            <a:ext cx="274320" cy="274320"/>
          </a:xfrm>
          <a:prstGeom prst="ellipse">
            <a:avLst/>
          </a:prstGeom>
          <a:solidFill>
            <a:srgbClr val="FFFFFF"/>
          </a:solidFill>
          <a:ln w="10160">
            <a:solidFill>
              <a:srgbClr val="142F50"/>
            </a:solidFill>
          </a:ln>
        </p:spPr>
        <p:txBody>
          <a:bodyPr rtlCol="0" anchor="ctr"/>
          <a:lstStyle/>
          <a:p>
            <a:pPr algn="ctr"/>
          </a:p>
        </p:txBody>
      </p:sp>
      <p:sp>
        <p:nvSpPr>
          <p:cNvPr id="124" name="sample_class_1"/>
          <p:cNvSpPr/>
          <p:nvPr/>
        </p:nvSpPr>
        <p:spPr>
          <a:xfrm>
            <a:off x="8179308" y="2628900"/>
            <a:ext cx="192024" cy="192024"/>
          </a:xfrm>
          <a:prstGeom prst="ellipse">
            <a:avLst/>
          </a:prstGeom>
          <a:solidFill>
            <a:srgbClr val="E98726"/>
          </a:solidFill>
          <a:ln w="10160">
            <a:solidFill>
              <a:srgbClr val="FFFFFF"/>
            </a:solidFill>
          </a:ln>
        </p:spPr>
        <p:txBody>
          <a:bodyPr rtlCol="0" anchor="ctr"/>
          <a:lstStyle/>
          <a:p>
            <a:pPr algn="ctr"/>
          </a:p>
        </p:txBody>
      </p:sp>
      <p:sp>
        <p:nvSpPr>
          <p:cNvPr id="125" name="Oval 125"/>
          <p:cNvSpPr/>
          <p:nvPr/>
        </p:nvSpPr>
        <p:spPr>
          <a:xfrm>
            <a:off x="9601200" y="4050791"/>
            <a:ext cx="274320" cy="274320"/>
          </a:xfrm>
          <a:prstGeom prst="ellipse">
            <a:avLst/>
          </a:prstGeom>
          <a:solidFill>
            <a:srgbClr val="FFFFFF"/>
          </a:solidFill>
          <a:ln w="10160">
            <a:solidFill>
              <a:srgbClr val="142F50"/>
            </a:solidFill>
          </a:ln>
        </p:spPr>
        <p:txBody>
          <a:bodyPr rtlCol="0" anchor="ctr"/>
          <a:lstStyle/>
          <a:p>
            <a:pPr algn="ctr"/>
          </a:p>
        </p:txBody>
      </p:sp>
      <p:sp>
        <p:nvSpPr>
          <p:cNvPr id="126" name="sample_class_1"/>
          <p:cNvSpPr/>
          <p:nvPr/>
        </p:nvSpPr>
        <p:spPr>
          <a:xfrm>
            <a:off x="9642348" y="4091939"/>
            <a:ext cx="192024" cy="192024"/>
          </a:xfrm>
          <a:prstGeom prst="ellipse">
            <a:avLst/>
          </a:prstGeom>
          <a:solidFill>
            <a:srgbClr val="E98726"/>
          </a:solidFill>
          <a:ln w="10160">
            <a:solidFill>
              <a:srgbClr val="FFFFFF"/>
            </a:solidFill>
          </a:ln>
        </p:spPr>
        <p:txBody>
          <a:bodyPr rtlCol="0" anchor="ctr"/>
          <a:lstStyle/>
          <a:p>
            <a:pPr algn="ctr"/>
          </a:p>
        </p:txBody>
      </p:sp>
      <p:sp>
        <p:nvSpPr>
          <p:cNvPr id="127" name="Oval 127"/>
          <p:cNvSpPr/>
          <p:nvPr/>
        </p:nvSpPr>
        <p:spPr>
          <a:xfrm>
            <a:off x="9601200" y="2587752"/>
            <a:ext cx="274320" cy="274320"/>
          </a:xfrm>
          <a:prstGeom prst="ellipse">
            <a:avLst/>
          </a:prstGeom>
          <a:solidFill>
            <a:srgbClr val="FFFFFF"/>
          </a:solidFill>
          <a:ln w="10160">
            <a:solidFill>
              <a:srgbClr val="142F50"/>
            </a:solidFill>
          </a:ln>
        </p:spPr>
        <p:txBody>
          <a:bodyPr rtlCol="0" anchor="ctr"/>
          <a:lstStyle/>
          <a:p>
            <a:pPr algn="ctr"/>
          </a:p>
        </p:txBody>
      </p:sp>
      <p:sp>
        <p:nvSpPr>
          <p:cNvPr id="128" name="sample_class_-1"/>
          <p:cNvSpPr/>
          <p:nvPr/>
        </p:nvSpPr>
        <p:spPr>
          <a:xfrm>
            <a:off x="9642348" y="2628900"/>
            <a:ext cx="192024" cy="192024"/>
          </a:xfrm>
          <a:prstGeom prst="ellipse">
            <a:avLst/>
          </a:prstGeom>
          <a:solidFill>
            <a:srgbClr val="2878B8"/>
          </a:solidFill>
          <a:ln w="10160">
            <a:solidFill>
              <a:srgbClr val="FFFFFF"/>
            </a:solidFill>
          </a:ln>
        </p:spPr>
        <p:txBody>
          <a:bodyPr rtlCol="0" anchor="ctr"/>
          <a:lstStyle/>
          <a:p>
            <a:pPr algn="ctr"/>
          </a:p>
        </p:txBody>
      </p:sp>
      <p:cxnSp>
        <p:nvCxnSpPr>
          <p:cNvPr id="129" name="Connector 129"/>
          <p:cNvCxnSpPr/>
          <p:nvPr/>
        </p:nvCxnSpPr>
        <p:spPr>
          <a:xfrm flipV="1">
            <a:off x="1325880" y="2359152"/>
            <a:ext cx="0" cy="219456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30" name="Connector 130"/>
          <p:cNvCxnSpPr/>
          <p:nvPr/>
        </p:nvCxnSpPr>
        <p:spPr>
          <a:xfrm>
            <a:off x="960120" y="4187952"/>
            <a:ext cx="219456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131" name="editable_text"/>
          <p:cNvSpPr txBox="1"/>
          <p:nvPr/>
        </p:nvSpPr>
        <p:spPr>
          <a:xfrm>
            <a:off x="1216152" y="4585716"/>
            <a:ext cx="320040"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sp>
        <p:nvSpPr>
          <p:cNvPr id="132" name="editable_text"/>
          <p:cNvSpPr txBox="1"/>
          <p:nvPr/>
        </p:nvSpPr>
        <p:spPr>
          <a:xfrm>
            <a:off x="685800" y="4078224"/>
            <a:ext cx="256032"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0</a:t>
            </a:r>
            <a:endParaRPr>
              <a:ea typeface="微软雅黑" panose="020B0503020204020204" charset="-122"/>
            </a:endParaRPr>
          </a:p>
        </p:txBody>
      </p:sp>
      <p:cxnSp>
        <p:nvCxnSpPr>
          <p:cNvPr id="133" name="Connector 133"/>
          <p:cNvCxnSpPr/>
          <p:nvPr/>
        </p:nvCxnSpPr>
        <p:spPr>
          <a:xfrm flipV="1">
            <a:off x="2788920" y="2359152"/>
            <a:ext cx="0" cy="219456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cxnSp>
        <p:nvCxnSpPr>
          <p:cNvPr id="134" name="Connector 134"/>
          <p:cNvCxnSpPr/>
          <p:nvPr/>
        </p:nvCxnSpPr>
        <p:spPr>
          <a:xfrm>
            <a:off x="960120" y="2724912"/>
            <a:ext cx="2194560" cy="0"/>
          </a:xfrm>
          <a:prstGeom prst="line">
            <a:avLst/>
          </a:prstGeom>
          <a:ln w="6985">
            <a:solidFill>
              <a:srgbClr val="DFE7EF"/>
            </a:solidFill>
          </a:ln>
        </p:spPr>
        <p:style>
          <a:lnRef idx="2">
            <a:schemeClr val="accent1"/>
          </a:lnRef>
          <a:fillRef idx="0">
            <a:schemeClr val="accent1"/>
          </a:fillRef>
          <a:effectRef idx="1">
            <a:schemeClr val="accent1"/>
          </a:effectRef>
          <a:fontRef idx="minor">
            <a:schemeClr val="tx1"/>
          </a:fontRef>
        </p:style>
      </p:cxnSp>
      <p:sp>
        <p:nvSpPr>
          <p:cNvPr id="135" name="editable_text"/>
          <p:cNvSpPr txBox="1"/>
          <p:nvPr/>
        </p:nvSpPr>
        <p:spPr>
          <a:xfrm>
            <a:off x="2679191" y="4585716"/>
            <a:ext cx="320040"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sp>
        <p:nvSpPr>
          <p:cNvPr id="136" name="editable_text"/>
          <p:cNvSpPr txBox="1"/>
          <p:nvPr/>
        </p:nvSpPr>
        <p:spPr>
          <a:xfrm>
            <a:off x="685800" y="2615184"/>
            <a:ext cx="256032" cy="228600"/>
          </a:xfrm>
          <a:prstGeom prst="rect">
            <a:avLst/>
          </a:prstGeom>
          <a:noFill/>
        </p:spPr>
        <p:txBody>
          <a:bodyPr wrap="square" lIns="13716" tIns="0" rIns="13716" bIns="0">
            <a:spAutoFit/>
          </a:bodyPr>
          <a:lstStyle/>
          <a:p>
            <a:pPr>
              <a:spcAft>
                <a:spcPts val="400"/>
              </a:spcAft>
              <a:defRPr sz="1200" b="0">
                <a:solidFill>
                  <a:srgbClr val="64758A"/>
                </a:solidFill>
                <a:latin typeface="微软雅黑" panose="020B0503020204020204" charset="-122"/>
              </a:defRPr>
            </a:pPr>
            <a:r>
              <a:rPr>
                <a:ea typeface="微软雅黑" panose="020B0503020204020204" charset="-122"/>
              </a:rPr>
              <a:t>1</a:t>
            </a:r>
            <a:endParaRPr>
              <a:ea typeface="微软雅黑" panose="020B0503020204020204" charset="-122"/>
            </a:endParaRPr>
          </a:p>
        </p:txBody>
      </p:sp>
      <p:cxnSp>
        <p:nvCxnSpPr>
          <p:cNvPr id="137" name="Connector 137"/>
          <p:cNvCxnSpPr/>
          <p:nvPr/>
        </p:nvCxnSpPr>
        <p:spPr>
          <a:xfrm>
            <a:off x="960120" y="4553712"/>
            <a:ext cx="2194560" cy="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cxnSp>
        <p:nvCxnSpPr>
          <p:cNvPr id="138" name="Connector 138"/>
          <p:cNvCxnSpPr/>
          <p:nvPr/>
        </p:nvCxnSpPr>
        <p:spPr>
          <a:xfrm>
            <a:off x="960120" y="2359152"/>
            <a:ext cx="0" cy="2194560"/>
          </a:xfrm>
          <a:prstGeom prst="line">
            <a:avLst/>
          </a:prstGeom>
          <a:ln w="10160">
            <a:solidFill>
              <a:srgbClr val="64758A"/>
            </a:solidFill>
          </a:ln>
        </p:spPr>
        <p:style>
          <a:lnRef idx="2">
            <a:schemeClr val="accent1"/>
          </a:lnRef>
          <a:fillRef idx="0">
            <a:schemeClr val="accent1"/>
          </a:fillRef>
          <a:effectRef idx="1">
            <a:schemeClr val="accent1"/>
          </a:effectRef>
          <a:fontRef idx="minor">
            <a:schemeClr val="tx1"/>
          </a:fontRef>
        </p:style>
      </p:cxnSp>
      <p:sp>
        <p:nvSpPr>
          <p:cNvPr id="139" name="editable_text"/>
          <p:cNvSpPr txBox="1"/>
          <p:nvPr/>
        </p:nvSpPr>
        <p:spPr>
          <a:xfrm>
            <a:off x="3063240" y="4809744"/>
            <a:ext cx="457200" cy="292608"/>
          </a:xfrm>
          <a:prstGeom prst="rect">
            <a:avLst/>
          </a:prstGeom>
          <a:noFill/>
        </p:spPr>
        <p:txBody>
          <a:bodyPr wrap="square" lIns="13716" tIns="0" rIns="13716" bIns="0">
            <a:spAutoFit/>
          </a:bodyPr>
          <a:lstStyle/>
          <a:p>
            <a:pPr>
              <a:spcAft>
                <a:spcPts val="400"/>
              </a:spcAft>
              <a:defRPr sz="1500" b="0">
                <a:solidFill>
                  <a:srgbClr val="142F50"/>
                </a:solidFill>
                <a:latin typeface="微软雅黑" panose="020B0503020204020204" charset="-122"/>
              </a:defRPr>
            </a:pPr>
            <a:r>
              <a:rPr>
                <a:ea typeface="微软雅黑" panose="020B0503020204020204" charset="-122"/>
              </a:rPr>
              <a:t>x₁</a:t>
            </a:r>
            <a:endParaRPr>
              <a:ea typeface="微软雅黑" panose="020B0503020204020204" charset="-122"/>
            </a:endParaRPr>
          </a:p>
        </p:txBody>
      </p:sp>
      <p:sp>
        <p:nvSpPr>
          <p:cNvPr id="140" name="editable_text"/>
          <p:cNvSpPr txBox="1"/>
          <p:nvPr/>
        </p:nvSpPr>
        <p:spPr>
          <a:xfrm>
            <a:off x="612648" y="2240280"/>
            <a:ext cx="457200" cy="292608"/>
          </a:xfrm>
          <a:prstGeom prst="rect">
            <a:avLst/>
          </a:prstGeom>
          <a:noFill/>
        </p:spPr>
        <p:txBody>
          <a:bodyPr wrap="square" lIns="13716" tIns="0" rIns="13716" bIns="0">
            <a:spAutoFit/>
          </a:bodyPr>
          <a:lstStyle/>
          <a:p>
            <a:pPr>
              <a:spcAft>
                <a:spcPts val="400"/>
              </a:spcAft>
              <a:defRPr sz="1500" b="0">
                <a:solidFill>
                  <a:srgbClr val="142F50"/>
                </a:solidFill>
                <a:latin typeface="微软雅黑" panose="020B0503020204020204" charset="-122"/>
              </a:defRPr>
            </a:pPr>
            <a:r>
              <a:rPr>
                <a:ea typeface="微软雅黑" panose="020B0503020204020204" charset="-122"/>
              </a:rPr>
              <a:t>x₂</a:t>
            </a:r>
            <a:endParaRPr>
              <a:ea typeface="微软雅黑" panose="020B0503020204020204" charset="-122"/>
            </a:endParaRPr>
          </a:p>
        </p:txBody>
      </p:sp>
      <p:sp>
        <p:nvSpPr>
          <p:cNvPr id="141" name="sample_class_-1"/>
          <p:cNvSpPr/>
          <p:nvPr/>
        </p:nvSpPr>
        <p:spPr>
          <a:xfrm>
            <a:off x="1229868" y="4091939"/>
            <a:ext cx="192024" cy="192024"/>
          </a:xfrm>
          <a:prstGeom prst="ellipse">
            <a:avLst/>
          </a:prstGeom>
          <a:solidFill>
            <a:srgbClr val="2878B8"/>
          </a:solidFill>
          <a:ln w="10160">
            <a:solidFill>
              <a:srgbClr val="FFFFFF"/>
            </a:solidFill>
          </a:ln>
        </p:spPr>
        <p:txBody>
          <a:bodyPr rtlCol="0" anchor="ctr"/>
          <a:lstStyle/>
          <a:p>
            <a:pPr algn="ctr"/>
          </a:p>
        </p:txBody>
      </p:sp>
      <p:sp>
        <p:nvSpPr>
          <p:cNvPr id="142" name="sample_class_1"/>
          <p:cNvSpPr/>
          <p:nvPr/>
        </p:nvSpPr>
        <p:spPr>
          <a:xfrm>
            <a:off x="1229868" y="2628900"/>
            <a:ext cx="192024" cy="192024"/>
          </a:xfrm>
          <a:prstGeom prst="ellipse">
            <a:avLst/>
          </a:prstGeom>
          <a:solidFill>
            <a:srgbClr val="E98726"/>
          </a:solidFill>
          <a:ln w="10160">
            <a:solidFill>
              <a:srgbClr val="FFFFFF"/>
            </a:solidFill>
          </a:ln>
        </p:spPr>
        <p:txBody>
          <a:bodyPr rtlCol="0" anchor="ctr"/>
          <a:lstStyle/>
          <a:p>
            <a:pPr algn="ctr"/>
          </a:p>
        </p:txBody>
      </p:sp>
      <p:sp>
        <p:nvSpPr>
          <p:cNvPr id="143" name="sample_class_1"/>
          <p:cNvSpPr/>
          <p:nvPr/>
        </p:nvSpPr>
        <p:spPr>
          <a:xfrm>
            <a:off x="2692908" y="4091939"/>
            <a:ext cx="192024" cy="192024"/>
          </a:xfrm>
          <a:prstGeom prst="ellipse">
            <a:avLst/>
          </a:prstGeom>
          <a:solidFill>
            <a:srgbClr val="E98726"/>
          </a:solidFill>
          <a:ln w="10160">
            <a:solidFill>
              <a:srgbClr val="FFFFFF"/>
            </a:solidFill>
          </a:ln>
        </p:spPr>
        <p:txBody>
          <a:bodyPr rtlCol="0" anchor="ctr"/>
          <a:lstStyle/>
          <a:p>
            <a:pPr algn="ctr"/>
          </a:p>
        </p:txBody>
      </p:sp>
      <p:sp>
        <p:nvSpPr>
          <p:cNvPr id="144" name="sample_class_-1"/>
          <p:cNvSpPr/>
          <p:nvPr/>
        </p:nvSpPr>
        <p:spPr>
          <a:xfrm>
            <a:off x="2692908" y="2628900"/>
            <a:ext cx="192024" cy="192024"/>
          </a:xfrm>
          <a:prstGeom prst="ellipse">
            <a:avLst/>
          </a:prstGeom>
          <a:solidFill>
            <a:srgbClr val="2878B8"/>
          </a:solidFill>
          <a:ln w="10160">
            <a:solidFill>
              <a:srgbClr val="FFFFFF"/>
            </a:solidFill>
          </a:ln>
        </p:spPr>
        <p:txBody>
          <a:bodyPr rtlCol="0" anchor="ctr"/>
          <a:lstStyle/>
          <a:p>
            <a:pPr algn="ctr"/>
          </a:p>
        </p:txBody>
      </p:sp>
      <p:sp>
        <p:nvSpPr>
          <p:cNvPr id="145" name="plane_x1_plus_x2_minus_2z_minus_0.5_equals_0"/>
          <p:cNvSpPr/>
          <p:nvPr/>
        </p:nvSpPr>
        <p:spPr>
          <a:xfrm>
            <a:off x="11174259" y="3613238"/>
            <a:ext cx="2279053" cy="788285"/>
          </a:xfrm>
          <a:custGeom>
            <a:avLst/>
            <a:gdLst/>
            <a:ahLst/>
            <a:cxnLst/>
            <a:rect l="l" t="t" r="r" b="b"/>
            <a:pathLst>
              <a:path w="2279053" h="788285">
                <a:moveTo>
                  <a:pt x="834191" y="788285"/>
                </a:moveTo>
                <a:lnTo>
                  <a:pt x="2279053" y="289712"/>
                </a:lnTo>
                <a:lnTo>
                  <a:pt x="1444862" y="0"/>
                </a:lnTo>
                <a:lnTo>
                  <a:pt x="0" y="498574"/>
                </a:lnTo>
                <a:close/>
              </a:path>
            </a:pathLst>
          </a:custGeom>
          <a:solidFill>
            <a:srgbClr val="C9E1F3">
              <a:alpha val="46000"/>
            </a:srgbClr>
          </a:solidFill>
          <a:ln w="11430">
            <a:solidFill>
              <a:srgbClr val="86ABC7"/>
            </a:solidFill>
          </a:ln>
        </p:spPr>
        <p:txBody>
          <a:bodyPr rtlCol="0" anchor="ctr"/>
          <a:lstStyle/>
          <a:p>
            <a:pPr algn="ctr"/>
          </a:p>
        </p:txBody>
      </p:sp>
      <p:cxnSp>
        <p:nvCxnSpPr>
          <p:cNvPr id="146" name="Connector 146"/>
          <p:cNvCxnSpPr/>
          <p:nvPr/>
        </p:nvCxnSpPr>
        <p:spPr>
          <a:xfrm>
            <a:off x="12059340" y="4009215"/>
            <a:ext cx="1565267" cy="309086"/>
          </a:xfrm>
          <a:prstGeom prst="line">
            <a:avLst/>
          </a:prstGeom>
          <a:ln w="12700">
            <a:solidFill>
              <a:srgbClr val="64758A"/>
            </a:solidFill>
          </a:ln>
        </p:spPr>
        <p:style>
          <a:lnRef idx="2">
            <a:schemeClr val="accent1"/>
          </a:lnRef>
          <a:fillRef idx="0">
            <a:schemeClr val="accent1"/>
          </a:fillRef>
          <a:effectRef idx="1">
            <a:schemeClr val="accent1"/>
          </a:effectRef>
          <a:fontRef idx="minor">
            <a:schemeClr val="tx1"/>
          </a:fontRef>
        </p:style>
      </p:cxnSp>
      <p:sp>
        <p:nvSpPr>
          <p:cNvPr id="147" name="editable_text"/>
          <p:cNvSpPr txBox="1"/>
          <p:nvPr/>
        </p:nvSpPr>
        <p:spPr>
          <a:xfrm>
            <a:off x="13770911" y="4501181"/>
            <a:ext cx="502920" cy="310896"/>
          </a:xfrm>
          <a:prstGeom prst="rect">
            <a:avLst/>
          </a:prstGeom>
          <a:noFill/>
        </p:spPr>
        <p:txBody>
          <a:bodyPr wrap="square" lIns="13716" tIns="0" rIns="13716" bIns="0">
            <a:spAutoFit/>
          </a:bodyPr>
          <a:lstStyle/>
          <a:p>
            <a:pPr>
              <a:spcAft>
                <a:spcPts val="400"/>
              </a:spcAft>
              <a:defRPr sz="1400" b="0">
                <a:solidFill>
                  <a:srgbClr val="142F50"/>
                </a:solidFill>
                <a:latin typeface="微软雅黑" panose="020B0503020204020204" charset="-122"/>
              </a:defRPr>
            </a:pPr>
            <a:r>
              <a:rPr>
                <a:ea typeface="微软雅黑" panose="020B0503020204020204" charset="-122"/>
              </a:rPr>
              <a:t>x₁</a:t>
            </a:r>
            <a:endParaRPr>
              <a:ea typeface="微软雅黑" panose="020B0503020204020204" charset="-122"/>
            </a:endParaRPr>
          </a:p>
        </p:txBody>
      </p:sp>
      <p:cxnSp>
        <p:nvCxnSpPr>
          <p:cNvPr id="148" name="Connector 148"/>
          <p:cNvCxnSpPr/>
          <p:nvPr/>
        </p:nvCxnSpPr>
        <p:spPr>
          <a:xfrm flipH="1">
            <a:off x="11155632" y="4009215"/>
            <a:ext cx="903708" cy="535353"/>
          </a:xfrm>
          <a:prstGeom prst="line">
            <a:avLst/>
          </a:prstGeom>
          <a:ln w="12700">
            <a:solidFill>
              <a:srgbClr val="64758A"/>
            </a:solidFill>
          </a:ln>
        </p:spPr>
        <p:style>
          <a:lnRef idx="2">
            <a:schemeClr val="accent1"/>
          </a:lnRef>
          <a:fillRef idx="0">
            <a:schemeClr val="accent1"/>
          </a:fillRef>
          <a:effectRef idx="1">
            <a:schemeClr val="accent1"/>
          </a:effectRef>
          <a:fontRef idx="minor">
            <a:schemeClr val="tx1"/>
          </a:fontRef>
        </p:style>
      </p:cxnSp>
      <p:sp>
        <p:nvSpPr>
          <p:cNvPr id="149" name="editable_text"/>
          <p:cNvSpPr txBox="1"/>
          <p:nvPr/>
        </p:nvSpPr>
        <p:spPr>
          <a:xfrm>
            <a:off x="10881312" y="4636007"/>
            <a:ext cx="502920" cy="310896"/>
          </a:xfrm>
          <a:prstGeom prst="rect">
            <a:avLst/>
          </a:prstGeom>
          <a:noFill/>
        </p:spPr>
        <p:txBody>
          <a:bodyPr wrap="square" lIns="13716" tIns="0" rIns="13716" bIns="0">
            <a:spAutoFit/>
          </a:bodyPr>
          <a:lstStyle/>
          <a:p>
            <a:pPr>
              <a:spcAft>
                <a:spcPts val="400"/>
              </a:spcAft>
              <a:defRPr sz="1400" b="0">
                <a:solidFill>
                  <a:srgbClr val="142F50"/>
                </a:solidFill>
                <a:latin typeface="微软雅黑" panose="020B0503020204020204" charset="-122"/>
              </a:defRPr>
            </a:pPr>
            <a:r>
              <a:rPr>
                <a:ea typeface="微软雅黑" panose="020B0503020204020204" charset="-122"/>
              </a:rPr>
              <a:t>x₂</a:t>
            </a:r>
            <a:endParaRPr>
              <a:ea typeface="微软雅黑" panose="020B0503020204020204" charset="-122"/>
            </a:endParaRPr>
          </a:p>
        </p:txBody>
      </p:sp>
      <p:cxnSp>
        <p:nvCxnSpPr>
          <p:cNvPr id="150" name="Connector 150"/>
          <p:cNvCxnSpPr/>
          <p:nvPr/>
        </p:nvCxnSpPr>
        <p:spPr>
          <a:xfrm flipV="1">
            <a:off x="12059340" y="2441448"/>
            <a:ext cx="0" cy="1567767"/>
          </a:xfrm>
          <a:prstGeom prst="line">
            <a:avLst/>
          </a:prstGeom>
          <a:ln w="12700">
            <a:solidFill>
              <a:srgbClr val="64758A"/>
            </a:solidFill>
          </a:ln>
        </p:spPr>
        <p:style>
          <a:lnRef idx="2">
            <a:schemeClr val="accent1"/>
          </a:lnRef>
          <a:fillRef idx="0">
            <a:schemeClr val="accent1"/>
          </a:fillRef>
          <a:effectRef idx="1">
            <a:schemeClr val="accent1"/>
          </a:effectRef>
          <a:fontRef idx="minor">
            <a:schemeClr val="tx1"/>
          </a:fontRef>
        </p:style>
      </p:cxnSp>
      <p:sp>
        <p:nvSpPr>
          <p:cNvPr id="151" name="editable_text"/>
          <p:cNvSpPr txBox="1"/>
          <p:nvPr/>
        </p:nvSpPr>
        <p:spPr>
          <a:xfrm>
            <a:off x="12169068" y="2459736"/>
            <a:ext cx="1508760" cy="310896"/>
          </a:xfrm>
          <a:prstGeom prst="rect">
            <a:avLst/>
          </a:prstGeom>
          <a:noFill/>
        </p:spPr>
        <p:txBody>
          <a:bodyPr wrap="square" lIns="13716" tIns="0" rIns="13716" bIns="0">
            <a:spAutoFit/>
          </a:bodyPr>
          <a:lstStyle/>
          <a:p>
            <a:pPr>
              <a:spcAft>
                <a:spcPts val="400"/>
              </a:spcAft>
              <a:defRPr sz="1400" b="0">
                <a:solidFill>
                  <a:srgbClr val="142F50"/>
                </a:solidFill>
                <a:latin typeface="微软雅黑" panose="020B0503020204020204" charset="-122"/>
              </a:defRPr>
            </a:pPr>
            <a:r>
              <a:rPr>
                <a:ea typeface="微软雅黑" panose="020B0503020204020204" charset="-122"/>
              </a:rPr>
              <a:t>z = x₁x₂</a:t>
            </a:r>
            <a:endParaRPr>
              <a:ea typeface="微软雅黑" panose="020B0503020204020204" charset="-122"/>
            </a:endParaRPr>
          </a:p>
        </p:txBody>
      </p:sp>
      <p:sp>
        <p:nvSpPr>
          <p:cNvPr id="152" name="sample_class_-1"/>
          <p:cNvSpPr/>
          <p:nvPr/>
        </p:nvSpPr>
        <p:spPr>
          <a:xfrm>
            <a:off x="11972472" y="3922347"/>
            <a:ext cx="173736" cy="173736"/>
          </a:xfrm>
          <a:prstGeom prst="ellipse">
            <a:avLst/>
          </a:prstGeom>
          <a:solidFill>
            <a:srgbClr val="2878B8"/>
          </a:solidFill>
          <a:ln w="10160">
            <a:solidFill>
              <a:srgbClr val="FFFFFF"/>
            </a:solidFill>
          </a:ln>
        </p:spPr>
        <p:txBody>
          <a:bodyPr rtlCol="0" anchor="ctr"/>
          <a:lstStyle/>
          <a:p>
            <a:pPr algn="ctr"/>
          </a:p>
        </p:txBody>
      </p:sp>
      <p:sp>
        <p:nvSpPr>
          <p:cNvPr id="153" name="sample_class_1"/>
          <p:cNvSpPr/>
          <p:nvPr/>
        </p:nvSpPr>
        <p:spPr>
          <a:xfrm>
            <a:off x="11277312" y="4334157"/>
            <a:ext cx="173736" cy="173736"/>
          </a:xfrm>
          <a:prstGeom prst="ellipse">
            <a:avLst/>
          </a:prstGeom>
          <a:solidFill>
            <a:srgbClr val="E98726"/>
          </a:solidFill>
          <a:ln w="10160">
            <a:solidFill>
              <a:srgbClr val="FFFFFF"/>
            </a:solidFill>
          </a:ln>
        </p:spPr>
        <p:txBody>
          <a:bodyPr rtlCol="0" anchor="ctr"/>
          <a:lstStyle/>
          <a:p>
            <a:pPr algn="ctr"/>
          </a:p>
        </p:txBody>
      </p:sp>
      <p:sp>
        <p:nvSpPr>
          <p:cNvPr id="154" name="sample_class_1"/>
          <p:cNvSpPr/>
          <p:nvPr/>
        </p:nvSpPr>
        <p:spPr>
          <a:xfrm>
            <a:off x="13176523" y="4160105"/>
            <a:ext cx="173736" cy="173736"/>
          </a:xfrm>
          <a:prstGeom prst="ellipse">
            <a:avLst/>
          </a:prstGeom>
          <a:solidFill>
            <a:srgbClr val="E98726"/>
          </a:solidFill>
          <a:ln w="10160">
            <a:solidFill>
              <a:srgbClr val="FFFFFF"/>
            </a:solidFill>
          </a:ln>
        </p:spPr>
        <p:txBody>
          <a:bodyPr rtlCol="0" anchor="ctr"/>
          <a:lstStyle/>
          <a:p>
            <a:pPr algn="ctr"/>
          </a:p>
        </p:txBody>
      </p:sp>
      <p:sp>
        <p:nvSpPr>
          <p:cNvPr id="155" name="sample_class_-1"/>
          <p:cNvSpPr/>
          <p:nvPr/>
        </p:nvSpPr>
        <p:spPr>
          <a:xfrm>
            <a:off x="12481364" y="3265443"/>
            <a:ext cx="173736" cy="173736"/>
          </a:xfrm>
          <a:prstGeom prst="ellipse">
            <a:avLst/>
          </a:prstGeom>
          <a:solidFill>
            <a:srgbClr val="2878B8"/>
          </a:solidFill>
          <a:ln w="10160">
            <a:solidFill>
              <a:srgbClr val="FFFFFF"/>
            </a:solidFill>
          </a:ln>
        </p:spPr>
        <p:txBody>
          <a:bodyPr rtlCol="0" anchor="ctr"/>
          <a:lstStyle/>
          <a:p>
            <a:pPr algn="ctr"/>
          </a:p>
        </p:txBody>
      </p:sp>
      <p:sp>
        <p:nvSpPr>
          <p:cNvPr id="156" name="editable_text"/>
          <p:cNvSpPr txBox="1"/>
          <p:nvPr/>
        </p:nvSpPr>
        <p:spPr>
          <a:xfrm>
            <a:off x="914400" y="5166360"/>
            <a:ext cx="3063240" cy="548640"/>
          </a:xfrm>
          <a:prstGeom prst="rect">
            <a:avLst/>
          </a:prstGeom>
          <a:noFill/>
        </p:spPr>
        <p:txBody>
          <a:bodyPr wrap="square" lIns="13716" tIns="0" rIns="13716" bIns="0">
            <a:spAutoFit/>
          </a:bodyPr>
          <a:lstStyle/>
          <a:p>
            <a:pPr>
              <a:spcAft>
                <a:spcPts val="400"/>
              </a:spcAft>
              <a:defRPr sz="1800" b="0">
                <a:solidFill>
                  <a:srgbClr val="243A50"/>
                </a:solidFill>
                <a:latin typeface="微软雅黑" panose="020B0503020204020204" charset="-122"/>
              </a:defRPr>
            </a:pPr>
            <a:r>
              <a:rPr>
                <a:ea typeface="微软雅黑" panose="020B0503020204020204" charset="-122"/>
              </a:rPr>
              <a:t>凸包相交</a:t>
            </a:r>
            <a:endParaRPr>
              <a:ea typeface="微软雅黑" panose="020B0503020204020204" charset="-122"/>
            </a:endParaRPr>
          </a:p>
          <a:p>
            <a:pPr>
              <a:spcAft>
                <a:spcPts val="400"/>
              </a:spcAft>
              <a:defRPr sz="1800" b="0">
                <a:solidFill>
                  <a:srgbClr val="243A50"/>
                </a:solidFill>
                <a:latin typeface="微软雅黑" panose="020B0503020204020204" charset="-122"/>
              </a:defRPr>
            </a:pPr>
            <a:r>
              <a:rPr>
                <a:ea typeface="微软雅黑" panose="020B0503020204020204" charset="-122"/>
              </a:rPr>
              <a:t>原空间线性不可分</a:t>
            </a:r>
            <a:endParaRPr>
              <a:ea typeface="微软雅黑" panose="020B0503020204020204" charset="-122"/>
            </a:endParaRPr>
          </a:p>
        </p:txBody>
      </p:sp>
      <p:sp>
        <p:nvSpPr>
          <p:cNvPr id="157" name="editable_text"/>
          <p:cNvSpPr txBox="1"/>
          <p:nvPr/>
        </p:nvSpPr>
        <p:spPr>
          <a:xfrm>
            <a:off x="4352544" y="5166360"/>
            <a:ext cx="3246120" cy="548640"/>
          </a:xfrm>
          <a:prstGeom prst="rect">
            <a:avLst/>
          </a:prstGeom>
          <a:noFill/>
        </p:spPr>
        <p:txBody>
          <a:bodyPr wrap="square" lIns="13716" tIns="0" rIns="13716" bIns="0">
            <a:spAutoFit/>
          </a:bodyPr>
          <a:lstStyle/>
          <a:p>
            <a:pPr>
              <a:spcAft>
                <a:spcPts val="400"/>
              </a:spcAft>
              <a:defRPr sz="1800" b="0">
                <a:solidFill>
                  <a:srgbClr val="243A50"/>
                </a:solidFill>
                <a:latin typeface="微软雅黑" panose="020B0503020204020204" charset="-122"/>
              </a:defRPr>
            </a:pPr>
            <a:r>
              <a:rPr>
                <a:ea typeface="微软雅黑" panose="020B0503020204020204" charset="-122"/>
              </a:rPr>
              <a:t>本次训练 f(x) ≈ 0</a:t>
            </a:r>
            <a:endParaRPr>
              <a:ea typeface="微软雅黑" panose="020B0503020204020204" charset="-122"/>
            </a:endParaRPr>
          </a:p>
          <a:p>
            <a:pPr>
              <a:spcAft>
                <a:spcPts val="400"/>
              </a:spcAft>
              <a:defRPr sz="1800" b="0">
                <a:solidFill>
                  <a:srgbClr val="243A50"/>
                </a:solidFill>
                <a:latin typeface="微软雅黑" panose="020B0503020204020204" charset="-122"/>
              </a:defRPr>
            </a:pPr>
            <a:r>
              <a:rPr>
                <a:ea typeface="微软雅黑" panose="020B0503020204020204" charset="-122"/>
              </a:rPr>
              <a:t>没有有效的唯一分界线</a:t>
            </a:r>
            <a:endParaRPr>
              <a:ea typeface="微软雅黑" panose="020B0503020204020204" charset="-122"/>
            </a:endParaRPr>
          </a:p>
        </p:txBody>
      </p:sp>
      <p:sp>
        <p:nvSpPr>
          <p:cNvPr id="158" name="editable_text"/>
          <p:cNvSpPr txBox="1"/>
          <p:nvPr/>
        </p:nvSpPr>
        <p:spPr>
          <a:xfrm>
            <a:off x="7836408" y="5166360"/>
            <a:ext cx="3200400" cy="548640"/>
          </a:xfrm>
          <a:prstGeom prst="rect">
            <a:avLst/>
          </a:prstGeom>
          <a:noFill/>
        </p:spPr>
        <p:txBody>
          <a:bodyPr wrap="square" lIns="13716" tIns="0" rIns="13716" bIns="0">
            <a:spAutoFit/>
          </a:bodyPr>
          <a:lstStyle/>
          <a:p>
            <a:pPr>
              <a:spcAft>
                <a:spcPts val="400"/>
              </a:spcAft>
              <a:defRPr sz="1800" b="0">
                <a:solidFill>
                  <a:srgbClr val="243A50"/>
                </a:solidFill>
                <a:latin typeface="微软雅黑" panose="020B0503020204020204" charset="-122"/>
              </a:defRPr>
            </a:pPr>
            <a:r>
              <a:rPr>
                <a:ea typeface="微软雅黑" panose="020B0503020204020204" charset="-122"/>
              </a:rPr>
              <a:t>隐式二次特征关系</a:t>
            </a:r>
            <a:endParaRPr>
              <a:ea typeface="微软雅黑" panose="020B0503020204020204" charset="-122"/>
            </a:endParaRPr>
          </a:p>
          <a:p>
            <a:pPr>
              <a:spcAft>
                <a:spcPts val="400"/>
              </a:spcAft>
              <a:defRPr sz="1800" b="0">
                <a:solidFill>
                  <a:srgbClr val="243A50"/>
                </a:solidFill>
                <a:latin typeface="微软雅黑" panose="020B0503020204020204" charset="-122"/>
              </a:defRPr>
            </a:pPr>
            <a:r>
              <a:rPr>
                <a:ea typeface="微软雅黑" panose="020B0503020204020204" charset="-122"/>
              </a:rPr>
              <a:t>四点均能正确分类</a:t>
            </a:r>
            <a:endParaRPr>
              <a:ea typeface="微软雅黑" panose="020B0503020204020204" charset="-122"/>
            </a:endParaRPr>
          </a:p>
        </p:txBody>
      </p:sp>
      <p:sp>
        <p:nvSpPr>
          <p:cNvPr id="159" name="editable_text"/>
          <p:cNvSpPr txBox="1"/>
          <p:nvPr/>
        </p:nvSpPr>
        <p:spPr>
          <a:xfrm>
            <a:off x="10991088" y="5166360"/>
            <a:ext cx="3246120" cy="548640"/>
          </a:xfrm>
          <a:prstGeom prst="rect">
            <a:avLst/>
          </a:prstGeom>
          <a:noFill/>
        </p:spPr>
        <p:txBody>
          <a:bodyPr wrap="square" lIns="13716" tIns="0" rIns="13716" bIns="0">
            <a:spAutoFit/>
          </a:bodyPr>
          <a:lstStyle/>
          <a:p>
            <a:pPr>
              <a:spcAft>
                <a:spcPts val="400"/>
              </a:spcAft>
              <a:defRPr sz="1800" b="0">
                <a:solidFill>
                  <a:srgbClr val="243A50"/>
                </a:solidFill>
                <a:latin typeface="微软雅黑" panose="020B0503020204020204" charset="-122"/>
              </a:defRPr>
            </a:pPr>
            <a:r>
              <a:rPr>
                <a:ea typeface="微软雅黑" panose="020B0503020204020204" charset="-122"/>
              </a:rPr>
              <a:t>三维人工映射</a:t>
            </a:r>
            <a:endParaRPr>
              <a:ea typeface="微软雅黑" panose="020B0503020204020204" charset="-122"/>
            </a:endParaRPr>
          </a:p>
          <a:p>
            <a:pPr>
              <a:spcAft>
                <a:spcPts val="400"/>
              </a:spcAft>
              <a:defRPr sz="1800" b="0">
                <a:solidFill>
                  <a:srgbClr val="243A50"/>
                </a:solidFill>
                <a:latin typeface="微软雅黑" panose="020B0503020204020204" charset="-122"/>
              </a:defRPr>
            </a:pPr>
            <a:r>
              <a:rPr>
                <a:ea typeface="微软雅黑" panose="020B0503020204020204" charset="-122"/>
              </a:rPr>
              <a:t>与六维二次核映射不同</a:t>
            </a:r>
            <a:endParaRPr>
              <a:ea typeface="微软雅黑" panose="020B0503020204020204" charset="-122"/>
            </a:endParaRPr>
          </a:p>
        </p:txBody>
      </p:sp>
      <p:graphicFrame>
        <p:nvGraphicFramePr>
          <p:cNvPr id="160" name="Table 160"/>
          <p:cNvGraphicFramePr>
            <a:graphicFrameLocks noGrp="1"/>
          </p:cNvGraphicFramePr>
          <p:nvPr/>
        </p:nvGraphicFramePr>
        <p:xfrm>
          <a:off x="777240" y="5907024"/>
          <a:ext cx="13075920" cy="1179576"/>
        </p:xfrm>
        <a:graphic>
          <a:graphicData uri="http://schemas.openxmlformats.org/drawingml/2006/table">
            <a:tbl>
              <a:tblPr firstRow="1" bandRow="1">
                <a:tableStyleId>{5C22544A-7EE6-4342-B048-85BDC9FD1C3A}</a:tableStyleId>
              </a:tblPr>
              <a:tblGrid>
                <a:gridCol w="5120640"/>
                <a:gridCol w="4663440"/>
                <a:gridCol w="3291840"/>
              </a:tblGrid>
              <a:tr h="393192">
                <a:tc>
                  <a:txBody>
                    <a:bodyPr/>
                    <a:lstStyle/>
                    <a:p>
                      <a:pPr>
                        <a:defRPr sz="1800" b="1">
                          <a:solidFill>
                            <a:srgbClr val="FFFFFF"/>
                          </a:solidFill>
                          <a:latin typeface="微软雅黑" panose="020B0503020204020204" charset="-122"/>
                        </a:defRPr>
                      </a:pPr>
                      <a:r>
                        <a:t>对比模型</a:t>
                      </a:r>
                    </a:p>
                  </a:txBody>
                  <a:tcPr marL="109728" marR="45720" marT="41148" marB="22860">
                    <a:solidFill>
                      <a:srgbClr val="142F50"/>
                    </a:solidFill>
                  </a:tcPr>
                </a:tc>
                <a:tc>
                  <a:txBody>
                    <a:bodyPr/>
                    <a:lstStyle/>
                    <a:p>
                      <a:pPr>
                        <a:defRPr sz="1800" b="1">
                          <a:solidFill>
                            <a:srgbClr val="FFFFFF"/>
                          </a:solidFill>
                          <a:latin typeface="微软雅黑" panose="020B0503020204020204" charset="-122"/>
                        </a:defRPr>
                      </a:pPr>
                      <a:r>
                        <a:t>核函数 K(x,z)</a:t>
                      </a:r>
                    </a:p>
                  </a:txBody>
                  <a:tcPr marL="109728" marR="45720" marT="41148" marB="22860">
                    <a:solidFill>
                      <a:srgbClr val="142F50"/>
                    </a:solidFill>
                  </a:tcPr>
                </a:tc>
                <a:tc>
                  <a:txBody>
                    <a:bodyPr/>
                    <a:lstStyle/>
                    <a:p>
                      <a:pPr>
                        <a:defRPr sz="1800" b="1">
                          <a:solidFill>
                            <a:srgbClr val="FFFFFF"/>
                          </a:solidFill>
                          <a:latin typeface="微软雅黑" panose="020B0503020204020204" charset="-122"/>
                        </a:defRPr>
                      </a:pPr>
                      <a:r>
                        <a:t>训练准确率</a:t>
                      </a:r>
                    </a:p>
                  </a:txBody>
                  <a:tcPr marL="109728" marR="45720" marT="41148" marB="22860">
                    <a:solidFill>
                      <a:srgbClr val="142F50"/>
                    </a:solidFill>
                  </a:tcPr>
                </a:tc>
              </a:tr>
              <a:tr h="393192">
                <a:tc>
                  <a:txBody>
                    <a:bodyPr/>
                    <a:lstStyle/>
                    <a:p>
                      <a:pPr>
                        <a:defRPr sz="1800" b="0">
                          <a:solidFill>
                            <a:srgbClr val="243A50"/>
                          </a:solidFill>
                          <a:latin typeface="微软雅黑" panose="020B0503020204020204" charset="-122"/>
                        </a:defRPr>
                      </a:pPr>
                      <a:r>
                        <a:t>线性核 SVM</a:t>
                      </a:r>
                    </a:p>
                  </a:txBody>
                  <a:tcPr marL="109728" marR="45720" marT="41148" marB="22860">
                    <a:solidFill>
                      <a:srgbClr val="F0F4F8"/>
                    </a:solidFill>
                  </a:tcPr>
                </a:tc>
                <a:tc>
                  <a:txBody>
                    <a:bodyPr/>
                    <a:lstStyle/>
                    <a:p>
                      <a:pPr>
                        <a:defRPr sz="1800" b="0">
                          <a:solidFill>
                            <a:srgbClr val="243A50"/>
                          </a:solidFill>
                          <a:latin typeface="微软雅黑" panose="020B0503020204020204" charset="-122"/>
                        </a:defRPr>
                      </a:pPr>
                      <a:r>
                        <a:t>xᵀz</a:t>
                      </a:r>
                    </a:p>
                  </a:txBody>
                  <a:tcPr marL="109728" marR="45720" marT="41148" marB="22860">
                    <a:solidFill>
                      <a:srgbClr val="F0F4F8"/>
                    </a:solidFill>
                  </a:tcPr>
                </a:tc>
                <a:tc>
                  <a:txBody>
                    <a:bodyPr/>
                    <a:lstStyle/>
                    <a:p>
                      <a:pPr>
                        <a:defRPr sz="1800" b="0">
                          <a:solidFill>
                            <a:srgbClr val="243A50"/>
                          </a:solidFill>
                          <a:latin typeface="微软雅黑" panose="020B0503020204020204" charset="-122"/>
                        </a:defRPr>
                      </a:pPr>
                      <a:r>
                        <a:t>50%</a:t>
                      </a:r>
                    </a:p>
                  </a:txBody>
                  <a:tcPr marL="109728" marR="45720" marT="41148" marB="22860">
                    <a:solidFill>
                      <a:srgbClr val="F0F4F8"/>
                    </a:solidFill>
                  </a:tcPr>
                </a:tc>
              </a:tr>
              <a:tr h="393192">
                <a:tc>
                  <a:txBody>
                    <a:bodyPr/>
                    <a:lstStyle/>
                    <a:p>
                      <a:pPr>
                        <a:defRPr sz="1800" b="0">
                          <a:solidFill>
                            <a:srgbClr val="243A50"/>
                          </a:solidFill>
                          <a:latin typeface="微软雅黑" panose="020B0503020204020204" charset="-122"/>
                        </a:defRPr>
                      </a:pPr>
                      <a:r>
                        <a:t>二次多项式核 SVM</a:t>
                      </a:r>
                    </a:p>
                  </a:txBody>
                  <a:tcPr marL="109728" marR="45720" marT="41148" marB="22860">
                    <a:solidFill>
                      <a:srgbClr val="FFFFFF"/>
                    </a:solidFill>
                  </a:tcPr>
                </a:tc>
                <a:tc>
                  <a:txBody>
                    <a:bodyPr/>
                    <a:lstStyle/>
                    <a:p>
                      <a:pPr>
                        <a:defRPr sz="1800" b="0">
                          <a:solidFill>
                            <a:srgbClr val="243A50"/>
                          </a:solidFill>
                          <a:latin typeface="微软雅黑" panose="020B0503020204020204" charset="-122"/>
                        </a:defRPr>
                      </a:pPr>
                      <a:r>
                        <a:t>(1 + xᵀz)²</a:t>
                      </a:r>
                    </a:p>
                  </a:txBody>
                  <a:tcPr marL="109728" marR="45720" marT="41148" marB="22860">
                    <a:solidFill>
                      <a:srgbClr val="FFFFFF"/>
                    </a:solidFill>
                  </a:tcPr>
                </a:tc>
                <a:tc>
                  <a:txBody>
                    <a:bodyPr/>
                    <a:lstStyle/>
                    <a:p>
                      <a:pPr>
                        <a:defRPr sz="1800" b="0">
                          <a:solidFill>
                            <a:srgbClr val="243A50"/>
                          </a:solidFill>
                          <a:latin typeface="微软雅黑" panose="020B0503020204020204" charset="-122"/>
                        </a:defRPr>
                      </a:pPr>
                      <a:r>
                        <a:t>100%</a:t>
                      </a:r>
                    </a:p>
                  </a:txBody>
                  <a:tcPr marL="109728" marR="45720" marT="41148" marB="22860">
                    <a:solidFill>
                      <a:srgbClr val="FFFFFF"/>
                    </a:solidFill>
                  </a:tcPr>
                </a:tc>
              </a:tr>
            </a:tbl>
          </a:graphicData>
        </a:graphic>
      </p:graphicFrame>
      <p:sp>
        <p:nvSpPr>
          <p:cNvPr id="161" name="editable_text"/>
          <p:cNvSpPr txBox="1"/>
          <p:nvPr/>
        </p:nvSpPr>
        <p:spPr>
          <a:xfrm>
            <a:off x="795528" y="7168896"/>
            <a:ext cx="13075920" cy="347472"/>
          </a:xfrm>
          <a:prstGeom prst="rect">
            <a:avLst/>
          </a:prstGeom>
          <a:noFill/>
        </p:spPr>
        <p:txBody>
          <a:bodyPr wrap="square" lIns="13716" tIns="0" rIns="13716" bIns="0">
            <a:spAutoFit/>
          </a:bodyPr>
          <a:lstStyle/>
          <a:p>
            <a:pPr>
              <a:spcAft>
                <a:spcPts val="400"/>
              </a:spcAft>
              <a:defRPr sz="1800" b="1">
                <a:solidFill>
                  <a:srgbClr val="142F50"/>
                </a:solidFill>
                <a:latin typeface="微软雅黑" panose="020B0503020204020204" charset="-122"/>
              </a:defRPr>
            </a:pPr>
            <a:r>
              <a:rPr>
                <a:ea typeface="微软雅黑" panose="020B0503020204020204" charset="-122"/>
              </a:rPr>
              <a:t>二次核正确拟合 XOR 四点，线性核无法完全分离；训练准确率不代表未知数据的泛化性能。</a:t>
            </a:r>
            <a:endParaRPr>
              <a:ea typeface="微软雅黑" panose="020B0503020204020204" charset="-122"/>
            </a:endParaRPr>
          </a:p>
        </p:txBody>
      </p:sp>
      <p:sp>
        <p:nvSpPr>
          <p:cNvPr id="162" name="editable_text"/>
          <p:cNvSpPr txBox="1"/>
          <p:nvPr/>
        </p:nvSpPr>
        <p:spPr>
          <a:xfrm>
            <a:off x="612775" y="7708138"/>
            <a:ext cx="13441680" cy="168910"/>
          </a:xfrm>
          <a:prstGeom prst="rect">
            <a:avLst/>
          </a:prstGeom>
          <a:noFill/>
        </p:spPr>
        <p:txBody>
          <a:bodyPr wrap="square" lIns="13716" tIns="0" rIns="13716" bIns="0">
            <a:spAutoFit/>
          </a:bodyPr>
          <a:lstStyle/>
          <a:p>
            <a:pPr>
              <a:spcAft>
                <a:spcPts val="400"/>
              </a:spcAft>
              <a:defRPr sz="1100" b="0">
                <a:solidFill>
                  <a:srgbClr val="64758A"/>
                </a:solidFill>
                <a:latin typeface="微软雅黑" panose="020B0503020204020204" charset="-122"/>
              </a:defRPr>
            </a:pPr>
            <a:r>
              <a:rPr>
                <a:ea typeface="微软雅黑" panose="020B0503020204020204" charset="-122"/>
              </a:rPr>
              <a:t> 外圈为支持向量；零函数区域留白，其余底色与模型预测一致；右图为独立三维教学映射。</a:t>
            </a:r>
            <a:endParaRPr>
              <a:ea typeface="微软雅黑" panose="020B0503020204020204" charset="-122"/>
            </a:endParaRP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真实任务如何选择核与参数？</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实践与评价</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训练/测试先划分；StandardScaler 放进 Pipeline</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仅在训练折拟合标准化，交叉验证选择 C、γ、d</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最后测试集评估一次；分类不平衡时看 F1 等指标</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线性核作基线；RBF 作候选；验证结果决定选择</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实践与评价</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22 / 25</a:t>
            </a:r>
            <a:endParaRPr>
              <a:ea typeface="微软雅黑" panose="020B0503020204020204" charset="-122"/>
            </a:endParaRP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五小节，一条完整逻辑链</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总结</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① XOR → 改变特征表示；不是只增大 C</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② 核技巧 → 直接计算特征内积；③ 合法性 → 对称半正定</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④ 多项式 → 有限阶交互；⑤ RBF → 局部相似、无限维</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原空间非线性边界 ← 特征空间线性 SVM ← 核内积</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总结</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23 / 25</a:t>
            </a:r>
            <a:endParaRPr>
              <a:ea typeface="微软雅黑" panose="020B0503020204020204" charset="-122"/>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2"/>
          <p:cNvSpPr txBox="1"/>
          <p:nvPr/>
        </p:nvSpPr>
        <p:spPr>
          <a:xfrm>
            <a:off x="548640" y="301752"/>
            <a:ext cx="13533120" cy="548640"/>
          </a:xfrm>
          <a:prstGeom prst="rect">
            <a:avLst/>
          </a:prstGeom>
          <a:noFill/>
        </p:spPr>
        <p:txBody>
          <a:bodyPr wrap="square" lIns="13716" tIns="0" rIns="13716" bIns="0">
            <a:spAutoFit/>
          </a:bodyPr>
          <a:lstStyle/>
          <a:p>
            <a:pPr>
              <a:spcAft>
                <a:spcPts val="500"/>
              </a:spcAft>
              <a:defRPr sz="3000" b="1">
                <a:solidFill>
                  <a:srgbClr val="142F50"/>
                </a:solidFill>
                <a:latin typeface="微软雅黑" panose="020B0503020204020204" charset="-122"/>
              </a:defRPr>
            </a:pPr>
            <a:r>
              <a:rPr>
                <a:ea typeface="微软雅黑" panose="020B0503020204020204" charset="-122"/>
              </a:rPr>
              <a:t>离开教室前：回答这五个问题</a:t>
            </a:r>
            <a:endParaRPr>
              <a:ea typeface="微软雅黑" panose="020B0503020204020204" charset="-122"/>
            </a:endParaRPr>
          </a:p>
        </p:txBody>
      </p:sp>
      <p:sp>
        <p:nvSpPr>
          <p:cNvPr id="5" name="TextBox 6"/>
          <p:cNvSpPr txBox="1"/>
          <p:nvPr/>
        </p:nvSpPr>
        <p:spPr>
          <a:xfrm>
            <a:off x="731520" y="1261872"/>
            <a:ext cx="13075920" cy="411480"/>
          </a:xfrm>
          <a:prstGeom prst="rect">
            <a:avLst/>
          </a:prstGeom>
          <a:noFill/>
        </p:spPr>
        <p:txBody>
          <a:bodyPr wrap="square" lIns="18288" tIns="0">
            <a:spAutoFit/>
          </a:bodyPr>
          <a:lstStyle/>
          <a:p>
            <a:pPr>
              <a:spcAft>
                <a:spcPts val="1200"/>
              </a:spcAft>
              <a:defRPr sz="2000" b="1">
                <a:solidFill>
                  <a:srgbClr val="142F50"/>
                </a:solidFill>
                <a:latin typeface="Noto Sans CJK SC"/>
              </a:defRPr>
            </a:pPr>
            <a:r>
              <a:rPr>
                <a:ea typeface="Noto Sans CJK SC"/>
              </a:rPr>
              <a:t>课堂检测</a:t>
            </a:r>
          </a:p>
        </p:txBody>
      </p:sp>
      <p:sp>
        <p:nvSpPr>
          <p:cNvPr id="6" name="TextBox 7"/>
          <p:cNvSpPr txBox="1"/>
          <p:nvPr/>
        </p:nvSpPr>
        <p:spPr>
          <a:xfrm>
            <a:off x="777240" y="1938528"/>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01</a:t>
            </a:r>
          </a:p>
        </p:txBody>
      </p:sp>
      <p:sp>
        <p:nvSpPr>
          <p:cNvPr id="7" name="TextBox 8"/>
          <p:cNvSpPr txBox="1"/>
          <p:nvPr/>
        </p:nvSpPr>
        <p:spPr>
          <a:xfrm>
            <a:off x="1508760" y="1938528"/>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1. 三维 XOR 映射与六维二次核映射相同吗？</a:t>
            </a:r>
          </a:p>
        </p:txBody>
      </p:sp>
      <p:sp>
        <p:nvSpPr>
          <p:cNvPr id="8" name="TextBox 9"/>
          <p:cNvSpPr txBox="1"/>
          <p:nvPr/>
        </p:nvSpPr>
        <p:spPr>
          <a:xfrm>
            <a:off x="777240" y="3108960"/>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02</a:t>
            </a:r>
          </a:p>
        </p:txBody>
      </p:sp>
      <p:sp>
        <p:nvSpPr>
          <p:cNvPr id="9" name="TextBox 10"/>
          <p:cNvSpPr txBox="1"/>
          <p:nvPr/>
        </p:nvSpPr>
        <p:spPr>
          <a:xfrm>
            <a:off x="1508760" y="3108960"/>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2. 对称且元素非负，就一定是合法核吗？</a:t>
            </a:r>
          </a:p>
        </p:txBody>
      </p:sp>
      <p:sp>
        <p:nvSpPr>
          <p:cNvPr id="10" name="TextBox 11"/>
          <p:cNvSpPr txBox="1"/>
          <p:nvPr/>
        </p:nvSpPr>
        <p:spPr>
          <a:xfrm>
            <a:off x="777240" y="4279392"/>
            <a:ext cx="640080" cy="502920"/>
          </a:xfrm>
          <a:prstGeom prst="rect">
            <a:avLst/>
          </a:prstGeom>
          <a:noFill/>
        </p:spPr>
        <p:txBody>
          <a:bodyPr wrap="square" lIns="18288" tIns="0">
            <a:spAutoFit/>
          </a:bodyPr>
          <a:lstStyle/>
          <a:p>
            <a:pPr>
              <a:spcAft>
                <a:spcPts val="1200"/>
              </a:spcAft>
              <a:defRPr sz="2300" b="1">
                <a:solidFill>
                  <a:srgbClr val="142F50"/>
                </a:solidFill>
                <a:latin typeface="Noto Sans CJK SC"/>
              </a:defRPr>
            </a:pPr>
            <a:r>
              <a:rPr>
                <a:ea typeface="Noto Sans CJK SC"/>
              </a:rPr>
              <a:t>03</a:t>
            </a:r>
          </a:p>
        </p:txBody>
      </p:sp>
      <p:sp>
        <p:nvSpPr>
          <p:cNvPr id="11" name="TextBox 12"/>
          <p:cNvSpPr txBox="1"/>
          <p:nvPr/>
        </p:nvSpPr>
        <p:spPr>
          <a:xfrm>
            <a:off x="1508760" y="4279392"/>
            <a:ext cx="12070080" cy="1005840"/>
          </a:xfrm>
          <a:prstGeom prst="rect">
            <a:avLst/>
          </a:prstGeom>
          <a:noFill/>
        </p:spPr>
        <p:txBody>
          <a:bodyPr wrap="square" lIns="18288" tIns="0">
            <a:spAutoFit/>
          </a:bodyPr>
          <a:lstStyle/>
          <a:p>
            <a:pPr>
              <a:spcAft>
                <a:spcPts val="1200"/>
              </a:spcAft>
              <a:defRPr sz="2500" b="0">
                <a:solidFill>
                  <a:srgbClr val="243A50"/>
                </a:solidFill>
                <a:latin typeface="Noto Sans CJK SC"/>
              </a:defRPr>
            </a:pPr>
            <a:r>
              <a:rPr>
                <a:ea typeface="Noto Sans CJK SC"/>
              </a:rPr>
              <a:t>3. RBF 中 γ 越大越宽吗？4. 核值是概率吗？5. 训练全对就能泛化吗？</a:t>
            </a:r>
          </a:p>
        </p:txBody>
      </p:sp>
      <p:sp>
        <p:nvSpPr>
          <p:cNvPr id="12" name="TextBox 13"/>
          <p:cNvSpPr txBox="1"/>
          <p:nvPr/>
        </p:nvSpPr>
        <p:spPr>
          <a:xfrm>
            <a:off x="777240" y="6492240"/>
            <a:ext cx="12984480" cy="914400"/>
          </a:xfrm>
          <a:prstGeom prst="rect">
            <a:avLst/>
          </a:prstGeom>
          <a:noFill/>
        </p:spPr>
        <p:txBody>
          <a:bodyPr wrap="square" lIns="18288" tIns="0">
            <a:spAutoFit/>
          </a:bodyPr>
          <a:lstStyle/>
          <a:p>
            <a:pPr>
              <a:spcAft>
                <a:spcPts val="1200"/>
              </a:spcAft>
              <a:defRPr sz="2400" b="1">
                <a:solidFill>
                  <a:srgbClr val="142F50"/>
                </a:solidFill>
                <a:latin typeface="Noto Sans CJK SC"/>
              </a:defRPr>
            </a:pPr>
            <a:r>
              <a:rPr>
                <a:ea typeface="Noto Sans CJK SC"/>
              </a:rPr>
              <a:t>答案：都不能这样判断；请给出原因。</a:t>
            </a:r>
          </a:p>
        </p:txBody>
      </p:sp>
      <p:sp>
        <p:nvSpPr>
          <p:cNvPr id="13" name="TextBox 14"/>
          <p:cNvSpPr txBox="1"/>
          <p:nvPr/>
        </p:nvSpPr>
        <p:spPr>
          <a:xfrm>
            <a:off x="594360" y="7708392"/>
            <a:ext cx="12618720" cy="228600"/>
          </a:xfrm>
          <a:prstGeom prst="rect">
            <a:avLst/>
          </a:prstGeom>
          <a:noFill/>
        </p:spPr>
        <p:txBody>
          <a:bodyPr wrap="square" lIns="18288" tIns="0">
            <a:spAutoFit/>
          </a:bodyPr>
          <a:lstStyle/>
          <a:p>
            <a:pPr>
              <a:spcAft>
                <a:spcPts val="1200"/>
              </a:spcAft>
              <a:defRPr sz="1200" b="0">
                <a:solidFill>
                  <a:srgbClr val="60758A"/>
                </a:solidFill>
                <a:latin typeface="Noto Sans CJK SC"/>
              </a:defRPr>
            </a:pPr>
            <a:r>
              <a:rPr>
                <a:ea typeface="Noto Sans CJK SC"/>
              </a:rPr>
              <a:t>7.3 非线性 SVM  ·  课堂检测</a:t>
            </a:r>
          </a:p>
        </p:txBody>
      </p:sp>
      <p:sp>
        <p:nvSpPr>
          <p:cNvPr id="14" name="TextBox 7"/>
          <p:cNvSpPr txBox="1"/>
          <p:nvPr/>
        </p:nvSpPr>
        <p:spPr>
          <a:xfrm>
            <a:off x="13487400" y="7708392"/>
            <a:ext cx="594360" cy="320040"/>
          </a:xfrm>
          <a:prstGeom prst="rect">
            <a:avLst/>
          </a:prstGeom>
          <a:noFill/>
        </p:spPr>
        <p:txBody>
          <a:bodyPr wrap="square" lIns="13716" tIns="0" rIns="13716" bIns="0">
            <a:spAutoFit/>
          </a:bodyPr>
          <a:lstStyle/>
          <a:p>
            <a:pPr>
              <a:spcAft>
                <a:spcPts val="500"/>
              </a:spcAft>
              <a:defRPr sz="1200" b="0">
                <a:solidFill>
                  <a:srgbClr val="64758A"/>
                </a:solidFill>
                <a:latin typeface="微软雅黑" panose="020B0503020204020204" charset="-122"/>
              </a:defRPr>
            </a:pPr>
            <a:r>
              <a:rPr>
                <a:ea typeface="微软雅黑" panose="020B0503020204020204" charset="-122"/>
              </a:rPr>
              <a:t>24 / 25</a:t>
            </a:r>
            <a:endParaRPr>
              <a:ea typeface="微软雅黑" panose="020B0503020204020204" charset="-122"/>
            </a:endParaRP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301752"/>
            <a:ext cx="13441680" cy="548640"/>
          </a:xfrm>
          <a:prstGeom prst="rect">
            <a:avLst/>
          </a:prstGeom>
          <a:noFill/>
        </p:spPr>
        <p:txBody>
          <a:bodyPr wrap="square">
            <a:spAutoFit/>
          </a:bodyPr>
          <a:lstStyle/>
          <a:p>
            <a:pPr>
              <a:spcAft>
                <a:spcPts val="1400"/>
              </a:spcAft>
              <a:defRPr sz="3000" b="1">
                <a:solidFill>
                  <a:srgbClr val="142F50"/>
                </a:solidFill>
                <a:latin typeface="Noto Sans CJK SC"/>
              </a:defRPr>
            </a:pPr>
            <a:r>
              <a:rPr>
                <a:ea typeface="Noto Sans CJK SC"/>
              </a:rPr>
              <a:t>高级统计学</a:t>
            </a:r>
          </a:p>
        </p:txBody>
      </p:sp>
      <p:sp>
        <p:nvSpPr>
          <p:cNvPr id="5" name="TextBox 4"/>
          <p:cNvSpPr txBox="1"/>
          <p:nvPr/>
        </p:nvSpPr>
        <p:spPr>
          <a:xfrm>
            <a:off x="914400" y="1828800"/>
            <a:ext cx="12801600" cy="914400"/>
          </a:xfrm>
          <a:prstGeom prst="rect">
            <a:avLst/>
          </a:prstGeom>
          <a:noFill/>
        </p:spPr>
        <p:txBody>
          <a:bodyPr wrap="square">
            <a:spAutoFit/>
          </a:bodyPr>
          <a:lstStyle/>
          <a:p>
            <a:pPr>
              <a:spcAft>
                <a:spcPts val="1400"/>
              </a:spcAft>
              <a:defRPr sz="4300" b="1">
                <a:solidFill>
                  <a:srgbClr val="142F50"/>
                </a:solidFill>
                <a:latin typeface="Noto Sans CJK SC"/>
              </a:defRPr>
            </a:pPr>
            <a:r>
              <a:rPr>
                <a:ea typeface="Noto Sans CJK SC"/>
              </a:rPr>
              <a:t>7.3  非线性支持向量机</a:t>
            </a:r>
          </a:p>
        </p:txBody>
      </p:sp>
      <p:sp>
        <p:nvSpPr>
          <p:cNvPr id="6" name="TextBox 5"/>
          <p:cNvSpPr txBox="1"/>
          <p:nvPr/>
        </p:nvSpPr>
        <p:spPr>
          <a:xfrm>
            <a:off x="914400" y="3063240"/>
            <a:ext cx="12801600" cy="731520"/>
          </a:xfrm>
          <a:prstGeom prst="rect">
            <a:avLst/>
          </a:prstGeom>
          <a:noFill/>
        </p:spPr>
        <p:txBody>
          <a:bodyPr wrap="square">
            <a:spAutoFit/>
          </a:bodyPr>
          <a:lstStyle/>
          <a:p>
            <a:pPr>
              <a:spcAft>
                <a:spcPts val="1400"/>
              </a:spcAft>
              <a:defRPr sz="3400" b="1">
                <a:solidFill>
                  <a:srgbClr val="142F50"/>
                </a:solidFill>
                <a:latin typeface="Noto Sans CJK SC"/>
              </a:defRPr>
            </a:pPr>
            <a:r>
              <a:rPr>
                <a:ea typeface="Noto Sans CJK SC"/>
              </a:rPr>
              <a:t>核函数与核技巧</a:t>
            </a:r>
          </a:p>
        </p:txBody>
      </p:sp>
      <p:sp>
        <p:nvSpPr>
          <p:cNvPr id="7" name="TextBox 6"/>
          <p:cNvSpPr txBox="1"/>
          <p:nvPr/>
        </p:nvSpPr>
        <p:spPr>
          <a:xfrm>
            <a:off x="914400" y="4206240"/>
            <a:ext cx="12801600" cy="731520"/>
          </a:xfrm>
          <a:prstGeom prst="rect">
            <a:avLst/>
          </a:prstGeom>
          <a:noFill/>
        </p:spPr>
        <p:txBody>
          <a:bodyPr wrap="square">
            <a:spAutoFit/>
          </a:bodyPr>
          <a:lstStyle/>
          <a:p>
            <a:pPr>
              <a:spcAft>
                <a:spcPts val="1400"/>
              </a:spcAft>
              <a:defRPr sz="2500" b="0">
                <a:solidFill>
                  <a:srgbClr val="243A50"/>
                </a:solidFill>
                <a:latin typeface="Noto Sans CJK SC"/>
              </a:defRPr>
            </a:pPr>
            <a:r>
              <a:rPr>
                <a:ea typeface="Noto Sans CJK SC"/>
              </a:rPr>
              <a:t>从 XOR 出发，理解高维表示、合法核与分类决策</a:t>
            </a:r>
          </a:p>
        </p:txBody>
      </p:sp>
      <p:sp>
        <p:nvSpPr>
          <p:cNvPr id="8" name="TextBox 7"/>
          <p:cNvSpPr txBox="1"/>
          <p:nvPr/>
        </p:nvSpPr>
        <p:spPr>
          <a:xfrm>
            <a:off x="914400" y="5669280"/>
            <a:ext cx="12801600" cy="1005840"/>
          </a:xfrm>
          <a:prstGeom prst="rect">
            <a:avLst/>
          </a:prstGeom>
          <a:noFill/>
        </p:spPr>
        <p:txBody>
          <a:bodyPr wrap="square">
            <a:spAutoFit/>
          </a:bodyPr>
          <a:lstStyle/>
          <a:p>
            <a:pPr>
              <a:spcAft>
                <a:spcPts val="1400"/>
              </a:spcAft>
              <a:defRPr sz="2200" b="0">
                <a:solidFill>
                  <a:srgbClr val="243A50"/>
                </a:solidFill>
                <a:latin typeface="Noto Sans CJK SC"/>
              </a:defRPr>
            </a:pPr>
            <a:r>
              <a:rPr>
                <a:ea typeface="Noto Sans CJK SC"/>
              </a:rPr>
              <a:t>XOR 与升维  /  核技巧  /  半正定条件</a:t>
            </a:r>
          </a:p>
          <a:p>
            <a:pPr>
              <a:spcAft>
                <a:spcPts val="1400"/>
              </a:spcAft>
              <a:defRPr sz="2200" b="0">
                <a:solidFill>
                  <a:srgbClr val="243A50"/>
                </a:solidFill>
                <a:latin typeface="Noto Sans CJK SC"/>
              </a:defRPr>
            </a:pPr>
            <a:r>
              <a:rPr>
                <a:ea typeface="Noto Sans CJK SC"/>
              </a:rPr>
              <a:t>多项式核  /  高斯 RBF 核</a:t>
            </a:r>
          </a:p>
        </p:txBody>
      </p:sp>
      <p:sp>
        <p:nvSpPr>
          <p:cNvPr id="9" name="TextBox 8"/>
          <p:cNvSpPr txBox="1"/>
          <p:nvPr/>
        </p:nvSpPr>
        <p:spPr>
          <a:xfrm>
            <a:off x="13487400" y="7708392"/>
            <a:ext cx="777240" cy="320040"/>
          </a:xfrm>
          <a:prstGeom prst="rect">
            <a:avLst/>
          </a:prstGeom>
          <a:noFill/>
        </p:spPr>
        <p:txBody>
          <a:bodyPr wrap="square">
            <a:spAutoFit/>
          </a:bodyPr>
          <a:lstStyle/>
          <a:p>
            <a:pPr>
              <a:spcAft>
                <a:spcPts val="1400"/>
              </a:spcAft>
              <a:defRPr sz="1200" b="0">
                <a:solidFill>
                  <a:srgbClr val="60758A"/>
                </a:solidFill>
                <a:latin typeface="Noto Sans CJK SC"/>
              </a:defRPr>
            </a:pPr>
            <a:r>
              <a:rPr>
                <a:ea typeface="Noto Sans CJK SC"/>
              </a:rPr>
              <a:t>01 / 25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301752"/>
            <a:ext cx="13441680" cy="548640"/>
          </a:xfrm>
          <a:prstGeom prst="rect">
            <a:avLst/>
          </a:prstGeom>
          <a:noFill/>
        </p:spPr>
        <p:txBody>
          <a:bodyPr wrap="square">
            <a:spAutoFit/>
          </a:bodyPr>
          <a:lstStyle/>
          <a:p>
            <a:pPr>
              <a:spcAft>
                <a:spcPts val="1400"/>
              </a:spcAft>
              <a:defRPr sz="3000" b="1">
                <a:solidFill>
                  <a:srgbClr val="142F50"/>
                </a:solidFill>
                <a:latin typeface="Noto Sans CJK SC"/>
              </a:defRPr>
            </a:pPr>
            <a:r>
              <a:rPr>
                <a:ea typeface="Noto Sans CJK SC"/>
              </a:rPr>
              <a:t>课程目录｜五个小节与应用闭环</a:t>
            </a:r>
          </a:p>
        </p:txBody>
      </p:sp>
      <p:sp>
        <p:nvSpPr>
          <p:cNvPr id="5" name="TextBox 4"/>
          <p:cNvSpPr txBox="1"/>
          <p:nvPr/>
        </p:nvSpPr>
        <p:spPr>
          <a:xfrm>
            <a:off x="777240" y="1417320"/>
            <a:ext cx="1005840" cy="548640"/>
          </a:xfrm>
          <a:prstGeom prst="rect">
            <a:avLst/>
          </a:prstGeom>
          <a:noFill/>
        </p:spPr>
        <p:txBody>
          <a:bodyPr wrap="square">
            <a:spAutoFit/>
          </a:bodyPr>
          <a:lstStyle/>
          <a:p>
            <a:pPr>
              <a:spcAft>
                <a:spcPts val="1400"/>
              </a:spcAft>
              <a:defRPr sz="2400" b="1">
                <a:solidFill>
                  <a:srgbClr val="142F50"/>
                </a:solidFill>
                <a:latin typeface="Noto Sans CJK SC"/>
              </a:defRPr>
            </a:pPr>
            <a:r>
              <a:rPr>
                <a:ea typeface="Noto Sans CJK SC"/>
              </a:rPr>
              <a:t>01</a:t>
            </a:r>
          </a:p>
        </p:txBody>
      </p:sp>
      <p:sp>
        <p:nvSpPr>
          <p:cNvPr id="6" name="TextBox 5"/>
          <p:cNvSpPr txBox="1"/>
          <p:nvPr/>
        </p:nvSpPr>
        <p:spPr>
          <a:xfrm>
            <a:off x="1920240" y="1417320"/>
            <a:ext cx="9144000" cy="548640"/>
          </a:xfrm>
          <a:prstGeom prst="rect">
            <a:avLst/>
          </a:prstGeom>
          <a:noFill/>
        </p:spPr>
        <p:txBody>
          <a:bodyPr wrap="square">
            <a:spAutoFit/>
          </a:bodyPr>
          <a:lstStyle/>
          <a:p>
            <a:pPr>
              <a:spcAft>
                <a:spcPts val="1400"/>
              </a:spcAft>
              <a:defRPr sz="2500" b="0">
                <a:solidFill>
                  <a:srgbClr val="243A50"/>
                </a:solidFill>
                <a:latin typeface="Noto Sans CJK SC"/>
              </a:defRPr>
            </a:pPr>
            <a:r>
              <a:rPr>
                <a:ea typeface="Noto Sans CJK SC"/>
              </a:rPr>
              <a:t>XOR 与升维</a:t>
            </a:r>
          </a:p>
        </p:txBody>
      </p:sp>
      <p:sp>
        <p:nvSpPr>
          <p:cNvPr id="7" name="TextBox 6"/>
          <p:cNvSpPr txBox="1"/>
          <p:nvPr/>
        </p:nvSpPr>
        <p:spPr>
          <a:xfrm>
            <a:off x="11247120" y="1417320"/>
            <a:ext cx="2743200" cy="548640"/>
          </a:xfrm>
          <a:prstGeom prst="rect">
            <a:avLst/>
          </a:prstGeom>
          <a:noFill/>
        </p:spPr>
        <p:txBody>
          <a:bodyPr wrap="square">
            <a:spAutoFit/>
          </a:bodyPr>
          <a:lstStyle/>
          <a:p>
            <a:pPr>
              <a:spcAft>
                <a:spcPts val="1400"/>
              </a:spcAft>
              <a:defRPr sz="2200" b="0">
                <a:solidFill>
                  <a:srgbClr val="243A50"/>
                </a:solidFill>
                <a:latin typeface="Noto Sans CJK SC"/>
              </a:defRPr>
            </a:pPr>
            <a:r>
              <a:rPr>
                <a:ea typeface="Noto Sans CJK SC"/>
              </a:rPr>
              <a:t>第 4–6 页</a:t>
            </a:r>
          </a:p>
        </p:txBody>
      </p:sp>
      <p:sp>
        <p:nvSpPr>
          <p:cNvPr id="8" name="TextBox 7"/>
          <p:cNvSpPr txBox="1"/>
          <p:nvPr/>
        </p:nvSpPr>
        <p:spPr>
          <a:xfrm>
            <a:off x="777240" y="2176272"/>
            <a:ext cx="1005840" cy="548640"/>
          </a:xfrm>
          <a:prstGeom prst="rect">
            <a:avLst/>
          </a:prstGeom>
          <a:noFill/>
        </p:spPr>
        <p:txBody>
          <a:bodyPr wrap="square">
            <a:spAutoFit/>
          </a:bodyPr>
          <a:lstStyle/>
          <a:p>
            <a:pPr>
              <a:spcAft>
                <a:spcPts val="1400"/>
              </a:spcAft>
              <a:defRPr sz="2400" b="1">
                <a:solidFill>
                  <a:srgbClr val="142F50"/>
                </a:solidFill>
                <a:latin typeface="Noto Sans CJK SC"/>
              </a:defRPr>
            </a:pPr>
            <a:r>
              <a:rPr>
                <a:ea typeface="Noto Sans CJK SC"/>
              </a:rPr>
              <a:t>02</a:t>
            </a:r>
          </a:p>
        </p:txBody>
      </p:sp>
      <p:sp>
        <p:nvSpPr>
          <p:cNvPr id="9" name="TextBox 8"/>
          <p:cNvSpPr txBox="1"/>
          <p:nvPr/>
        </p:nvSpPr>
        <p:spPr>
          <a:xfrm>
            <a:off x="1920240" y="2176272"/>
            <a:ext cx="9144000" cy="548640"/>
          </a:xfrm>
          <a:prstGeom prst="rect">
            <a:avLst/>
          </a:prstGeom>
          <a:noFill/>
        </p:spPr>
        <p:txBody>
          <a:bodyPr wrap="square">
            <a:spAutoFit/>
          </a:bodyPr>
          <a:lstStyle/>
          <a:p>
            <a:pPr>
              <a:spcAft>
                <a:spcPts val="1400"/>
              </a:spcAft>
              <a:defRPr sz="2500" b="0">
                <a:solidFill>
                  <a:srgbClr val="243A50"/>
                </a:solidFill>
                <a:latin typeface="Noto Sans CJK SC"/>
              </a:defRPr>
            </a:pPr>
            <a:r>
              <a:rPr>
                <a:ea typeface="Noto Sans CJK SC"/>
              </a:rPr>
              <a:t>核函数与核技巧</a:t>
            </a:r>
          </a:p>
        </p:txBody>
      </p:sp>
      <p:sp>
        <p:nvSpPr>
          <p:cNvPr id="10" name="TextBox 9"/>
          <p:cNvSpPr txBox="1"/>
          <p:nvPr/>
        </p:nvSpPr>
        <p:spPr>
          <a:xfrm>
            <a:off x="11247120" y="2176272"/>
            <a:ext cx="2743200" cy="548640"/>
          </a:xfrm>
          <a:prstGeom prst="rect">
            <a:avLst/>
          </a:prstGeom>
          <a:noFill/>
        </p:spPr>
        <p:txBody>
          <a:bodyPr wrap="square">
            <a:spAutoFit/>
          </a:bodyPr>
          <a:lstStyle/>
          <a:p>
            <a:pPr>
              <a:spcAft>
                <a:spcPts val="1400"/>
              </a:spcAft>
              <a:defRPr sz="2200" b="0">
                <a:solidFill>
                  <a:srgbClr val="243A50"/>
                </a:solidFill>
                <a:latin typeface="Noto Sans CJK SC"/>
              </a:defRPr>
            </a:pPr>
            <a:r>
              <a:rPr>
                <a:ea typeface="Noto Sans CJK SC"/>
              </a:rPr>
              <a:t>第 7–10 页</a:t>
            </a:r>
          </a:p>
        </p:txBody>
      </p:sp>
      <p:sp>
        <p:nvSpPr>
          <p:cNvPr id="11" name="TextBox 10"/>
          <p:cNvSpPr txBox="1"/>
          <p:nvPr/>
        </p:nvSpPr>
        <p:spPr>
          <a:xfrm>
            <a:off x="777240" y="2935224"/>
            <a:ext cx="1005840" cy="548640"/>
          </a:xfrm>
          <a:prstGeom prst="rect">
            <a:avLst/>
          </a:prstGeom>
          <a:noFill/>
        </p:spPr>
        <p:txBody>
          <a:bodyPr wrap="square">
            <a:spAutoFit/>
          </a:bodyPr>
          <a:lstStyle/>
          <a:p>
            <a:pPr>
              <a:spcAft>
                <a:spcPts val="1400"/>
              </a:spcAft>
              <a:defRPr sz="2400" b="1">
                <a:solidFill>
                  <a:srgbClr val="142F50"/>
                </a:solidFill>
                <a:latin typeface="Noto Sans CJK SC"/>
              </a:defRPr>
            </a:pPr>
            <a:r>
              <a:rPr>
                <a:ea typeface="Noto Sans CJK SC"/>
              </a:rPr>
              <a:t>03</a:t>
            </a:r>
          </a:p>
        </p:txBody>
      </p:sp>
      <p:sp>
        <p:nvSpPr>
          <p:cNvPr id="12" name="TextBox 11"/>
          <p:cNvSpPr txBox="1"/>
          <p:nvPr/>
        </p:nvSpPr>
        <p:spPr>
          <a:xfrm>
            <a:off x="1920240" y="2935224"/>
            <a:ext cx="9144000" cy="548640"/>
          </a:xfrm>
          <a:prstGeom prst="rect">
            <a:avLst/>
          </a:prstGeom>
          <a:noFill/>
        </p:spPr>
        <p:txBody>
          <a:bodyPr wrap="square">
            <a:spAutoFit/>
          </a:bodyPr>
          <a:lstStyle/>
          <a:p>
            <a:pPr>
              <a:spcAft>
                <a:spcPts val="1400"/>
              </a:spcAft>
              <a:defRPr sz="2500" b="0">
                <a:solidFill>
                  <a:srgbClr val="243A50"/>
                </a:solidFill>
                <a:latin typeface="Noto Sans CJK SC"/>
              </a:defRPr>
            </a:pPr>
            <a:r>
              <a:rPr>
                <a:ea typeface="Noto Sans CJK SC"/>
              </a:rPr>
              <a:t>Mercer 与半正定性</a:t>
            </a:r>
          </a:p>
        </p:txBody>
      </p:sp>
      <p:sp>
        <p:nvSpPr>
          <p:cNvPr id="13" name="TextBox 12"/>
          <p:cNvSpPr txBox="1"/>
          <p:nvPr/>
        </p:nvSpPr>
        <p:spPr>
          <a:xfrm>
            <a:off x="11247120" y="2935224"/>
            <a:ext cx="2743200" cy="548640"/>
          </a:xfrm>
          <a:prstGeom prst="rect">
            <a:avLst/>
          </a:prstGeom>
          <a:noFill/>
        </p:spPr>
        <p:txBody>
          <a:bodyPr wrap="square">
            <a:spAutoFit/>
          </a:bodyPr>
          <a:lstStyle/>
          <a:p>
            <a:pPr>
              <a:spcAft>
                <a:spcPts val="1400"/>
              </a:spcAft>
              <a:defRPr sz="2200" b="0">
                <a:solidFill>
                  <a:srgbClr val="243A50"/>
                </a:solidFill>
                <a:latin typeface="Noto Sans CJK SC"/>
              </a:defRPr>
            </a:pPr>
            <a:r>
              <a:rPr>
                <a:ea typeface="Noto Sans CJK SC"/>
              </a:rPr>
              <a:t>第 11–13 页</a:t>
            </a:r>
          </a:p>
        </p:txBody>
      </p:sp>
      <p:sp>
        <p:nvSpPr>
          <p:cNvPr id="14" name="TextBox 13"/>
          <p:cNvSpPr txBox="1"/>
          <p:nvPr/>
        </p:nvSpPr>
        <p:spPr>
          <a:xfrm>
            <a:off x="777240" y="3694176"/>
            <a:ext cx="1005840" cy="548640"/>
          </a:xfrm>
          <a:prstGeom prst="rect">
            <a:avLst/>
          </a:prstGeom>
          <a:noFill/>
        </p:spPr>
        <p:txBody>
          <a:bodyPr wrap="square">
            <a:spAutoFit/>
          </a:bodyPr>
          <a:lstStyle/>
          <a:p>
            <a:pPr>
              <a:spcAft>
                <a:spcPts val="1400"/>
              </a:spcAft>
              <a:defRPr sz="2400" b="1">
                <a:solidFill>
                  <a:srgbClr val="142F50"/>
                </a:solidFill>
                <a:latin typeface="Noto Sans CJK SC"/>
              </a:defRPr>
            </a:pPr>
            <a:r>
              <a:rPr>
                <a:ea typeface="Noto Sans CJK SC"/>
              </a:rPr>
              <a:t>04</a:t>
            </a:r>
          </a:p>
        </p:txBody>
      </p:sp>
      <p:sp>
        <p:nvSpPr>
          <p:cNvPr id="15" name="TextBox 14"/>
          <p:cNvSpPr txBox="1"/>
          <p:nvPr/>
        </p:nvSpPr>
        <p:spPr>
          <a:xfrm>
            <a:off x="1920240" y="3694176"/>
            <a:ext cx="9144000" cy="548640"/>
          </a:xfrm>
          <a:prstGeom prst="rect">
            <a:avLst/>
          </a:prstGeom>
          <a:noFill/>
        </p:spPr>
        <p:txBody>
          <a:bodyPr wrap="square">
            <a:spAutoFit/>
          </a:bodyPr>
          <a:lstStyle/>
          <a:p>
            <a:pPr>
              <a:spcAft>
                <a:spcPts val="1400"/>
              </a:spcAft>
              <a:defRPr sz="2500" b="0">
                <a:solidFill>
                  <a:srgbClr val="243A50"/>
                </a:solidFill>
                <a:latin typeface="Noto Sans CJK SC"/>
              </a:defRPr>
            </a:pPr>
            <a:r>
              <a:rPr>
                <a:ea typeface="Noto Sans CJK SC"/>
              </a:rPr>
              <a:t>多项式核</a:t>
            </a:r>
          </a:p>
        </p:txBody>
      </p:sp>
      <p:sp>
        <p:nvSpPr>
          <p:cNvPr id="16" name="TextBox 15"/>
          <p:cNvSpPr txBox="1"/>
          <p:nvPr/>
        </p:nvSpPr>
        <p:spPr>
          <a:xfrm>
            <a:off x="11247120" y="3694176"/>
            <a:ext cx="2743200" cy="548640"/>
          </a:xfrm>
          <a:prstGeom prst="rect">
            <a:avLst/>
          </a:prstGeom>
          <a:noFill/>
        </p:spPr>
        <p:txBody>
          <a:bodyPr wrap="square">
            <a:spAutoFit/>
          </a:bodyPr>
          <a:lstStyle/>
          <a:p>
            <a:pPr>
              <a:spcAft>
                <a:spcPts val="1400"/>
              </a:spcAft>
              <a:defRPr sz="2200" b="0">
                <a:solidFill>
                  <a:srgbClr val="243A50"/>
                </a:solidFill>
                <a:latin typeface="Noto Sans CJK SC"/>
              </a:defRPr>
            </a:pPr>
            <a:r>
              <a:rPr>
                <a:ea typeface="Noto Sans CJK SC"/>
              </a:rPr>
              <a:t>第 14–15 页</a:t>
            </a:r>
          </a:p>
        </p:txBody>
      </p:sp>
      <p:sp>
        <p:nvSpPr>
          <p:cNvPr id="17" name="TextBox 16"/>
          <p:cNvSpPr txBox="1"/>
          <p:nvPr/>
        </p:nvSpPr>
        <p:spPr>
          <a:xfrm>
            <a:off x="777240" y="4453128"/>
            <a:ext cx="1005840" cy="548640"/>
          </a:xfrm>
          <a:prstGeom prst="rect">
            <a:avLst/>
          </a:prstGeom>
          <a:noFill/>
        </p:spPr>
        <p:txBody>
          <a:bodyPr wrap="square">
            <a:spAutoFit/>
          </a:bodyPr>
          <a:lstStyle/>
          <a:p>
            <a:pPr>
              <a:spcAft>
                <a:spcPts val="1400"/>
              </a:spcAft>
              <a:defRPr sz="2400" b="1">
                <a:solidFill>
                  <a:srgbClr val="142F50"/>
                </a:solidFill>
                <a:latin typeface="Noto Sans CJK SC"/>
              </a:defRPr>
            </a:pPr>
            <a:r>
              <a:rPr>
                <a:ea typeface="Noto Sans CJK SC"/>
              </a:rPr>
              <a:t>05</a:t>
            </a:r>
          </a:p>
        </p:txBody>
      </p:sp>
      <p:sp>
        <p:nvSpPr>
          <p:cNvPr id="18" name="TextBox 17"/>
          <p:cNvSpPr txBox="1"/>
          <p:nvPr/>
        </p:nvSpPr>
        <p:spPr>
          <a:xfrm>
            <a:off x="1920240" y="4453128"/>
            <a:ext cx="9144000" cy="548640"/>
          </a:xfrm>
          <a:prstGeom prst="rect">
            <a:avLst/>
          </a:prstGeom>
          <a:noFill/>
        </p:spPr>
        <p:txBody>
          <a:bodyPr wrap="square">
            <a:spAutoFit/>
          </a:bodyPr>
          <a:lstStyle/>
          <a:p>
            <a:pPr>
              <a:spcAft>
                <a:spcPts val="1400"/>
              </a:spcAft>
              <a:defRPr sz="2500" b="0">
                <a:solidFill>
                  <a:srgbClr val="243A50"/>
                </a:solidFill>
                <a:latin typeface="Noto Sans CJK SC"/>
              </a:defRPr>
            </a:pPr>
            <a:r>
              <a:rPr>
                <a:ea typeface="Noto Sans CJK SC"/>
              </a:rPr>
              <a:t>高斯 RBF 核</a:t>
            </a:r>
          </a:p>
        </p:txBody>
      </p:sp>
      <p:sp>
        <p:nvSpPr>
          <p:cNvPr id="19" name="TextBox 18"/>
          <p:cNvSpPr txBox="1"/>
          <p:nvPr/>
        </p:nvSpPr>
        <p:spPr>
          <a:xfrm>
            <a:off x="11247120" y="4453128"/>
            <a:ext cx="2743200" cy="548640"/>
          </a:xfrm>
          <a:prstGeom prst="rect">
            <a:avLst/>
          </a:prstGeom>
          <a:noFill/>
        </p:spPr>
        <p:txBody>
          <a:bodyPr wrap="square">
            <a:spAutoFit/>
          </a:bodyPr>
          <a:lstStyle/>
          <a:p>
            <a:pPr>
              <a:spcAft>
                <a:spcPts val="1400"/>
              </a:spcAft>
              <a:defRPr sz="2200" b="0">
                <a:solidFill>
                  <a:srgbClr val="243A50"/>
                </a:solidFill>
                <a:latin typeface="Noto Sans CJK SC"/>
              </a:defRPr>
            </a:pPr>
            <a:r>
              <a:rPr>
                <a:ea typeface="Noto Sans CJK SC"/>
              </a:rPr>
              <a:t>第 16–18 页</a:t>
            </a:r>
          </a:p>
        </p:txBody>
      </p:sp>
      <p:sp>
        <p:nvSpPr>
          <p:cNvPr id="20" name="TextBox 19"/>
          <p:cNvSpPr txBox="1"/>
          <p:nvPr/>
        </p:nvSpPr>
        <p:spPr>
          <a:xfrm>
            <a:off x="777240" y="5212079"/>
            <a:ext cx="1005840" cy="548640"/>
          </a:xfrm>
          <a:prstGeom prst="rect">
            <a:avLst/>
          </a:prstGeom>
          <a:noFill/>
        </p:spPr>
        <p:txBody>
          <a:bodyPr wrap="square">
            <a:spAutoFit/>
          </a:bodyPr>
          <a:lstStyle/>
          <a:p>
            <a:pPr>
              <a:spcAft>
                <a:spcPts val="1400"/>
              </a:spcAft>
              <a:defRPr sz="2400" b="1">
                <a:solidFill>
                  <a:srgbClr val="142F50"/>
                </a:solidFill>
                <a:latin typeface="Noto Sans CJK SC"/>
              </a:defRPr>
            </a:pPr>
            <a:r>
              <a:rPr>
                <a:ea typeface="Noto Sans CJK SC"/>
              </a:rPr>
              <a:t>应用</a:t>
            </a:r>
          </a:p>
        </p:txBody>
      </p:sp>
      <p:sp>
        <p:nvSpPr>
          <p:cNvPr id="21" name="TextBox 20"/>
          <p:cNvSpPr txBox="1"/>
          <p:nvPr/>
        </p:nvSpPr>
        <p:spPr>
          <a:xfrm>
            <a:off x="1920240" y="5212079"/>
            <a:ext cx="9144000" cy="548640"/>
          </a:xfrm>
          <a:prstGeom prst="rect">
            <a:avLst/>
          </a:prstGeom>
          <a:noFill/>
        </p:spPr>
        <p:txBody>
          <a:bodyPr wrap="square">
            <a:spAutoFit/>
          </a:bodyPr>
          <a:lstStyle/>
          <a:p>
            <a:pPr>
              <a:spcAft>
                <a:spcPts val="1400"/>
              </a:spcAft>
              <a:defRPr sz="2500" b="0">
                <a:solidFill>
                  <a:srgbClr val="243A50"/>
                </a:solidFill>
                <a:latin typeface="Noto Sans CJK SC"/>
              </a:defRPr>
            </a:pPr>
            <a:r>
              <a:rPr>
                <a:ea typeface="Noto Sans CJK SC"/>
              </a:rPr>
              <a:t>训练、预测与模型选择</a:t>
            </a:r>
          </a:p>
        </p:txBody>
      </p:sp>
      <p:sp>
        <p:nvSpPr>
          <p:cNvPr id="22" name="TextBox 21"/>
          <p:cNvSpPr txBox="1"/>
          <p:nvPr/>
        </p:nvSpPr>
        <p:spPr>
          <a:xfrm>
            <a:off x="11247120" y="5212079"/>
            <a:ext cx="2743200" cy="548640"/>
          </a:xfrm>
          <a:prstGeom prst="rect">
            <a:avLst/>
          </a:prstGeom>
          <a:noFill/>
        </p:spPr>
        <p:txBody>
          <a:bodyPr wrap="square">
            <a:spAutoFit/>
          </a:bodyPr>
          <a:lstStyle/>
          <a:p>
            <a:pPr>
              <a:spcAft>
                <a:spcPts val="1400"/>
              </a:spcAft>
              <a:defRPr sz="2200" b="0">
                <a:solidFill>
                  <a:srgbClr val="243A50"/>
                </a:solidFill>
                <a:latin typeface="Noto Sans CJK SC"/>
              </a:defRPr>
            </a:pPr>
            <a:r>
              <a:rPr>
                <a:ea typeface="Noto Sans CJK SC"/>
              </a:rPr>
              <a:t>第 19–22 页</a:t>
            </a:r>
          </a:p>
        </p:txBody>
      </p:sp>
      <p:sp>
        <p:nvSpPr>
          <p:cNvPr id="23" name="TextBox 22"/>
          <p:cNvSpPr txBox="1"/>
          <p:nvPr/>
        </p:nvSpPr>
        <p:spPr>
          <a:xfrm>
            <a:off x="777240" y="5971031"/>
            <a:ext cx="1005840" cy="548640"/>
          </a:xfrm>
          <a:prstGeom prst="rect">
            <a:avLst/>
          </a:prstGeom>
          <a:noFill/>
        </p:spPr>
        <p:txBody>
          <a:bodyPr wrap="square">
            <a:spAutoFit/>
          </a:bodyPr>
          <a:lstStyle/>
          <a:p>
            <a:pPr>
              <a:spcAft>
                <a:spcPts val="1400"/>
              </a:spcAft>
              <a:defRPr sz="2400" b="1">
                <a:solidFill>
                  <a:srgbClr val="142F50"/>
                </a:solidFill>
                <a:latin typeface="Noto Sans CJK SC"/>
              </a:defRPr>
            </a:pPr>
            <a:r>
              <a:rPr>
                <a:ea typeface="Noto Sans CJK SC"/>
              </a:rPr>
              <a:t>回顾</a:t>
            </a:r>
          </a:p>
        </p:txBody>
      </p:sp>
      <p:sp>
        <p:nvSpPr>
          <p:cNvPr id="24" name="TextBox 23"/>
          <p:cNvSpPr txBox="1"/>
          <p:nvPr/>
        </p:nvSpPr>
        <p:spPr>
          <a:xfrm>
            <a:off x="1920240" y="5971031"/>
            <a:ext cx="9144000" cy="548640"/>
          </a:xfrm>
          <a:prstGeom prst="rect">
            <a:avLst/>
          </a:prstGeom>
          <a:noFill/>
        </p:spPr>
        <p:txBody>
          <a:bodyPr wrap="square">
            <a:spAutoFit/>
          </a:bodyPr>
          <a:lstStyle/>
          <a:p>
            <a:pPr>
              <a:spcAft>
                <a:spcPts val="1400"/>
              </a:spcAft>
              <a:defRPr sz="2500" b="0">
                <a:solidFill>
                  <a:srgbClr val="243A50"/>
                </a:solidFill>
                <a:latin typeface="Noto Sans CJK SC"/>
              </a:defRPr>
            </a:pPr>
            <a:r>
              <a:rPr>
                <a:ea typeface="Noto Sans CJK SC"/>
              </a:rPr>
              <a:t>逻辑链、课堂检测与小结</a:t>
            </a:r>
          </a:p>
        </p:txBody>
      </p:sp>
      <p:sp>
        <p:nvSpPr>
          <p:cNvPr id="25" name="TextBox 24"/>
          <p:cNvSpPr txBox="1"/>
          <p:nvPr/>
        </p:nvSpPr>
        <p:spPr>
          <a:xfrm>
            <a:off x="11247120" y="5971031"/>
            <a:ext cx="2743200" cy="548640"/>
          </a:xfrm>
          <a:prstGeom prst="rect">
            <a:avLst/>
          </a:prstGeom>
          <a:noFill/>
        </p:spPr>
        <p:txBody>
          <a:bodyPr wrap="square">
            <a:spAutoFit/>
          </a:bodyPr>
          <a:lstStyle/>
          <a:p>
            <a:pPr>
              <a:spcAft>
                <a:spcPts val="1400"/>
              </a:spcAft>
              <a:defRPr sz="2200" b="0">
                <a:solidFill>
                  <a:srgbClr val="243A50"/>
                </a:solidFill>
                <a:latin typeface="Noto Sans CJK SC"/>
              </a:defRPr>
            </a:pPr>
            <a:r>
              <a:rPr>
                <a:ea typeface="Noto Sans CJK SC"/>
              </a:rPr>
              <a:t>第 23–25 页</a:t>
            </a:r>
          </a:p>
        </p:txBody>
      </p:sp>
      <p:sp>
        <p:nvSpPr>
          <p:cNvPr id="26" name="TextBox 25"/>
          <p:cNvSpPr txBox="1"/>
          <p:nvPr/>
        </p:nvSpPr>
        <p:spPr>
          <a:xfrm>
            <a:off x="13487400" y="7708392"/>
            <a:ext cx="777240" cy="320040"/>
          </a:xfrm>
          <a:prstGeom prst="rect">
            <a:avLst/>
          </a:prstGeom>
          <a:noFill/>
        </p:spPr>
        <p:txBody>
          <a:bodyPr wrap="square">
            <a:spAutoFit/>
          </a:bodyPr>
          <a:lstStyle/>
          <a:p>
            <a:pPr>
              <a:spcAft>
                <a:spcPts val="1400"/>
              </a:spcAft>
              <a:defRPr sz="1200" b="0">
                <a:solidFill>
                  <a:srgbClr val="60758A"/>
                </a:solidFill>
                <a:latin typeface="Noto Sans CJK SC"/>
              </a:defRPr>
            </a:pPr>
            <a:r>
              <a:rPr>
                <a:ea typeface="Noto Sans CJK SC"/>
              </a:rPr>
              <a:t>02 / 25</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4630400" cy="128016"/>
          </a:xfrm>
          <a:prstGeom prst="rect">
            <a:avLst/>
          </a:prstGeom>
          <a:solidFill>
            <a:srgbClr val="142F50"/>
          </a:solidFill>
          <a:ln>
            <a:noFill/>
          </a:ln>
        </p:spPr>
        <p:txBody>
          <a:bodyPr rtlCol="0" anchor="ctr"/>
          <a:lstStyle/>
          <a:p>
            <a:pPr algn="ctr"/>
          </a:p>
        </p:txBody>
      </p:sp>
      <p:cxnSp>
        <p:nvCxnSpPr>
          <p:cNvPr id="3" name="Connector 5"/>
          <p:cNvCxnSpPr/>
          <p:nvPr/>
        </p:nvCxnSpPr>
        <p:spPr>
          <a:xfrm>
            <a:off x="548640" y="987552"/>
            <a:ext cx="13533120" cy="0"/>
          </a:xfrm>
          <a:prstGeom prst="line">
            <a:avLst/>
          </a:prstGeom>
          <a:ln w="12700">
            <a:solidFill>
              <a:srgbClr val="DFE7EF"/>
            </a:solidFill>
          </a:ln>
        </p:spPr>
        <p:style>
          <a:lnRef idx="2">
            <a:schemeClr val="accent1"/>
          </a:lnRef>
          <a:fillRef idx="0">
            <a:schemeClr val="accent1"/>
          </a:fillRef>
          <a:effectRef idx="1">
            <a:schemeClr val="accent1"/>
          </a:effectRef>
          <a:fontRef idx="minor">
            <a:schemeClr val="tx1"/>
          </a:fontRef>
        </p:style>
      </p:cxnSp>
      <p:sp>
        <p:nvSpPr>
          <p:cNvPr id="4" name="TextBox 3"/>
          <p:cNvSpPr txBox="1"/>
          <p:nvPr/>
        </p:nvSpPr>
        <p:spPr>
          <a:xfrm>
            <a:off x="594360" y="301752"/>
            <a:ext cx="13441680" cy="548640"/>
          </a:xfrm>
          <a:prstGeom prst="rect">
            <a:avLst/>
          </a:prstGeom>
          <a:noFill/>
        </p:spPr>
        <p:txBody>
          <a:bodyPr wrap="square">
            <a:spAutoFit/>
          </a:bodyPr>
          <a:lstStyle/>
          <a:p>
            <a:pPr>
              <a:spcAft>
                <a:spcPts val="1400"/>
              </a:spcAft>
              <a:defRPr sz="3000" b="1">
                <a:solidFill>
                  <a:srgbClr val="142F50"/>
                </a:solidFill>
                <a:latin typeface="Noto Sans CJK SC"/>
              </a:defRPr>
            </a:pPr>
            <a:r>
              <a:rPr>
                <a:ea typeface="Noto Sans CJK SC"/>
              </a:rPr>
              <a:t>本课小结｜把五个小节串成一个方法</a:t>
            </a:r>
          </a:p>
        </p:txBody>
      </p:sp>
      <p:sp>
        <p:nvSpPr>
          <p:cNvPr id="5" name="TextBox 4"/>
          <p:cNvSpPr txBox="1"/>
          <p:nvPr/>
        </p:nvSpPr>
        <p:spPr>
          <a:xfrm>
            <a:off x="777240" y="1508760"/>
            <a:ext cx="1280160" cy="594360"/>
          </a:xfrm>
          <a:prstGeom prst="rect">
            <a:avLst/>
          </a:prstGeom>
          <a:noFill/>
        </p:spPr>
        <p:txBody>
          <a:bodyPr wrap="square">
            <a:spAutoFit/>
          </a:bodyPr>
          <a:lstStyle/>
          <a:p>
            <a:pPr>
              <a:spcAft>
                <a:spcPts val="1400"/>
              </a:spcAft>
              <a:defRPr sz="2500" b="1">
                <a:solidFill>
                  <a:srgbClr val="142F50"/>
                </a:solidFill>
                <a:latin typeface="Noto Sans CJK SC"/>
              </a:defRPr>
            </a:pPr>
            <a:r>
              <a:rPr>
                <a:ea typeface="Noto Sans CJK SC"/>
              </a:rPr>
              <a:t>问题</a:t>
            </a:r>
          </a:p>
        </p:txBody>
      </p:sp>
      <p:sp>
        <p:nvSpPr>
          <p:cNvPr id="6" name="TextBox 5"/>
          <p:cNvSpPr txBox="1"/>
          <p:nvPr/>
        </p:nvSpPr>
        <p:spPr>
          <a:xfrm>
            <a:off x="2194560" y="1508760"/>
            <a:ext cx="11521440" cy="777240"/>
          </a:xfrm>
          <a:prstGeom prst="rect">
            <a:avLst/>
          </a:prstGeom>
          <a:noFill/>
        </p:spPr>
        <p:txBody>
          <a:bodyPr wrap="square">
            <a:spAutoFit/>
          </a:bodyPr>
          <a:lstStyle/>
          <a:p>
            <a:pPr>
              <a:spcAft>
                <a:spcPts val="1400"/>
              </a:spcAft>
              <a:defRPr sz="2400" b="0">
                <a:solidFill>
                  <a:srgbClr val="243A50"/>
                </a:solidFill>
                <a:latin typeface="Noto Sans CJK SC"/>
              </a:defRPr>
            </a:pPr>
            <a:r>
              <a:rPr>
                <a:ea typeface="Noto Sans CJK SC"/>
              </a:rPr>
              <a:t>XOR 线性不可分 → 改变特征表示，而不是只调大 C</a:t>
            </a:r>
          </a:p>
        </p:txBody>
      </p:sp>
      <p:sp>
        <p:nvSpPr>
          <p:cNvPr id="7" name="TextBox 6"/>
          <p:cNvSpPr txBox="1"/>
          <p:nvPr/>
        </p:nvSpPr>
        <p:spPr>
          <a:xfrm>
            <a:off x="777240" y="2478024"/>
            <a:ext cx="1280160" cy="594360"/>
          </a:xfrm>
          <a:prstGeom prst="rect">
            <a:avLst/>
          </a:prstGeom>
          <a:noFill/>
        </p:spPr>
        <p:txBody>
          <a:bodyPr wrap="square">
            <a:spAutoFit/>
          </a:bodyPr>
          <a:lstStyle/>
          <a:p>
            <a:pPr>
              <a:spcAft>
                <a:spcPts val="1400"/>
              </a:spcAft>
              <a:defRPr sz="2500" b="1">
                <a:solidFill>
                  <a:srgbClr val="142F50"/>
                </a:solidFill>
                <a:latin typeface="Noto Sans CJK SC"/>
              </a:defRPr>
            </a:pPr>
            <a:r>
              <a:rPr>
                <a:ea typeface="Noto Sans CJK SC"/>
              </a:rPr>
              <a:t>计算</a:t>
            </a:r>
          </a:p>
        </p:txBody>
      </p:sp>
      <p:sp>
        <p:nvSpPr>
          <p:cNvPr id="8" name="TextBox 7"/>
          <p:cNvSpPr txBox="1"/>
          <p:nvPr/>
        </p:nvSpPr>
        <p:spPr>
          <a:xfrm>
            <a:off x="2194560" y="2478024"/>
            <a:ext cx="11521440" cy="777240"/>
          </a:xfrm>
          <a:prstGeom prst="rect">
            <a:avLst/>
          </a:prstGeom>
          <a:noFill/>
        </p:spPr>
        <p:txBody>
          <a:bodyPr wrap="square">
            <a:spAutoFit/>
          </a:bodyPr>
          <a:lstStyle/>
          <a:p>
            <a:pPr>
              <a:spcAft>
                <a:spcPts val="1400"/>
              </a:spcAft>
              <a:defRPr sz="2400" b="0">
                <a:solidFill>
                  <a:srgbClr val="243A50"/>
                </a:solidFill>
                <a:latin typeface="Noto Sans CJK SC"/>
              </a:defRPr>
            </a:pPr>
            <a:r>
              <a:rPr>
                <a:ea typeface="Noto Sans CJK SC"/>
              </a:rPr>
              <a:t>K(x,z)=⟨φ(x),φ(z)⟩ → 直接算内积，避免显式高维展开</a:t>
            </a:r>
          </a:p>
        </p:txBody>
      </p:sp>
      <p:sp>
        <p:nvSpPr>
          <p:cNvPr id="9" name="TextBox 8"/>
          <p:cNvSpPr txBox="1"/>
          <p:nvPr/>
        </p:nvSpPr>
        <p:spPr>
          <a:xfrm>
            <a:off x="777240" y="3447288"/>
            <a:ext cx="1280160" cy="594360"/>
          </a:xfrm>
          <a:prstGeom prst="rect">
            <a:avLst/>
          </a:prstGeom>
          <a:noFill/>
        </p:spPr>
        <p:txBody>
          <a:bodyPr wrap="square">
            <a:spAutoFit/>
          </a:bodyPr>
          <a:lstStyle/>
          <a:p>
            <a:pPr>
              <a:spcAft>
                <a:spcPts val="1400"/>
              </a:spcAft>
              <a:defRPr sz="2500" b="1">
                <a:solidFill>
                  <a:srgbClr val="142F50"/>
                </a:solidFill>
                <a:latin typeface="Noto Sans CJK SC"/>
              </a:defRPr>
            </a:pPr>
            <a:r>
              <a:rPr>
                <a:ea typeface="Noto Sans CJK SC"/>
              </a:rPr>
              <a:t>条件</a:t>
            </a:r>
          </a:p>
        </p:txBody>
      </p:sp>
      <p:sp>
        <p:nvSpPr>
          <p:cNvPr id="10" name="TextBox 9"/>
          <p:cNvSpPr txBox="1"/>
          <p:nvPr/>
        </p:nvSpPr>
        <p:spPr>
          <a:xfrm>
            <a:off x="2194560" y="3447288"/>
            <a:ext cx="11521440" cy="777240"/>
          </a:xfrm>
          <a:prstGeom prst="rect">
            <a:avLst/>
          </a:prstGeom>
          <a:noFill/>
        </p:spPr>
        <p:txBody>
          <a:bodyPr wrap="square">
            <a:spAutoFit/>
          </a:bodyPr>
          <a:lstStyle/>
          <a:p>
            <a:pPr>
              <a:spcAft>
                <a:spcPts val="1400"/>
              </a:spcAft>
              <a:defRPr sz="2400" b="0">
                <a:solidFill>
                  <a:srgbClr val="243A50"/>
                </a:solidFill>
                <a:latin typeface="Noto Sans CJK SC"/>
              </a:defRPr>
            </a:pPr>
            <a:r>
              <a:rPr>
                <a:ea typeface="Noto Sans CJK SC"/>
              </a:rPr>
              <a:t>对称 + 任意有限样本 Gram 矩阵半正定 → 合法内积核</a:t>
            </a:r>
          </a:p>
        </p:txBody>
      </p:sp>
      <p:sp>
        <p:nvSpPr>
          <p:cNvPr id="11" name="TextBox 10"/>
          <p:cNvSpPr txBox="1"/>
          <p:nvPr/>
        </p:nvSpPr>
        <p:spPr>
          <a:xfrm>
            <a:off x="777240" y="4416552"/>
            <a:ext cx="1280160" cy="594360"/>
          </a:xfrm>
          <a:prstGeom prst="rect">
            <a:avLst/>
          </a:prstGeom>
          <a:noFill/>
        </p:spPr>
        <p:txBody>
          <a:bodyPr wrap="square">
            <a:spAutoFit/>
          </a:bodyPr>
          <a:lstStyle/>
          <a:p>
            <a:pPr>
              <a:spcAft>
                <a:spcPts val="1400"/>
              </a:spcAft>
              <a:defRPr sz="2500" b="1">
                <a:solidFill>
                  <a:srgbClr val="142F50"/>
                </a:solidFill>
                <a:latin typeface="Noto Sans CJK SC"/>
              </a:defRPr>
            </a:pPr>
            <a:r>
              <a:rPr>
                <a:ea typeface="Noto Sans CJK SC"/>
              </a:rPr>
              <a:t>选择</a:t>
            </a:r>
          </a:p>
        </p:txBody>
      </p:sp>
      <p:sp>
        <p:nvSpPr>
          <p:cNvPr id="12" name="TextBox 11"/>
          <p:cNvSpPr txBox="1"/>
          <p:nvPr/>
        </p:nvSpPr>
        <p:spPr>
          <a:xfrm>
            <a:off x="2194560" y="4416552"/>
            <a:ext cx="11521440" cy="777240"/>
          </a:xfrm>
          <a:prstGeom prst="rect">
            <a:avLst/>
          </a:prstGeom>
          <a:noFill/>
        </p:spPr>
        <p:txBody>
          <a:bodyPr wrap="square">
            <a:spAutoFit/>
          </a:bodyPr>
          <a:lstStyle/>
          <a:p>
            <a:pPr>
              <a:spcAft>
                <a:spcPts val="1400"/>
              </a:spcAft>
              <a:defRPr sz="2400" b="0">
                <a:solidFill>
                  <a:srgbClr val="243A50"/>
                </a:solidFill>
                <a:latin typeface="Noto Sans CJK SC"/>
              </a:defRPr>
            </a:pPr>
            <a:r>
              <a:rPr>
                <a:ea typeface="Noto Sans CJK SC"/>
              </a:rPr>
              <a:t>多项式核表达有限阶交互；RBF 以距离定义局部相似性</a:t>
            </a:r>
          </a:p>
        </p:txBody>
      </p:sp>
      <p:sp>
        <p:nvSpPr>
          <p:cNvPr id="13" name="TextBox 12"/>
          <p:cNvSpPr txBox="1"/>
          <p:nvPr/>
        </p:nvSpPr>
        <p:spPr>
          <a:xfrm>
            <a:off x="777240" y="5385816"/>
            <a:ext cx="1280160" cy="594360"/>
          </a:xfrm>
          <a:prstGeom prst="rect">
            <a:avLst/>
          </a:prstGeom>
          <a:noFill/>
        </p:spPr>
        <p:txBody>
          <a:bodyPr wrap="square">
            <a:spAutoFit/>
          </a:bodyPr>
          <a:lstStyle/>
          <a:p>
            <a:pPr>
              <a:spcAft>
                <a:spcPts val="1400"/>
              </a:spcAft>
              <a:defRPr sz="2500" b="1">
                <a:solidFill>
                  <a:srgbClr val="142F50"/>
                </a:solidFill>
                <a:latin typeface="Noto Sans CJK SC"/>
              </a:defRPr>
            </a:pPr>
            <a:r>
              <a:rPr>
                <a:ea typeface="Noto Sans CJK SC"/>
              </a:rPr>
              <a:t>落地</a:t>
            </a:r>
          </a:p>
        </p:txBody>
      </p:sp>
      <p:sp>
        <p:nvSpPr>
          <p:cNvPr id="14" name="TextBox 13"/>
          <p:cNvSpPr txBox="1"/>
          <p:nvPr/>
        </p:nvSpPr>
        <p:spPr>
          <a:xfrm>
            <a:off x="2194560" y="5385816"/>
            <a:ext cx="11521440" cy="777240"/>
          </a:xfrm>
          <a:prstGeom prst="rect">
            <a:avLst/>
          </a:prstGeom>
          <a:noFill/>
        </p:spPr>
        <p:txBody>
          <a:bodyPr wrap="square">
            <a:spAutoFit/>
          </a:bodyPr>
          <a:lstStyle/>
          <a:p>
            <a:pPr>
              <a:spcAft>
                <a:spcPts val="1400"/>
              </a:spcAft>
              <a:defRPr sz="2400" b="0">
                <a:solidFill>
                  <a:srgbClr val="243A50"/>
                </a:solidFill>
                <a:latin typeface="Noto Sans CJK SC"/>
              </a:defRPr>
            </a:pPr>
            <a:r>
              <a:rPr>
                <a:ea typeface="Noto Sans CJK SC"/>
              </a:rPr>
              <a:t>标准化与交叉验证选参数；训练全对不代表泛化良好</a:t>
            </a:r>
          </a:p>
        </p:txBody>
      </p:sp>
      <p:sp>
        <p:nvSpPr>
          <p:cNvPr id="15" name="TextBox 14"/>
          <p:cNvSpPr txBox="1"/>
          <p:nvPr/>
        </p:nvSpPr>
        <p:spPr>
          <a:xfrm>
            <a:off x="777240" y="6748272"/>
            <a:ext cx="13258800" cy="685800"/>
          </a:xfrm>
          <a:prstGeom prst="rect">
            <a:avLst/>
          </a:prstGeom>
          <a:noFill/>
        </p:spPr>
        <p:txBody>
          <a:bodyPr wrap="square">
            <a:spAutoFit/>
          </a:bodyPr>
          <a:lstStyle/>
          <a:p>
            <a:pPr>
              <a:spcAft>
                <a:spcPts val="1400"/>
              </a:spcAft>
              <a:defRPr sz="2300" b="1">
                <a:solidFill>
                  <a:srgbClr val="142F50"/>
                </a:solidFill>
                <a:latin typeface="Noto Sans CJK SC"/>
              </a:defRPr>
            </a:pPr>
            <a:r>
              <a:rPr>
                <a:ea typeface="Noto Sans CJK SC"/>
              </a:rPr>
              <a:t>课后：独立展开二次核；解释 γ 与 σ 的关系；举一个非半正定反例。</a:t>
            </a:r>
          </a:p>
        </p:txBody>
      </p:sp>
      <p:sp>
        <p:nvSpPr>
          <p:cNvPr id="16" name="TextBox 15"/>
          <p:cNvSpPr txBox="1"/>
          <p:nvPr/>
        </p:nvSpPr>
        <p:spPr>
          <a:xfrm>
            <a:off x="13487400" y="7708392"/>
            <a:ext cx="777240" cy="320040"/>
          </a:xfrm>
          <a:prstGeom prst="rect">
            <a:avLst/>
          </a:prstGeom>
          <a:noFill/>
        </p:spPr>
        <p:txBody>
          <a:bodyPr wrap="square">
            <a:spAutoFit/>
          </a:bodyPr>
          <a:lstStyle/>
          <a:p>
            <a:pPr>
              <a:spcAft>
                <a:spcPts val="1400"/>
              </a:spcAft>
              <a:defRPr sz="1200" b="0">
                <a:solidFill>
                  <a:srgbClr val="60758A"/>
                </a:solidFill>
                <a:latin typeface="Noto Sans CJK SC"/>
              </a:defRPr>
            </a:pPr>
            <a:r>
              <a:rPr>
                <a:ea typeface="Noto Sans CJK SC"/>
              </a:rPr>
              <a:t>25 / 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2416</Words>
  <Application>WPS 演示</Application>
  <PresentationFormat>On-screen Show (4:3)</PresentationFormat>
  <Paragraphs>458</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宋体</vt:lpstr>
      <vt:lpstr>Wingdings</vt:lpstr>
      <vt:lpstr>Arial</vt:lpstr>
      <vt:lpstr>微软雅黑</vt:lpstr>
      <vt:lpstr>Cambria Math</vt:lpstr>
      <vt:lpstr>Calibri</vt:lpstr>
      <vt:lpstr>Arial Unicode MS</vt:lpstr>
      <vt:lpstr>Office Theme</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dc:description>generated using python-pptx</dc:description>
  <cp:lastModifiedBy>猫澈</cp:lastModifiedBy>
  <cp:revision>4</cp:revision>
  <dcterms:created xsi:type="dcterms:W3CDTF">2013-01-27T09:14:00Z</dcterms:created>
  <dcterms:modified xsi:type="dcterms:W3CDTF">2026-10-21T13:30:37Z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D975BE92C177475BAEB101BF26009005_12</vt:lpwstr>
  </property>
  <property fmtid="{D5CDD505-2E9C-101B-9397-08002B2CF9AE}" pid="3" name="KSOProductBuildVer">
    <vt:lpwstr>2052-12.1.0.28505</vt:lpwstr>
  </property>
</Properties>
</file>